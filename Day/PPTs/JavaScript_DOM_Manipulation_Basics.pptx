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3" r:id="rId2"/>
    <p:sldId id="256" r:id="rId3"/>
    <p:sldId id="30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8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44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2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4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0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43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0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3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8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0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7377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2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30B140-BF19-8F1B-55C2-5B0B0B8F3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DOM Manipulation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7B8255-BB9A-042C-3C9C-34CDFB09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8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JavaScript DOM Manipulation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DOM (Document Object Model) is a programming interface that represents your HTML page as </a:t>
            </a:r>
            <a:r>
              <a:rPr u="sng" dirty="0">
                <a:highlight>
                  <a:srgbClr val="FFFF00"/>
                </a:highlight>
              </a:rPr>
              <a:t>a tree of objects</a:t>
            </a:r>
            <a:r>
              <a:rPr dirty="0"/>
              <a:t>. </a:t>
            </a:r>
            <a:endParaRPr lang="en-US" dirty="0"/>
          </a:p>
          <a:p>
            <a:pPr>
              <a:defRPr sz="2000"/>
            </a:pPr>
            <a:r>
              <a:rPr dirty="0"/>
              <a:t>JavaScript can use this tree to </a:t>
            </a:r>
            <a:r>
              <a:rPr dirty="0">
                <a:highlight>
                  <a:srgbClr val="FFFF00"/>
                </a:highlight>
              </a:rPr>
              <a:t>select, change, create, and remove </a:t>
            </a:r>
            <a:r>
              <a:rPr dirty="0"/>
              <a:t>elements, making web pages dynamic and interactive.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2AD2-4BB1-578D-CC76-BB5F3D34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Tree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3DE106-BB1C-B6F1-E9CA-896C56CE4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35" y="1759225"/>
            <a:ext cx="7521163" cy="4519637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</p:pic>
    </p:spTree>
    <p:extLst>
      <p:ext uri="{BB962C8B-B14F-4D97-AF65-F5344CB8AC3E}">
        <p14:creationId xmlns:p14="http://schemas.microsoft.com/office/powerpoint/2010/main" val="2078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the DOM?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browser </a:t>
            </a:r>
            <a:r>
              <a:rPr u="sng" dirty="0">
                <a:highlight>
                  <a:srgbClr val="FFFF00"/>
                </a:highlight>
              </a:rPr>
              <a:t>parses</a:t>
            </a:r>
            <a:r>
              <a:rPr dirty="0"/>
              <a:t> your HTML and creates a DOM tree.</a:t>
            </a:r>
          </a:p>
          <a:p>
            <a:pPr>
              <a:defRPr sz="2000"/>
            </a:pPr>
            <a:r>
              <a:rPr dirty="0"/>
              <a:t>Each HTML element becomes a node in this tree.</a:t>
            </a:r>
          </a:p>
          <a:p>
            <a:pPr>
              <a:defRPr sz="2000"/>
            </a:pPr>
            <a:r>
              <a:rPr dirty="0"/>
              <a:t>JavaScript can access and modify these nodes through the </a:t>
            </a:r>
            <a:br>
              <a:rPr lang="en-US" dirty="0"/>
            </a:br>
            <a:r>
              <a:rPr dirty="0"/>
              <a:t>document object.</a:t>
            </a:r>
          </a:p>
          <a:p>
            <a:pPr>
              <a:defRPr sz="2000"/>
            </a:pPr>
            <a:r>
              <a:rPr dirty="0"/>
              <a:t>Think of the DOM as a live, in-memory representation of your page </a:t>
            </a:r>
            <a:br>
              <a:rPr lang="en-US" dirty="0"/>
            </a:br>
            <a:r>
              <a:rPr dirty="0"/>
              <a:t>that you can manipulate with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document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global document object is your entry point to the DOM.</a:t>
            </a:r>
          </a:p>
          <a:p>
            <a:pPr lvl="1">
              <a:defRPr sz="2000"/>
            </a:pPr>
            <a:r>
              <a:rPr dirty="0"/>
              <a:t>console.log(document); // the entire document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document.body</a:t>
            </a:r>
            <a:r>
              <a:rPr dirty="0"/>
              <a:t>); // the &lt;body&gt; element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document.head</a:t>
            </a:r>
            <a:r>
              <a:rPr dirty="0"/>
              <a:t>); // the &lt;head&gt; element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document.title</a:t>
            </a:r>
            <a:r>
              <a:rPr dirty="0"/>
              <a:t>); // page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Selecting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Before manipulating elements, you must select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getElementById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Selects a single element by its id.</a:t>
            </a:r>
          </a:p>
          <a:p>
            <a:pPr>
              <a:defRPr sz="2000"/>
            </a:pPr>
            <a:r>
              <a:rPr lang="en-US" dirty="0"/>
              <a:t>c</a:t>
            </a:r>
            <a:r>
              <a:rPr dirty="0"/>
              <a:t>onst heading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getElementById</a:t>
            </a:r>
            <a:r>
              <a:rPr dirty="0"/>
              <a:t>("</a:t>
            </a:r>
            <a:r>
              <a:rPr dirty="0" err="1"/>
              <a:t>mainHeading</a:t>
            </a:r>
            <a:r>
              <a:rPr dirty="0"/>
              <a:t>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getElementsByClassName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Returns a live collection of elements with a given class.</a:t>
            </a:r>
          </a:p>
          <a:p>
            <a:pPr lvl="1">
              <a:defRPr sz="2000"/>
            </a:pPr>
            <a:r>
              <a:rPr dirty="0"/>
              <a:t>const items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getElementsByClassName</a:t>
            </a:r>
            <a:r>
              <a:rPr dirty="0"/>
              <a:t>("item");</a:t>
            </a:r>
          </a:p>
          <a:p>
            <a:pPr lvl="1">
              <a:defRPr sz="2000"/>
            </a:pPr>
            <a:r>
              <a:rPr dirty="0"/>
              <a:t>console.log(items[0]); // first element with class "item"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getElementsByTagName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Returns a live collection of elements with a given tag.</a:t>
            </a:r>
          </a:p>
          <a:p>
            <a:pPr lvl="1">
              <a:defRPr sz="2000"/>
            </a:pPr>
            <a:r>
              <a:rPr dirty="0"/>
              <a:t>const paragraphs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getElementsByTagName</a:t>
            </a:r>
            <a:r>
              <a:rPr dirty="0"/>
              <a:t>("p");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querySelector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Selects the first element that matches a CSS selector.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firstItem</a:t>
            </a:r>
            <a:r>
              <a:rPr dirty="0"/>
              <a:t>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querySelector</a:t>
            </a:r>
            <a:r>
              <a:rPr dirty="0"/>
              <a:t>(".item");</a:t>
            </a:r>
          </a:p>
          <a:p>
            <a:pPr lvl="1">
              <a:defRPr sz="2000"/>
            </a:pPr>
            <a:r>
              <a:rPr dirty="0"/>
              <a:t>const heading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querySelector</a:t>
            </a:r>
            <a:r>
              <a:rPr dirty="0"/>
              <a:t>("#</a:t>
            </a:r>
            <a:r>
              <a:rPr dirty="0" err="1"/>
              <a:t>mainHeading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firstLi</a:t>
            </a:r>
            <a:r>
              <a:rPr dirty="0"/>
              <a:t>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querySelector</a:t>
            </a:r>
            <a:r>
              <a:rPr dirty="0"/>
              <a:t>("li");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querySelectorAll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Selects all elements that match a CSS selector (returns a static </a:t>
            </a:r>
            <a:r>
              <a:rPr dirty="0" err="1"/>
              <a:t>NodeList</a:t>
            </a:r>
            <a:r>
              <a:rPr dirty="0"/>
              <a:t>).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allItems</a:t>
            </a:r>
            <a:r>
              <a:rPr dirty="0"/>
              <a:t>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querySelectorAll</a:t>
            </a:r>
            <a:r>
              <a:rPr dirty="0"/>
              <a:t>(".item");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allLis</a:t>
            </a:r>
            <a:r>
              <a:rPr dirty="0"/>
              <a:t> = </a:t>
            </a:r>
            <a:r>
              <a:rPr dirty="0" err="1"/>
              <a:t>document.</a:t>
            </a:r>
            <a:r>
              <a:rPr dirty="0" err="1">
                <a:highlight>
                  <a:srgbClr val="FFFF00"/>
                </a:highlight>
              </a:rPr>
              <a:t>querySelectorAll</a:t>
            </a:r>
            <a:r>
              <a:rPr dirty="0"/>
              <a:t>("ul li");</a:t>
            </a:r>
          </a:p>
          <a:p>
            <a:pPr>
              <a:defRPr sz="2000"/>
            </a:pPr>
            <a:r>
              <a:rPr dirty="0"/>
              <a:t>Modern code mostly uses </a:t>
            </a:r>
            <a:r>
              <a:rPr dirty="0" err="1"/>
              <a:t>querySelector</a:t>
            </a:r>
            <a:r>
              <a:rPr dirty="0"/>
              <a:t> and </a:t>
            </a:r>
            <a:r>
              <a:rPr dirty="0" err="1"/>
              <a:t>querySelectorAll</a:t>
            </a:r>
            <a:r>
              <a:rPr dirty="0"/>
              <a:t> because they support full CSS selector syntax.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Reading and changing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textContent</a:t>
            </a:r>
            <a:endParaRPr lang="en-US" dirty="0"/>
          </a:p>
          <a:p>
            <a:r>
              <a:rPr lang="en-US" dirty="0" err="1"/>
              <a:t>innerHTML</a:t>
            </a:r>
            <a:endParaRPr lang="en-US" dirty="0"/>
          </a:p>
          <a:p>
            <a:r>
              <a:rPr lang="en-US" dirty="0" err="1"/>
              <a:t>innerText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textContent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Gets or sets the text content of an element (safe for plain text).</a:t>
            </a:r>
          </a:p>
          <a:p>
            <a:pPr lvl="1">
              <a:defRPr sz="2000"/>
            </a:pPr>
            <a:r>
              <a:rPr dirty="0"/>
              <a:t>const p = </a:t>
            </a:r>
            <a:r>
              <a:rPr dirty="0" err="1"/>
              <a:t>document.querySelector</a:t>
            </a:r>
            <a:r>
              <a:rPr dirty="0"/>
              <a:t>("p");</a:t>
            </a:r>
          </a:p>
          <a:p>
            <a:pPr lvl="1">
              <a:defRPr sz="2000"/>
            </a:pPr>
            <a:r>
              <a:rPr dirty="0"/>
              <a:t>// Read text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p.textContent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// Change text</a:t>
            </a:r>
          </a:p>
          <a:p>
            <a:pPr lvl="1">
              <a:defRPr sz="2000"/>
            </a:pPr>
            <a:r>
              <a:rPr dirty="0" err="1"/>
              <a:t>p.textContent</a:t>
            </a:r>
            <a:r>
              <a:rPr dirty="0"/>
              <a:t> = "New text content";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innerHTML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Gets or sets the HTML content inside an element.</a:t>
            </a:r>
          </a:p>
          <a:p>
            <a:pPr lvl="1">
              <a:defRPr sz="2000"/>
            </a:pPr>
            <a:r>
              <a:rPr dirty="0"/>
              <a:t>const div = </a:t>
            </a:r>
            <a:r>
              <a:rPr dirty="0" err="1"/>
              <a:t>document.querySelector</a:t>
            </a:r>
            <a:r>
              <a:rPr dirty="0"/>
              <a:t>("#content");</a:t>
            </a:r>
          </a:p>
          <a:p>
            <a:pPr lvl="1">
              <a:defRPr sz="2000"/>
            </a:pPr>
            <a:r>
              <a:rPr dirty="0"/>
              <a:t>// Read HTML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div.innerHTML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// Change HTML</a:t>
            </a:r>
          </a:p>
          <a:p>
            <a:pPr lvl="1">
              <a:defRPr sz="2000"/>
            </a:pPr>
            <a:r>
              <a:rPr dirty="0" err="1"/>
              <a:t>div.innerHTML</a:t>
            </a:r>
            <a:r>
              <a:rPr dirty="0"/>
              <a:t> = "&lt;strong&gt;Bold text&lt;/strong&gt; and more";</a:t>
            </a:r>
          </a:p>
          <a:p>
            <a:pPr>
              <a:defRPr sz="2000"/>
            </a:pPr>
            <a:r>
              <a:rPr dirty="0"/>
              <a:t>Use </a:t>
            </a:r>
            <a:r>
              <a:rPr dirty="0" err="1"/>
              <a:t>innerHTML</a:t>
            </a:r>
            <a:r>
              <a:rPr dirty="0"/>
              <a:t> carefully; inserting untrusted HTML can cause security issues.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innerText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Similar to </a:t>
            </a:r>
            <a:r>
              <a:rPr dirty="0" err="1"/>
              <a:t>textContent</a:t>
            </a:r>
            <a:r>
              <a:rPr dirty="0"/>
              <a:t> but reflects rendered text and is affected by CSS. Prefer </a:t>
            </a:r>
            <a:r>
              <a:rPr dirty="0" err="1"/>
              <a:t>textContent</a:t>
            </a:r>
            <a:r>
              <a:rPr dirty="0"/>
              <a:t> for most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Working with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getAttribute</a:t>
            </a:r>
            <a:r>
              <a:rPr lang="en-US" dirty="0"/>
              <a:t> &amp; </a:t>
            </a:r>
            <a:r>
              <a:rPr lang="en-US" dirty="0" err="1"/>
              <a:t>setAttribute</a:t>
            </a:r>
            <a:endParaRPr lang="en-US" dirty="0"/>
          </a:p>
          <a:p>
            <a:r>
              <a:rPr lang="en-US" dirty="0"/>
              <a:t>Direct Property Access</a:t>
            </a:r>
          </a:p>
          <a:p>
            <a:r>
              <a:rPr lang="en-US" dirty="0" err="1"/>
              <a:t>removeAttribute</a:t>
            </a:r>
            <a:r>
              <a:rPr lang="en-US" dirty="0"/>
              <a:t> and </a:t>
            </a:r>
            <a:r>
              <a:rPr lang="en-US" dirty="0" err="1"/>
              <a:t>hasAttribute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getAttribute and setAttribute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img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("</a:t>
            </a:r>
            <a:r>
              <a:rPr dirty="0" err="1"/>
              <a:t>img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/>
              <a:t>// Read attribute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src</a:t>
            </a:r>
            <a:r>
              <a:rPr dirty="0"/>
              <a:t> = </a:t>
            </a:r>
            <a:r>
              <a:rPr dirty="0" err="1"/>
              <a:t>img.getAttribute</a:t>
            </a:r>
            <a:r>
              <a:rPr dirty="0"/>
              <a:t>("</a:t>
            </a:r>
            <a:r>
              <a:rPr dirty="0" err="1"/>
              <a:t>src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/>
              <a:t>// Set attribute</a:t>
            </a:r>
          </a:p>
          <a:p>
            <a:pPr lvl="1">
              <a:defRPr sz="2000"/>
            </a:pPr>
            <a:r>
              <a:rPr dirty="0" err="1"/>
              <a:t>img.setAttribute</a:t>
            </a:r>
            <a:r>
              <a:rPr dirty="0"/>
              <a:t>("alt", "Sample image");</a:t>
            </a:r>
          </a:p>
          <a:p>
            <a:pPr lvl="1">
              <a:defRPr sz="2000"/>
            </a:pPr>
            <a:r>
              <a:rPr dirty="0" err="1"/>
              <a:t>img.setAttribute</a:t>
            </a:r>
            <a:r>
              <a:rPr dirty="0"/>
              <a:t>("</a:t>
            </a:r>
            <a:r>
              <a:rPr dirty="0" err="1"/>
              <a:t>src</a:t>
            </a:r>
            <a:r>
              <a:rPr dirty="0"/>
              <a:t>", "new-image.jpg");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Direct property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Many attributes map directly to properties.</a:t>
            </a:r>
          </a:p>
          <a:p>
            <a:pPr lvl="1">
              <a:defRPr sz="2000"/>
            </a:pPr>
            <a:r>
              <a:rPr dirty="0"/>
              <a:t>const link = </a:t>
            </a:r>
            <a:r>
              <a:rPr dirty="0" err="1"/>
              <a:t>document.querySelector</a:t>
            </a:r>
            <a:r>
              <a:rPr dirty="0"/>
              <a:t>("a");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link.href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 err="1"/>
              <a:t>link.href</a:t>
            </a:r>
            <a:r>
              <a:rPr dirty="0"/>
              <a:t> = "https://example.com";</a:t>
            </a:r>
          </a:p>
          <a:p>
            <a:pPr lvl="1">
              <a:defRPr sz="2000"/>
            </a:pPr>
            <a:r>
              <a:rPr dirty="0" err="1"/>
              <a:t>link.target</a:t>
            </a:r>
            <a:r>
              <a:rPr dirty="0"/>
              <a:t> = "_blank";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5.3 </a:t>
            </a:r>
            <a:r>
              <a:rPr sz="4000" dirty="0" err="1"/>
              <a:t>removeAttribute</a:t>
            </a:r>
            <a:r>
              <a:rPr sz="4000" dirty="0"/>
              <a:t> and </a:t>
            </a:r>
            <a:r>
              <a:rPr sz="4000" dirty="0" err="1"/>
              <a:t>hasAttribute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input = </a:t>
            </a:r>
            <a:r>
              <a:rPr dirty="0" err="1"/>
              <a:t>document.querySelector</a:t>
            </a:r>
            <a:r>
              <a:rPr dirty="0"/>
              <a:t>("input");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input.hasAttribute</a:t>
            </a:r>
            <a:r>
              <a:rPr dirty="0"/>
              <a:t>("disabled"));</a:t>
            </a:r>
          </a:p>
          <a:p>
            <a:pPr lvl="1">
              <a:defRPr sz="2000"/>
            </a:pPr>
            <a:r>
              <a:rPr dirty="0" err="1"/>
              <a:t>input.removeAttribute</a:t>
            </a:r>
            <a:r>
              <a:rPr dirty="0"/>
              <a:t>("disabled");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Working with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className</a:t>
            </a:r>
            <a:endParaRPr lang="en-US" dirty="0"/>
          </a:p>
          <a:p>
            <a:r>
              <a:rPr lang="en-US" dirty="0" err="1"/>
              <a:t>classList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 className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Gets or sets the entire class string.</a:t>
            </a:r>
          </a:p>
          <a:p>
            <a:pPr lvl="1">
              <a:defRPr sz="2000"/>
            </a:pPr>
            <a:r>
              <a:rPr dirty="0"/>
              <a:t>const box = </a:t>
            </a:r>
            <a:r>
              <a:rPr dirty="0" err="1"/>
              <a:t>document.querySelector</a:t>
            </a:r>
            <a:r>
              <a:rPr dirty="0"/>
              <a:t>(".box");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box.className</a:t>
            </a:r>
            <a:r>
              <a:rPr dirty="0"/>
              <a:t>); // "box active"</a:t>
            </a:r>
          </a:p>
          <a:p>
            <a:pPr lvl="1">
              <a:defRPr sz="2000"/>
            </a:pPr>
            <a:r>
              <a:rPr dirty="0" err="1"/>
              <a:t>box.className</a:t>
            </a:r>
            <a:r>
              <a:rPr dirty="0"/>
              <a:t> = "box new-class";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classList (preferred)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Provides methods to manipulate classes cleanly.</a:t>
            </a:r>
          </a:p>
          <a:p>
            <a:pPr lvl="1">
              <a:defRPr sz="2000"/>
            </a:pPr>
            <a:r>
              <a:rPr dirty="0"/>
              <a:t>const box = </a:t>
            </a:r>
            <a:r>
              <a:rPr dirty="0" err="1"/>
              <a:t>document.querySelector</a:t>
            </a:r>
            <a:r>
              <a:rPr dirty="0"/>
              <a:t>(".box");</a:t>
            </a:r>
          </a:p>
          <a:p>
            <a:pPr lvl="1">
              <a:defRPr sz="2000"/>
            </a:pPr>
            <a:r>
              <a:rPr dirty="0" err="1"/>
              <a:t>box.classList.add</a:t>
            </a:r>
            <a:r>
              <a:rPr dirty="0"/>
              <a:t>("highlight");</a:t>
            </a:r>
          </a:p>
          <a:p>
            <a:pPr lvl="1">
              <a:defRPr sz="2000"/>
            </a:pPr>
            <a:r>
              <a:rPr dirty="0" err="1"/>
              <a:t>box.classList.remove</a:t>
            </a:r>
            <a:r>
              <a:rPr dirty="0"/>
              <a:t>("old");</a:t>
            </a:r>
          </a:p>
          <a:p>
            <a:pPr lvl="1">
              <a:defRPr sz="2000"/>
            </a:pPr>
            <a:r>
              <a:rPr dirty="0" err="1"/>
              <a:t>box.classList.toggle</a:t>
            </a:r>
            <a:r>
              <a:rPr dirty="0"/>
              <a:t>("dark"); // add if missing, remove if present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box.classList.contains</a:t>
            </a:r>
            <a:r>
              <a:rPr dirty="0"/>
              <a:t>("highlight")); // 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Changing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Style</a:t>
            </a:r>
          </a:p>
          <a:p>
            <a:r>
              <a:rPr lang="en-US" dirty="0"/>
              <a:t>Computed Style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7.1 Inline styles via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box = </a:t>
            </a:r>
            <a:r>
              <a:rPr dirty="0" err="1"/>
              <a:t>document.querySelector</a:t>
            </a:r>
            <a:r>
              <a:rPr dirty="0"/>
              <a:t>(".box");</a:t>
            </a:r>
          </a:p>
          <a:p>
            <a:pPr lvl="1">
              <a:defRPr sz="2000"/>
            </a:pPr>
            <a:r>
              <a:rPr dirty="0" err="1"/>
              <a:t>box.style.backgroundColor</a:t>
            </a:r>
            <a:r>
              <a:rPr dirty="0"/>
              <a:t> = "</a:t>
            </a:r>
            <a:r>
              <a:rPr dirty="0" err="1"/>
              <a:t>lightblue</a:t>
            </a:r>
            <a:r>
              <a:rPr dirty="0"/>
              <a:t>";</a:t>
            </a:r>
          </a:p>
          <a:p>
            <a:pPr lvl="1">
              <a:defRPr sz="2000"/>
            </a:pPr>
            <a:r>
              <a:rPr dirty="0" err="1"/>
              <a:t>box.style.fontSize</a:t>
            </a:r>
            <a:r>
              <a:rPr dirty="0"/>
              <a:t> = "18px";</a:t>
            </a:r>
          </a:p>
          <a:p>
            <a:pPr lvl="1">
              <a:defRPr sz="2000"/>
            </a:pPr>
            <a:r>
              <a:rPr dirty="0" err="1"/>
              <a:t>box.style.padding</a:t>
            </a:r>
            <a:r>
              <a:rPr dirty="0"/>
              <a:t> = "10px";</a:t>
            </a:r>
          </a:p>
          <a:p>
            <a:pPr>
              <a:defRPr sz="2000"/>
            </a:pPr>
            <a:r>
              <a:rPr dirty="0"/>
              <a:t>Note: CSS property names use camelCase in JavaScript (background-color → </a:t>
            </a:r>
            <a:r>
              <a:rPr dirty="0" err="1"/>
              <a:t>backgroundColor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7.2 Computed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To read the final computed style (including CSS files):</a:t>
            </a:r>
          </a:p>
          <a:p>
            <a:pPr lvl="1">
              <a:defRPr sz="2000"/>
            </a:pPr>
            <a:r>
              <a:rPr dirty="0"/>
              <a:t>const box = </a:t>
            </a:r>
            <a:r>
              <a:rPr dirty="0" err="1"/>
              <a:t>document.querySelector</a:t>
            </a:r>
            <a:r>
              <a:rPr dirty="0"/>
              <a:t>(".box");</a:t>
            </a:r>
          </a:p>
          <a:p>
            <a:pPr lvl="1">
              <a:defRPr sz="2000"/>
            </a:pPr>
            <a:r>
              <a:rPr dirty="0"/>
              <a:t>const computed = </a:t>
            </a:r>
            <a:r>
              <a:rPr dirty="0" err="1"/>
              <a:t>window.getComputedStyle</a:t>
            </a:r>
            <a:r>
              <a:rPr dirty="0"/>
              <a:t>(box);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computed.backgroundColor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computed.width</a:t>
            </a:r>
            <a:r>
              <a:rPr dirty="0"/>
              <a:t>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Creating and adding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createElement</a:t>
            </a:r>
            <a:endParaRPr lang="en-US" dirty="0"/>
          </a:p>
          <a:p>
            <a:r>
              <a:rPr lang="en-US" dirty="0"/>
              <a:t>Adding Element</a:t>
            </a:r>
          </a:p>
          <a:p>
            <a:r>
              <a:rPr lang="en-US" dirty="0"/>
              <a:t>Inserting Adjacent Element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 createElement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Creates a new element node.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newDiv</a:t>
            </a:r>
            <a:r>
              <a:rPr dirty="0"/>
              <a:t> = </a:t>
            </a:r>
            <a:r>
              <a:rPr dirty="0" err="1"/>
              <a:t>document.createElement</a:t>
            </a:r>
            <a:r>
              <a:rPr dirty="0"/>
              <a:t>("div");</a:t>
            </a:r>
          </a:p>
          <a:p>
            <a:pPr lvl="1">
              <a:defRPr sz="2000"/>
            </a:pPr>
            <a:r>
              <a:rPr dirty="0" err="1"/>
              <a:t>newDiv.textContent</a:t>
            </a:r>
            <a:r>
              <a:rPr dirty="0"/>
              <a:t> = "I am a new div";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 Adding elements to the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000"/>
            </a:pPr>
            <a:r>
              <a:rPr dirty="0"/>
              <a:t>Common methods:</a:t>
            </a:r>
          </a:p>
          <a:p>
            <a:pPr lvl="1">
              <a:defRPr sz="2000"/>
            </a:pPr>
            <a:r>
              <a:rPr dirty="0" err="1"/>
              <a:t>appendChild</a:t>
            </a:r>
            <a:r>
              <a:rPr dirty="0"/>
              <a:t> – add as the last child.</a:t>
            </a:r>
          </a:p>
          <a:p>
            <a:pPr lvl="1">
              <a:defRPr sz="2000"/>
            </a:pPr>
            <a:r>
              <a:rPr dirty="0"/>
              <a:t>prepend – add as the first child.</a:t>
            </a:r>
          </a:p>
          <a:p>
            <a:pPr lvl="1">
              <a:defRPr sz="2000"/>
            </a:pPr>
            <a:r>
              <a:rPr dirty="0"/>
              <a:t>append – add one or more nodes/strings at the end.</a:t>
            </a:r>
          </a:p>
          <a:p>
            <a:pPr lvl="1">
              <a:defRPr sz="2000"/>
            </a:pPr>
            <a:r>
              <a:rPr dirty="0" err="1"/>
              <a:t>insertBefore</a:t>
            </a:r>
            <a:r>
              <a:rPr dirty="0"/>
              <a:t> – insert before a specific child.</a:t>
            </a:r>
          </a:p>
          <a:p>
            <a:pPr lvl="1">
              <a:defRPr sz="2000"/>
            </a:pPr>
            <a:r>
              <a:rPr dirty="0"/>
              <a:t>const container = </a:t>
            </a:r>
            <a:r>
              <a:rPr dirty="0" err="1"/>
              <a:t>document.querySelector</a:t>
            </a:r>
            <a:r>
              <a:rPr dirty="0"/>
              <a:t>("#container");</a:t>
            </a:r>
          </a:p>
          <a:p>
            <a:pPr lvl="1">
              <a:defRPr sz="2000"/>
            </a:pPr>
            <a:r>
              <a:rPr dirty="0"/>
              <a:t>// Append as last child</a:t>
            </a:r>
          </a:p>
          <a:p>
            <a:pPr lvl="1">
              <a:defRPr sz="2000"/>
            </a:pPr>
            <a:r>
              <a:rPr dirty="0" err="1"/>
              <a:t>container.appendChild</a:t>
            </a:r>
            <a:r>
              <a:rPr dirty="0"/>
              <a:t>(</a:t>
            </a:r>
            <a:r>
              <a:rPr dirty="0" err="1"/>
              <a:t>newDiv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// Prepend as first child</a:t>
            </a:r>
          </a:p>
          <a:p>
            <a:pPr lvl="1">
              <a:defRPr sz="2000"/>
            </a:pPr>
            <a:r>
              <a:rPr dirty="0" err="1"/>
              <a:t>container.prepend</a:t>
            </a:r>
            <a:r>
              <a:rPr dirty="0"/>
              <a:t>(</a:t>
            </a:r>
            <a:r>
              <a:rPr dirty="0" err="1"/>
              <a:t>newDiv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// Append multiple nodes or text</a:t>
            </a:r>
          </a:p>
          <a:p>
            <a:pPr lvl="1">
              <a:defRPr sz="2000"/>
            </a:pPr>
            <a:r>
              <a:rPr dirty="0" err="1"/>
              <a:t>container.append</a:t>
            </a:r>
            <a:r>
              <a:rPr dirty="0"/>
              <a:t>(</a:t>
            </a:r>
            <a:r>
              <a:rPr dirty="0" err="1"/>
              <a:t>newDiv</a:t>
            </a:r>
            <a:r>
              <a:rPr dirty="0"/>
              <a:t>, " some text");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 Inserting adjacent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ref = </a:t>
            </a:r>
            <a:r>
              <a:rPr dirty="0" err="1"/>
              <a:t>document.querySelector</a:t>
            </a:r>
            <a:r>
              <a:rPr dirty="0"/>
              <a:t>("#ref");</a:t>
            </a:r>
          </a:p>
          <a:p>
            <a:pPr lvl="1">
              <a:defRPr sz="2000"/>
            </a:pPr>
            <a:r>
              <a:rPr dirty="0"/>
              <a:t>// Insert as sibling</a:t>
            </a:r>
          </a:p>
          <a:p>
            <a:pPr lvl="1">
              <a:defRPr sz="2000"/>
            </a:pPr>
            <a:r>
              <a:rPr dirty="0" err="1"/>
              <a:t>ref.insertAdjacentElement</a:t>
            </a:r>
            <a:r>
              <a:rPr dirty="0"/>
              <a:t>("</a:t>
            </a:r>
            <a:r>
              <a:rPr dirty="0" err="1"/>
              <a:t>beforebegin</a:t>
            </a:r>
            <a:r>
              <a:rPr dirty="0"/>
              <a:t>", </a:t>
            </a:r>
            <a:r>
              <a:rPr dirty="0" err="1"/>
              <a:t>newDiv</a:t>
            </a:r>
            <a:r>
              <a:rPr dirty="0"/>
              <a:t>); // before ref</a:t>
            </a:r>
          </a:p>
          <a:p>
            <a:pPr lvl="1">
              <a:defRPr sz="2000"/>
            </a:pPr>
            <a:r>
              <a:rPr dirty="0" err="1"/>
              <a:t>ref.insertAdjacentElement</a:t>
            </a:r>
            <a:r>
              <a:rPr dirty="0"/>
              <a:t>("</a:t>
            </a:r>
            <a:r>
              <a:rPr dirty="0" err="1"/>
              <a:t>afterend</a:t>
            </a:r>
            <a:r>
              <a:rPr dirty="0"/>
              <a:t>", </a:t>
            </a:r>
            <a:r>
              <a:rPr dirty="0" err="1"/>
              <a:t>newDiv</a:t>
            </a:r>
            <a:r>
              <a:rPr dirty="0"/>
              <a:t>);    // after ref</a:t>
            </a:r>
          </a:p>
          <a:p>
            <a:pPr lvl="1">
              <a:defRPr sz="2000"/>
            </a:pPr>
            <a:r>
              <a:rPr dirty="0"/>
              <a:t>// Insert HTML string</a:t>
            </a:r>
          </a:p>
          <a:p>
            <a:pPr lvl="1">
              <a:defRPr sz="2000"/>
            </a:pPr>
            <a:r>
              <a:rPr dirty="0" err="1"/>
              <a:t>ref.insertAdjacentHTML</a:t>
            </a:r>
            <a:r>
              <a:rPr dirty="0"/>
              <a:t>("</a:t>
            </a:r>
            <a:r>
              <a:rPr dirty="0" err="1"/>
              <a:t>beforeend</a:t>
            </a:r>
            <a:r>
              <a:rPr dirty="0"/>
              <a:t>", "&lt;span&gt;New span&lt;/span&gt;");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Removing and replacing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</a:t>
            </a:r>
          </a:p>
          <a:p>
            <a:r>
              <a:rPr lang="en-US" dirty="0" err="1"/>
              <a:t>removeChild</a:t>
            </a:r>
            <a:endParaRPr lang="en-US" dirty="0"/>
          </a:p>
          <a:p>
            <a:r>
              <a:rPr lang="en-US" dirty="0" err="1"/>
              <a:t>replaceChild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9.1 remove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Removes an element from the DOM.</a:t>
            </a:r>
          </a:p>
          <a:p>
            <a:pPr>
              <a:defRPr sz="2000"/>
            </a:pPr>
            <a:r>
              <a:rPr dirty="0"/>
              <a:t>const item = </a:t>
            </a:r>
            <a:r>
              <a:rPr dirty="0" err="1"/>
              <a:t>document.querySelector</a:t>
            </a:r>
            <a:r>
              <a:rPr dirty="0"/>
              <a:t>(".item");</a:t>
            </a:r>
          </a:p>
          <a:p>
            <a:pPr>
              <a:defRPr sz="2000"/>
            </a:pPr>
            <a:r>
              <a:rPr dirty="0" err="1"/>
              <a:t>item.remove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9.2 removeChild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Older pattern, still common.</a:t>
            </a:r>
          </a:p>
          <a:p>
            <a:pPr>
              <a:defRPr sz="2000"/>
            </a:pPr>
            <a:r>
              <a:rPr dirty="0"/>
              <a:t>const parent = </a:t>
            </a:r>
            <a:r>
              <a:rPr dirty="0" err="1"/>
              <a:t>document.querySelector</a:t>
            </a:r>
            <a:r>
              <a:rPr dirty="0"/>
              <a:t>("#list");</a:t>
            </a:r>
          </a:p>
          <a:p>
            <a:pPr>
              <a:defRPr sz="2000"/>
            </a:pPr>
            <a:r>
              <a:rPr dirty="0"/>
              <a:t>const child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itemToDelete</a:t>
            </a:r>
            <a:r>
              <a:rPr dirty="0"/>
              <a:t>");</a:t>
            </a:r>
          </a:p>
          <a:p>
            <a:pPr>
              <a:defRPr sz="2000"/>
            </a:pPr>
            <a:r>
              <a:rPr dirty="0" err="1"/>
              <a:t>parent.removeChild</a:t>
            </a:r>
            <a:r>
              <a:rPr dirty="0"/>
              <a:t>(child);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9.3 replaceChild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Replaces one child with another.</a:t>
            </a:r>
          </a:p>
          <a:p>
            <a:pPr>
              <a:defRPr sz="2000"/>
            </a:pPr>
            <a:r>
              <a:rPr dirty="0"/>
              <a:t>const parent = </a:t>
            </a:r>
            <a:r>
              <a:rPr dirty="0" err="1"/>
              <a:t>document.querySelector</a:t>
            </a:r>
            <a:r>
              <a:rPr dirty="0"/>
              <a:t>("#list");</a:t>
            </a:r>
          </a:p>
          <a:p>
            <a:pPr>
              <a:defRPr sz="2000"/>
            </a:pPr>
            <a:r>
              <a:rPr dirty="0"/>
              <a:t>const </a:t>
            </a:r>
            <a:r>
              <a:rPr dirty="0" err="1"/>
              <a:t>oldItem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("#old");</a:t>
            </a:r>
          </a:p>
          <a:p>
            <a:pPr>
              <a:defRPr sz="2000"/>
            </a:pPr>
            <a:r>
              <a:rPr dirty="0"/>
              <a:t>const </a:t>
            </a:r>
            <a:r>
              <a:rPr dirty="0" err="1"/>
              <a:t>newItem</a:t>
            </a:r>
            <a:r>
              <a:rPr dirty="0"/>
              <a:t> = </a:t>
            </a:r>
            <a:r>
              <a:rPr dirty="0" err="1"/>
              <a:t>document.createElement</a:t>
            </a:r>
            <a:r>
              <a:rPr dirty="0"/>
              <a:t>("li");</a:t>
            </a:r>
          </a:p>
          <a:p>
            <a:pPr>
              <a:defRPr sz="2000"/>
            </a:pPr>
            <a:r>
              <a:rPr dirty="0" err="1"/>
              <a:t>newItem.textContent</a:t>
            </a:r>
            <a:r>
              <a:rPr dirty="0"/>
              <a:t> = "New item";</a:t>
            </a:r>
          </a:p>
          <a:p>
            <a:pPr>
              <a:defRPr sz="2000"/>
            </a:pPr>
            <a:r>
              <a:rPr dirty="0" err="1"/>
              <a:t>parent.replaceChild</a:t>
            </a:r>
            <a:r>
              <a:rPr dirty="0"/>
              <a:t>(</a:t>
            </a:r>
            <a:r>
              <a:rPr dirty="0" err="1"/>
              <a:t>newItem</a:t>
            </a:r>
            <a:r>
              <a:rPr dirty="0"/>
              <a:t>, </a:t>
            </a:r>
            <a:r>
              <a:rPr dirty="0" err="1"/>
              <a:t>oldItem</a:t>
            </a:r>
            <a:r>
              <a:rPr dirty="0"/>
              <a:t>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Traversing the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 can move around the DOM tree.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10.1 Parent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child = </a:t>
            </a:r>
            <a:r>
              <a:rPr dirty="0" err="1"/>
              <a:t>document.querySelector</a:t>
            </a:r>
            <a:r>
              <a:rPr dirty="0"/>
              <a:t>(".child");</a:t>
            </a:r>
          </a:p>
          <a:p>
            <a:pPr lvl="1">
              <a:defRPr sz="2000"/>
            </a:pPr>
            <a:r>
              <a:rPr dirty="0"/>
              <a:t>const parent = </a:t>
            </a:r>
            <a:r>
              <a:rPr dirty="0" err="1"/>
              <a:t>child.parentElement</a:t>
            </a:r>
            <a:r>
              <a:rPr dirty="0"/>
              <a:t>; // or </a:t>
            </a:r>
            <a:r>
              <a:rPr dirty="0" err="1"/>
              <a:t>child.parentNode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10.2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parent = </a:t>
            </a:r>
            <a:r>
              <a:rPr dirty="0" err="1"/>
              <a:t>document.querySelector</a:t>
            </a:r>
            <a:r>
              <a:rPr dirty="0"/>
              <a:t>("#list");</a:t>
            </a:r>
          </a:p>
          <a:p>
            <a:pPr lvl="1">
              <a:defRPr sz="2000"/>
            </a:pPr>
            <a:r>
              <a:rPr dirty="0"/>
              <a:t>const children = </a:t>
            </a:r>
            <a:r>
              <a:rPr dirty="0" err="1"/>
              <a:t>parent.children</a:t>
            </a:r>
            <a:r>
              <a:rPr dirty="0"/>
              <a:t>; // </a:t>
            </a:r>
            <a:r>
              <a:rPr dirty="0" err="1"/>
              <a:t>HTMLCollection</a:t>
            </a:r>
            <a:endParaRPr dirty="0"/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firstChild</a:t>
            </a:r>
            <a:r>
              <a:rPr dirty="0"/>
              <a:t> = </a:t>
            </a:r>
            <a:r>
              <a:rPr dirty="0" err="1"/>
              <a:t>parent.firstElementChild</a:t>
            </a:r>
            <a:r>
              <a:rPr dirty="0"/>
              <a:t>;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lastChild</a:t>
            </a:r>
            <a:r>
              <a:rPr dirty="0"/>
              <a:t> = </a:t>
            </a:r>
            <a:r>
              <a:rPr dirty="0" err="1"/>
              <a:t>parent.lastElementChild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10.3 Siblings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elem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("#item");</a:t>
            </a:r>
          </a:p>
          <a:p>
            <a:pPr lvl="1">
              <a:defRPr sz="2000"/>
            </a:pPr>
            <a:r>
              <a:rPr dirty="0"/>
              <a:t>const next = </a:t>
            </a:r>
            <a:r>
              <a:rPr dirty="0" err="1"/>
              <a:t>elem.nextElementSibling</a:t>
            </a:r>
            <a:r>
              <a:rPr dirty="0"/>
              <a:t>;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prev</a:t>
            </a:r>
            <a:r>
              <a:rPr dirty="0"/>
              <a:t> = </a:t>
            </a:r>
            <a:r>
              <a:rPr dirty="0" err="1"/>
              <a:t>elem.previousElementSibling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10.4 General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childNodes – includes text nodes, comment nodes, etc.</a:t>
            </a:r>
          </a:p>
          <a:p>
            <a:pPr>
              <a:defRPr sz="2000"/>
            </a:pPr>
            <a:r>
              <a:t>firstChild, lastChild, nextSibling, previousSibling – work on all node types.</a:t>
            </a:r>
          </a:p>
          <a:p>
            <a:pPr>
              <a:defRPr sz="2000"/>
            </a:pPr>
            <a:r>
              <a:t>For most cases, use the *Element* versions to ignore text/comment nodes.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Event listeners and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DOM manipulation is often combined with events to make pages interactive.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11.1 addEventListener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dirty="0"/>
              <a:t>Attaches an event handler to an element.</a:t>
            </a:r>
          </a:p>
          <a:p>
            <a:pPr lvl="1">
              <a:defRPr sz="2000"/>
            </a:pPr>
            <a:r>
              <a:rPr dirty="0"/>
              <a:t>const button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myButton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 err="1"/>
              <a:t>button.addEventListener</a:t>
            </a:r>
            <a:r>
              <a:rPr dirty="0"/>
              <a:t>("click", function() {</a:t>
            </a:r>
          </a:p>
          <a:p>
            <a:pPr lvl="1">
              <a:defRPr sz="2000"/>
            </a:pPr>
            <a:r>
              <a:rPr dirty="0"/>
              <a:t>console.log("Button clicked");</a:t>
            </a:r>
          </a:p>
          <a:p>
            <a:pPr lvl="1">
              <a:defRPr sz="2000"/>
            </a:pPr>
            <a:r>
              <a:rPr dirty="0"/>
              <a:t>});</a:t>
            </a:r>
          </a:p>
          <a:p>
            <a:pPr>
              <a:defRPr sz="2000"/>
            </a:pPr>
            <a:r>
              <a:rPr dirty="0"/>
              <a:t>With arrow functions:</a:t>
            </a:r>
          </a:p>
          <a:p>
            <a:pPr lvl="1">
              <a:defRPr sz="2000"/>
            </a:pPr>
            <a:r>
              <a:rPr lang="en-US" dirty="0" err="1"/>
              <a:t>b</a:t>
            </a:r>
            <a:r>
              <a:rPr dirty="0" err="1"/>
              <a:t>utton.addEventListener</a:t>
            </a:r>
            <a:r>
              <a:rPr dirty="0"/>
              <a:t>("click", () =&gt; {</a:t>
            </a:r>
          </a:p>
          <a:p>
            <a:pPr lvl="1">
              <a:defRPr sz="2000"/>
            </a:pPr>
            <a:r>
              <a:rPr dirty="0"/>
              <a:t>console.log("Button clicked");</a:t>
            </a:r>
          </a:p>
          <a:p>
            <a:pPr lvl="1">
              <a:defRPr sz="20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11.2 Common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t>click</a:t>
            </a:r>
          </a:p>
          <a:p>
            <a:pPr>
              <a:defRPr sz="2000"/>
            </a:pPr>
            <a:r>
              <a:t>mouseover, mouseout</a:t>
            </a:r>
          </a:p>
          <a:p>
            <a:pPr>
              <a:defRPr sz="2000"/>
            </a:pPr>
            <a:r>
              <a:t>keydown, keyup</a:t>
            </a:r>
          </a:p>
          <a:p>
            <a:pPr>
              <a:defRPr sz="2000"/>
            </a:pPr>
            <a:r>
              <a:t>submit (on forms)</a:t>
            </a:r>
          </a:p>
          <a:p>
            <a:pPr>
              <a:defRPr sz="2000"/>
            </a:pPr>
            <a:r>
              <a:t>input, change (on inputs)</a:t>
            </a:r>
          </a:p>
          <a:p>
            <a:pPr>
              <a:defRPr sz="2000"/>
            </a:pPr>
            <a:r>
              <a:t>const input = document.querySelector("#nameInput");</a:t>
            </a:r>
          </a:p>
          <a:p>
            <a:pPr>
              <a:defRPr sz="2000"/>
            </a:pPr>
            <a:r>
              <a:t>input.addEventListener("input", () =&gt; {</a:t>
            </a:r>
          </a:p>
          <a:p>
            <a:pPr>
              <a:defRPr sz="2000"/>
            </a:pPr>
            <a:r>
              <a:t>console.log("Input value:", input.value);</a:t>
            </a:r>
          </a:p>
          <a:p>
            <a:pPr>
              <a:defRPr sz="2000"/>
            </a:pPr>
            <a:r>
              <a:t>});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11.3 Event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handler receives an event object with details.</a:t>
            </a:r>
          </a:p>
          <a:p>
            <a:pPr lvl="1">
              <a:defRPr sz="2000"/>
            </a:pPr>
            <a:r>
              <a:rPr dirty="0" err="1"/>
              <a:t>button.addEventListener</a:t>
            </a:r>
            <a:r>
              <a:rPr dirty="0"/>
              <a:t>("click", (event) =&gt; {</a:t>
            </a:r>
          </a:p>
          <a:p>
            <a:pPr lvl="1">
              <a:defRPr sz="2000"/>
            </a:pPr>
            <a:r>
              <a:rPr dirty="0"/>
              <a:t>console.log("Event type:", </a:t>
            </a:r>
            <a:r>
              <a:rPr dirty="0" err="1"/>
              <a:t>event.type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console.log("Target:", </a:t>
            </a:r>
            <a:r>
              <a:rPr dirty="0" err="1"/>
              <a:t>event.target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11.4 Prevent default and stop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defRPr sz="2000"/>
            </a:pPr>
            <a:r>
              <a:rPr dirty="0"/>
              <a:t>const form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myForm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 err="1"/>
              <a:t>form.addEventListener</a:t>
            </a:r>
            <a:r>
              <a:rPr dirty="0"/>
              <a:t>("submit", (event) =&gt; {</a:t>
            </a:r>
          </a:p>
          <a:p>
            <a:pPr lvl="1">
              <a:defRPr sz="2000"/>
            </a:pPr>
            <a:r>
              <a:rPr dirty="0" err="1"/>
              <a:t>event.preventDefault</a:t>
            </a:r>
            <a:r>
              <a:rPr dirty="0"/>
              <a:t>(); // stop form from submitting normally</a:t>
            </a:r>
          </a:p>
          <a:p>
            <a:pPr lvl="1">
              <a:defRPr sz="2000"/>
            </a:pPr>
            <a:r>
              <a:rPr dirty="0"/>
              <a:t>console.log("Form submitted (handled by JS)");</a:t>
            </a:r>
          </a:p>
          <a:p>
            <a:pPr lvl="1">
              <a:defRPr sz="2000"/>
            </a:pPr>
            <a:r>
              <a:rPr dirty="0"/>
              <a:t>});</a:t>
            </a:r>
          </a:p>
          <a:p>
            <a:pPr>
              <a:defRPr sz="2000"/>
            </a:pPr>
            <a:r>
              <a:rPr dirty="0"/>
              <a:t>To stop an event from bubbling up:</a:t>
            </a:r>
          </a:p>
          <a:p>
            <a:pPr lvl="1">
              <a:defRPr sz="2000"/>
            </a:pPr>
            <a:r>
              <a:rPr dirty="0" err="1"/>
              <a:t>element.addEventListener</a:t>
            </a:r>
            <a:r>
              <a:rPr dirty="0"/>
              <a:t>("click", (event) =&gt; {</a:t>
            </a:r>
          </a:p>
          <a:p>
            <a:pPr lvl="1">
              <a:defRPr sz="2000"/>
            </a:pPr>
            <a:r>
              <a:rPr dirty="0" err="1"/>
              <a:t>event.stopPropagation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Common DOM manipulation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Toggle visibility</a:t>
            </a:r>
          </a:p>
          <a:p>
            <a:r>
              <a:rPr lang="en-US" dirty="0"/>
              <a:t>Update text based on input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12.1 Toggle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box = </a:t>
            </a:r>
            <a:r>
              <a:rPr dirty="0" err="1"/>
              <a:t>document.querySelector</a:t>
            </a:r>
            <a:r>
              <a:rPr dirty="0"/>
              <a:t>(".box");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toggleBtn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toggleBtn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 err="1"/>
              <a:t>toggleBtn.addEventListener</a:t>
            </a:r>
            <a:r>
              <a:rPr dirty="0"/>
              <a:t>("click", () =&gt; {</a:t>
            </a:r>
          </a:p>
          <a:p>
            <a:pPr lvl="1">
              <a:defRPr sz="2000"/>
            </a:pPr>
            <a:r>
              <a:rPr dirty="0" err="1"/>
              <a:t>box.classList.toggle</a:t>
            </a:r>
            <a:r>
              <a:rPr dirty="0"/>
              <a:t>("hidden");</a:t>
            </a:r>
          </a:p>
          <a:p>
            <a:pPr lvl="1">
              <a:defRPr sz="20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12.2 Update text based on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const input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nameInput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/>
              <a:t>const greeting = </a:t>
            </a:r>
            <a:r>
              <a:rPr dirty="0" err="1"/>
              <a:t>document.querySelector</a:t>
            </a:r>
            <a:r>
              <a:rPr dirty="0"/>
              <a:t>("#greeting");</a:t>
            </a:r>
          </a:p>
          <a:p>
            <a:pPr lvl="1">
              <a:defRPr sz="2000"/>
            </a:pPr>
            <a:r>
              <a:rPr dirty="0" err="1"/>
              <a:t>input.addEventListener</a:t>
            </a:r>
            <a:r>
              <a:rPr dirty="0"/>
              <a:t>("input", () =&gt; {</a:t>
            </a:r>
          </a:p>
          <a:p>
            <a:pPr lvl="1">
              <a:defRPr sz="2000"/>
            </a:pPr>
            <a:r>
              <a:rPr dirty="0" err="1"/>
              <a:t>greeting.textContent</a:t>
            </a:r>
            <a:r>
              <a:rPr dirty="0"/>
              <a:t> = "Hello, " + (</a:t>
            </a:r>
            <a:r>
              <a:rPr dirty="0" err="1"/>
              <a:t>input.value</a:t>
            </a:r>
            <a:r>
              <a:rPr dirty="0"/>
              <a:t> || "Guest");</a:t>
            </a:r>
            <a:r>
              <a:rPr lang="en-US" dirty="0"/>
              <a:t> </a:t>
            </a: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12.3 Create and add list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>
              <a:defRPr sz="2000"/>
            </a:pPr>
            <a:r>
              <a:rPr dirty="0"/>
              <a:t>const list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todoList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/>
              <a:t>const input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todoInput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/>
              <a:t>const </a:t>
            </a:r>
            <a:r>
              <a:rPr dirty="0" err="1"/>
              <a:t>addBtn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("#</a:t>
            </a:r>
            <a:r>
              <a:rPr dirty="0" err="1"/>
              <a:t>addBtn</a:t>
            </a:r>
            <a:r>
              <a:rPr dirty="0"/>
              <a:t>");</a:t>
            </a:r>
          </a:p>
          <a:p>
            <a:pPr lvl="1">
              <a:defRPr sz="2000"/>
            </a:pPr>
            <a:r>
              <a:rPr dirty="0" err="1"/>
              <a:t>addBtn.addEventListener</a:t>
            </a:r>
            <a:r>
              <a:rPr dirty="0"/>
              <a:t>("click", () =&gt; {</a:t>
            </a:r>
          </a:p>
          <a:p>
            <a:pPr lvl="1">
              <a:defRPr sz="2000"/>
            </a:pPr>
            <a:r>
              <a:rPr dirty="0"/>
              <a:t>const text = </a:t>
            </a:r>
            <a:r>
              <a:rPr dirty="0" err="1"/>
              <a:t>input.value.trim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if (!text) return;</a:t>
            </a:r>
          </a:p>
          <a:p>
            <a:pPr lvl="1">
              <a:defRPr sz="2000"/>
            </a:pPr>
            <a:r>
              <a:rPr dirty="0"/>
              <a:t>const li = </a:t>
            </a:r>
            <a:r>
              <a:rPr dirty="0" err="1"/>
              <a:t>document.createElement</a:t>
            </a:r>
            <a:r>
              <a:rPr dirty="0"/>
              <a:t>("li");</a:t>
            </a:r>
          </a:p>
          <a:p>
            <a:pPr lvl="1">
              <a:defRPr sz="2000"/>
            </a:pPr>
            <a:r>
              <a:rPr dirty="0" err="1"/>
              <a:t>li.textContent</a:t>
            </a:r>
            <a:r>
              <a:rPr dirty="0"/>
              <a:t> = text;</a:t>
            </a:r>
          </a:p>
          <a:p>
            <a:pPr lvl="1">
              <a:defRPr sz="2000"/>
            </a:pPr>
            <a:r>
              <a:rPr dirty="0" err="1"/>
              <a:t>list.appendChild</a:t>
            </a:r>
            <a:r>
              <a:rPr dirty="0"/>
              <a:t>(li);</a:t>
            </a:r>
          </a:p>
          <a:p>
            <a:pPr lvl="1">
              <a:defRPr sz="2000"/>
            </a:pPr>
            <a:r>
              <a:rPr dirty="0" err="1"/>
              <a:t>input.value</a:t>
            </a:r>
            <a:r>
              <a:rPr dirty="0"/>
              <a:t> = "";</a:t>
            </a:r>
          </a:p>
          <a:p>
            <a:pPr lvl="1">
              <a:defRPr sz="20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Performance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 sz="2000"/>
            </a:pPr>
            <a:r>
              <a:rPr dirty="0"/>
              <a:t>Prefer </a:t>
            </a:r>
            <a:r>
              <a:rPr dirty="0" err="1"/>
              <a:t>querySelector</a:t>
            </a:r>
            <a:r>
              <a:rPr dirty="0"/>
              <a:t> / </a:t>
            </a:r>
            <a:r>
              <a:rPr dirty="0" err="1"/>
              <a:t>querySelectorAll</a:t>
            </a:r>
            <a:r>
              <a:rPr dirty="0"/>
              <a:t> for selection.</a:t>
            </a:r>
          </a:p>
          <a:p>
            <a:pPr>
              <a:defRPr sz="2000"/>
            </a:pPr>
            <a:r>
              <a:rPr dirty="0"/>
              <a:t>Use </a:t>
            </a:r>
            <a:r>
              <a:rPr dirty="0" err="1"/>
              <a:t>classList</a:t>
            </a:r>
            <a:r>
              <a:rPr dirty="0"/>
              <a:t> instead of manually editing </a:t>
            </a:r>
            <a:r>
              <a:rPr dirty="0" err="1"/>
              <a:t>className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Use </a:t>
            </a:r>
            <a:r>
              <a:rPr dirty="0" err="1"/>
              <a:t>textContent</a:t>
            </a:r>
            <a:r>
              <a:rPr dirty="0"/>
              <a:t> for plain text; avoid unnecessary </a:t>
            </a:r>
            <a:r>
              <a:rPr dirty="0" err="1"/>
              <a:t>innerHTML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Batch DOM changes when possible (e.g., build a fragment, then append once).</a:t>
            </a:r>
          </a:p>
          <a:p>
            <a:pPr>
              <a:defRPr sz="2000"/>
            </a:pPr>
            <a:r>
              <a:rPr dirty="0"/>
              <a:t>Cache selected elements in variables instead of querying repeatedly in loops.</a:t>
            </a:r>
          </a:p>
          <a:p>
            <a:pPr>
              <a:defRPr sz="2000"/>
            </a:pPr>
            <a:r>
              <a:rPr dirty="0"/>
              <a:t>Example with </a:t>
            </a:r>
            <a:r>
              <a:rPr dirty="0" err="1"/>
              <a:t>DocumentFragment</a:t>
            </a:r>
            <a:r>
              <a:rPr dirty="0"/>
              <a:t> for many items:</a:t>
            </a:r>
          </a:p>
          <a:p>
            <a:pPr lvl="1">
              <a:defRPr sz="2000"/>
            </a:pPr>
            <a:r>
              <a:rPr dirty="0"/>
              <a:t>const list = </a:t>
            </a:r>
            <a:r>
              <a:rPr dirty="0" err="1"/>
              <a:t>document.querySelector</a:t>
            </a:r>
            <a:r>
              <a:rPr dirty="0"/>
              <a:t>("#list");</a:t>
            </a:r>
          </a:p>
          <a:p>
            <a:pPr lvl="1">
              <a:defRPr sz="2000"/>
            </a:pPr>
            <a:r>
              <a:rPr dirty="0"/>
              <a:t>const fragment = </a:t>
            </a:r>
            <a:r>
              <a:rPr dirty="0" err="1"/>
              <a:t>document.createDocumentFragment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1; </a:t>
            </a:r>
            <a:r>
              <a:rPr dirty="0" err="1"/>
              <a:t>i</a:t>
            </a:r>
            <a:r>
              <a:rPr dirty="0"/>
              <a:t> &lt;= 1000;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lvl="1">
              <a:defRPr sz="2000"/>
            </a:pPr>
            <a:r>
              <a:rPr dirty="0"/>
              <a:t>const li = </a:t>
            </a:r>
            <a:r>
              <a:rPr dirty="0" err="1"/>
              <a:t>document.createElement</a:t>
            </a:r>
            <a:r>
              <a:rPr dirty="0"/>
              <a:t>("li");</a:t>
            </a:r>
          </a:p>
          <a:p>
            <a:pPr lvl="1">
              <a:defRPr sz="2000"/>
            </a:pPr>
            <a:r>
              <a:rPr dirty="0" err="1"/>
              <a:t>li.textContent</a:t>
            </a:r>
            <a:r>
              <a:rPr dirty="0"/>
              <a:t> = "Item " + </a:t>
            </a:r>
            <a:r>
              <a:rPr dirty="0" err="1"/>
              <a:t>i</a:t>
            </a:r>
            <a:r>
              <a:rPr dirty="0"/>
              <a:t>;</a:t>
            </a:r>
          </a:p>
          <a:p>
            <a:pPr lvl="1">
              <a:defRPr sz="2000"/>
            </a:pPr>
            <a:r>
              <a:rPr dirty="0" err="1"/>
              <a:t>fragment.appendChild</a:t>
            </a:r>
            <a:r>
              <a:rPr dirty="0"/>
              <a:t>(li);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 err="1"/>
              <a:t>list.appendChild</a:t>
            </a:r>
            <a:r>
              <a:rPr dirty="0"/>
              <a:t>(fragment); // one DOM update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DOM vs 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DOM: Document Object Model – represents and manipulates the HTML document.</a:t>
            </a:r>
          </a:p>
          <a:p>
            <a:pPr>
              <a:defRPr sz="2000"/>
            </a:pPr>
            <a:r>
              <a:t>BOM: Browser Object Model – represents browser features (window, location, navigator, etc.).</a:t>
            </a:r>
          </a:p>
          <a:p>
            <a:pPr>
              <a:defRPr sz="2000"/>
            </a:pPr>
            <a:r>
              <a:t>Most UI work is DOM manipulation; browser-level features use BOM.</a:t>
            </a:r>
          </a:p>
          <a:p>
            <a:pPr>
              <a:defRPr sz="2000"/>
            </a:pPr>
            <a:r>
              <a:t>DOM manipulation is the foundation of interactive web pages and a key skill before moving to libraries like React. Mastering selection, content changes, attributes, classes, styles, creating/removing elements, and events gives you full control over the page using plain JavaScript.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1225</TotalTime>
  <Words>1975</Words>
  <Application>Microsoft Office PowerPoint</Application>
  <PresentationFormat>Widescreen</PresentationFormat>
  <Paragraphs>260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IBM Plex Sans</vt:lpstr>
      <vt:lpstr>Quicksand</vt:lpstr>
      <vt:lpstr>ABC Final Theme</vt:lpstr>
      <vt:lpstr>DOM Manipulation</vt:lpstr>
      <vt:lpstr>JavaScript DOM Manipulation Basics</vt:lpstr>
      <vt:lpstr>DOM Tree</vt:lpstr>
      <vt:lpstr>1. What is the DOM?</vt:lpstr>
      <vt:lpstr>2. The document object</vt:lpstr>
      <vt:lpstr>3. Selecting elements</vt:lpstr>
      <vt:lpstr>3.1 getElementById</vt:lpstr>
      <vt:lpstr>3.2 getElementsByClassName</vt:lpstr>
      <vt:lpstr>3.3 getElementsByTagName</vt:lpstr>
      <vt:lpstr>3.4 querySelector</vt:lpstr>
      <vt:lpstr>3.5 querySelectorAll</vt:lpstr>
      <vt:lpstr>4. Reading and changing content</vt:lpstr>
      <vt:lpstr>4.1 textContent</vt:lpstr>
      <vt:lpstr>4.2 innerHTML</vt:lpstr>
      <vt:lpstr>4.3 innerText</vt:lpstr>
      <vt:lpstr>5. Working with attributes</vt:lpstr>
      <vt:lpstr>5.1 getAttribute and setAttribute</vt:lpstr>
      <vt:lpstr>5.2 Direct property access</vt:lpstr>
      <vt:lpstr>5.3 removeAttribute and hasAttribute</vt:lpstr>
      <vt:lpstr>6. Working with classes</vt:lpstr>
      <vt:lpstr>6.1 className</vt:lpstr>
      <vt:lpstr>6.2 classList (preferred)</vt:lpstr>
      <vt:lpstr>7. Changing styles</vt:lpstr>
      <vt:lpstr>7.1 Inline styles via style</vt:lpstr>
      <vt:lpstr>7.2 Computed styles</vt:lpstr>
      <vt:lpstr>8. Creating and adding elements</vt:lpstr>
      <vt:lpstr>8.1 createElement</vt:lpstr>
      <vt:lpstr>8.2 Adding elements to the page</vt:lpstr>
      <vt:lpstr>8.3 Inserting adjacent elements</vt:lpstr>
      <vt:lpstr>9. Removing and replacing elements</vt:lpstr>
      <vt:lpstr>9.1 remove</vt:lpstr>
      <vt:lpstr>9.2 removeChild</vt:lpstr>
      <vt:lpstr>9.3 replaceChild</vt:lpstr>
      <vt:lpstr>10. Traversing the DOM</vt:lpstr>
      <vt:lpstr>10.1 Parent</vt:lpstr>
      <vt:lpstr>10.2 Children</vt:lpstr>
      <vt:lpstr>10.3 Siblings</vt:lpstr>
      <vt:lpstr>10.4 General nodes</vt:lpstr>
      <vt:lpstr>11. Event listeners and interaction</vt:lpstr>
      <vt:lpstr>11.1 addEventListener</vt:lpstr>
      <vt:lpstr>11.2 Common events</vt:lpstr>
      <vt:lpstr>11.3 Event object</vt:lpstr>
      <vt:lpstr>11.4 Prevent default and stop propagation</vt:lpstr>
      <vt:lpstr>12. Common DOM manipulation patterns</vt:lpstr>
      <vt:lpstr>12.1 Toggle visibility</vt:lpstr>
      <vt:lpstr>12.2 Update text based on input</vt:lpstr>
      <vt:lpstr>12.3 Create and add list items</vt:lpstr>
      <vt:lpstr>13. Performance and best practices</vt:lpstr>
      <vt:lpstr>14. DOM vs BOM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24</cp:revision>
  <dcterms:created xsi:type="dcterms:W3CDTF">2013-01-27T09:14:16Z</dcterms:created>
  <dcterms:modified xsi:type="dcterms:W3CDTF">2026-08-18T07:55:13Z</dcterms:modified>
  <cp:category/>
</cp:coreProperties>
</file>