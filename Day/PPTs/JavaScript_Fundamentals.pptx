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349"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94" autoAdjust="0"/>
    <p:restoredTop sz="94660"/>
  </p:normalViewPr>
  <p:slideViewPr>
    <p:cSldViewPr snapToGrid="0" snapToObjects="1">
      <p:cViewPr varScale="1">
        <p:scale>
          <a:sx n="89" d="100"/>
          <a:sy n="89" d="100"/>
        </p:scale>
        <p:origin x="552"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544E5-7EA9-A00F-222A-D4EFD78DEF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dirty="0"/>
          </a:p>
        </p:txBody>
      </p:sp>
      <p:sp>
        <p:nvSpPr>
          <p:cNvPr id="3" name="Subtitle 2">
            <a:extLst>
              <a:ext uri="{FF2B5EF4-FFF2-40B4-BE49-F238E27FC236}">
                <a16:creationId xmlns:a16="http://schemas.microsoft.com/office/drawing/2014/main" id="{C4F15C68-2B3F-571A-7DF0-7D84C2B52030}"/>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B324CA8-D6DB-E063-9105-674BE4F57875}"/>
              </a:ext>
            </a:extLst>
          </p:cNvPr>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a:extLst>
              <a:ext uri="{FF2B5EF4-FFF2-40B4-BE49-F238E27FC236}">
                <a16:creationId xmlns:a16="http://schemas.microsoft.com/office/drawing/2014/main" id="{A2B9F916-4B1C-3D95-33C8-9363A83D51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33C38B-70AE-5980-A3CD-A4ECE0FE483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5768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2B496-8638-954D-4D09-C97F3AC8E1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F1CEC1-09D0-ABCF-EC32-672B8E2C1C72}"/>
              </a:ext>
            </a:extLst>
          </p:cNvPr>
          <p:cNvSpPr>
            <a:spLocks noGrp="1"/>
          </p:cNvSpPr>
          <p:nvPr>
            <p:ph idx="1"/>
          </p:nvPr>
        </p:nvSpPr>
        <p:spPr>
          <a:xfrm>
            <a:off x="838200" y="1825625"/>
            <a:ext cx="10515600" cy="4351338"/>
          </a:xfrm>
          <a:prstGeom prst="roundRect">
            <a:avLst>
              <a:gd name="adj" fmla="val 4177"/>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B72C83-063E-4D70-4E31-94AF42721228}"/>
              </a:ext>
            </a:extLst>
          </p:cNvPr>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a:extLst>
              <a:ext uri="{FF2B5EF4-FFF2-40B4-BE49-F238E27FC236}">
                <a16:creationId xmlns:a16="http://schemas.microsoft.com/office/drawing/2014/main" id="{8531F97A-D64B-7236-A706-E421802512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D059C3-F302-3320-7EC0-1110229FD35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7564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003E3-9AC9-6E4D-2CA7-E9B5F60664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B9BBAA-7735-4006-4526-51F26B538BD3}"/>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325614-D125-39B8-FA07-FF17A1E77635}"/>
              </a:ext>
            </a:extLst>
          </p:cNvPr>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a:extLst>
              <a:ext uri="{FF2B5EF4-FFF2-40B4-BE49-F238E27FC236}">
                <a16:creationId xmlns:a16="http://schemas.microsoft.com/office/drawing/2014/main" id="{2801BEE3-EE59-8FAC-294A-B32FAE5632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1334F7-18E4-AD6F-99B3-E81880B243D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83631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34CF3-3D4D-C273-8CCD-5EAD909597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A1182B-98E8-AA42-1A59-7EFEA90A808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18EEEB-B32D-8CC9-16A6-554B5027B91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0709EF-B791-2EEA-36E2-38104C124C91}"/>
              </a:ext>
            </a:extLst>
          </p:cNvPr>
          <p:cNvSpPr>
            <a:spLocks noGrp="1"/>
          </p:cNvSpPr>
          <p:nvPr>
            <p:ph type="dt" sz="half" idx="10"/>
          </p:nvPr>
        </p:nvSpPr>
        <p:spPr/>
        <p:txBody>
          <a:bodyPr/>
          <a:lstStyle/>
          <a:p>
            <a:fld id="{5BCAD085-E8A6-8845-BD4E-CB4CCA059FC4}" type="datetimeFigureOut">
              <a:rPr lang="en-US" smtClean="0"/>
              <a:t>8/12/2026</a:t>
            </a:fld>
            <a:endParaRPr lang="en-US"/>
          </a:p>
        </p:txBody>
      </p:sp>
      <p:sp>
        <p:nvSpPr>
          <p:cNvPr id="6" name="Footer Placeholder 5">
            <a:extLst>
              <a:ext uri="{FF2B5EF4-FFF2-40B4-BE49-F238E27FC236}">
                <a16:creationId xmlns:a16="http://schemas.microsoft.com/office/drawing/2014/main" id="{5715842E-6F3A-A85B-6D53-65B5AE8C2E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AEBD62-29A1-2911-ADF8-F8BCCA80326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9667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D5427-74A9-5ED8-7773-0A9D0520D47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FBD954-6CF1-9CE6-CACF-455F6CC77E8C}"/>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18FDFA-E79B-681D-21E4-8E6CB44C9968}"/>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421589-80D3-F4DE-2BF3-EF09A5477DAC}"/>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54D82-8EA7-380F-7522-B00F34C5AA0B}"/>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5AFC3FA-8362-05F0-1E84-C69C84DCA3D7}"/>
              </a:ext>
            </a:extLst>
          </p:cNvPr>
          <p:cNvSpPr>
            <a:spLocks noGrp="1"/>
          </p:cNvSpPr>
          <p:nvPr>
            <p:ph type="dt" sz="half" idx="10"/>
          </p:nvPr>
        </p:nvSpPr>
        <p:spPr/>
        <p:txBody>
          <a:bodyPr/>
          <a:lstStyle/>
          <a:p>
            <a:fld id="{5BCAD085-E8A6-8845-BD4E-CB4CCA059FC4}" type="datetimeFigureOut">
              <a:rPr lang="en-US" smtClean="0"/>
              <a:t>8/12/2026</a:t>
            </a:fld>
            <a:endParaRPr lang="en-US"/>
          </a:p>
        </p:txBody>
      </p:sp>
      <p:sp>
        <p:nvSpPr>
          <p:cNvPr id="8" name="Footer Placeholder 7">
            <a:extLst>
              <a:ext uri="{FF2B5EF4-FFF2-40B4-BE49-F238E27FC236}">
                <a16:creationId xmlns:a16="http://schemas.microsoft.com/office/drawing/2014/main" id="{E0F4058C-EFDC-73FA-7296-F85EE350D7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CFA4C7-97BF-BB6D-558A-3F9C45D2175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2851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93F998-5CFD-9FFA-739A-73D9D616D156}"/>
              </a:ext>
            </a:extLst>
          </p:cNvPr>
          <p:cNvSpPr>
            <a:spLocks noGrp="1"/>
          </p:cNvSpPr>
          <p:nvPr>
            <p:ph type="dt" sz="half" idx="10"/>
          </p:nvPr>
        </p:nvSpPr>
        <p:spPr/>
        <p:txBody>
          <a:bodyPr/>
          <a:lstStyle/>
          <a:p>
            <a:fld id="{5BCAD085-E8A6-8845-BD4E-CB4CCA059FC4}" type="datetimeFigureOut">
              <a:rPr lang="en-US" smtClean="0"/>
              <a:t>8/12/2026</a:t>
            </a:fld>
            <a:endParaRPr lang="en-US"/>
          </a:p>
        </p:txBody>
      </p:sp>
      <p:sp>
        <p:nvSpPr>
          <p:cNvPr id="3" name="Footer Placeholder 2">
            <a:extLst>
              <a:ext uri="{FF2B5EF4-FFF2-40B4-BE49-F238E27FC236}">
                <a16:creationId xmlns:a16="http://schemas.microsoft.com/office/drawing/2014/main" id="{736F2A18-A0A1-3DF4-CA91-995A773C67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8E8E93-DC20-D6E7-8A2C-80486A532A4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6565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D7E1B-3550-3840-CD6B-54BC1D478A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F4AA294-D019-64D6-420D-13887C44817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6530B7-90A7-3613-AC11-A4CB41AF5EB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3F1F35-E180-2D84-1260-3DD835132F61}"/>
              </a:ext>
            </a:extLst>
          </p:cNvPr>
          <p:cNvSpPr>
            <a:spLocks noGrp="1"/>
          </p:cNvSpPr>
          <p:nvPr>
            <p:ph type="dt" sz="half" idx="10"/>
          </p:nvPr>
        </p:nvSpPr>
        <p:spPr/>
        <p:txBody>
          <a:bodyPr/>
          <a:lstStyle/>
          <a:p>
            <a:fld id="{5BCAD085-E8A6-8845-BD4E-CB4CCA059FC4}" type="datetimeFigureOut">
              <a:rPr lang="en-US" smtClean="0"/>
              <a:t>8/12/2026</a:t>
            </a:fld>
            <a:endParaRPr lang="en-US"/>
          </a:p>
        </p:txBody>
      </p:sp>
      <p:sp>
        <p:nvSpPr>
          <p:cNvPr id="6" name="Footer Placeholder 5">
            <a:extLst>
              <a:ext uri="{FF2B5EF4-FFF2-40B4-BE49-F238E27FC236}">
                <a16:creationId xmlns:a16="http://schemas.microsoft.com/office/drawing/2014/main" id="{7044B64A-BFA1-F5FA-CA69-5D81434A25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10EBEF-E358-2D3D-A2F9-B6EB3A1BF31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56830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252C4-2991-64A8-3E05-2F2A11D187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9B7D28-C3EE-DA99-F6DF-A1DC180A7EED}"/>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EE57CCCF-DEC8-7499-A7D2-878197E245C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9535CF-242A-22B4-F764-120A3371536C}"/>
              </a:ext>
            </a:extLst>
          </p:cNvPr>
          <p:cNvSpPr>
            <a:spLocks noGrp="1"/>
          </p:cNvSpPr>
          <p:nvPr>
            <p:ph type="dt" sz="half" idx="10"/>
          </p:nvPr>
        </p:nvSpPr>
        <p:spPr/>
        <p:txBody>
          <a:bodyPr/>
          <a:lstStyle/>
          <a:p>
            <a:fld id="{5BCAD085-E8A6-8845-BD4E-CB4CCA059FC4}" type="datetimeFigureOut">
              <a:rPr lang="en-US" smtClean="0"/>
              <a:t>8/12/2026</a:t>
            </a:fld>
            <a:endParaRPr lang="en-US"/>
          </a:p>
        </p:txBody>
      </p:sp>
      <p:sp>
        <p:nvSpPr>
          <p:cNvPr id="6" name="Footer Placeholder 5">
            <a:extLst>
              <a:ext uri="{FF2B5EF4-FFF2-40B4-BE49-F238E27FC236}">
                <a16:creationId xmlns:a16="http://schemas.microsoft.com/office/drawing/2014/main" id="{696783F1-76D6-C1A9-D67F-2FB6140739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A694F2-6D19-29F7-3336-F3AE37B7757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56289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C3A7F-4EF9-67FA-EE14-171F15FA0D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3C73FB-80A5-F9CD-8920-45772AC4BF4C}"/>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795C18-2C1E-842B-417A-C5BB0492DE54}"/>
              </a:ext>
            </a:extLst>
          </p:cNvPr>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a:extLst>
              <a:ext uri="{FF2B5EF4-FFF2-40B4-BE49-F238E27FC236}">
                <a16:creationId xmlns:a16="http://schemas.microsoft.com/office/drawing/2014/main" id="{6DF08207-1CD2-27A0-E167-60E3A40371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1D08D8-2F64-5C6E-959B-A18A7017F48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0540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B9B0B3-0B63-BDB9-ED7B-5690C538CD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B7BFFE-AAD6-8C50-43D9-A990F6256133}"/>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5AC6E2-04DF-6DEE-3397-2F511BB8338B}"/>
              </a:ext>
            </a:extLst>
          </p:cNvPr>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a:extLst>
              <a:ext uri="{FF2B5EF4-FFF2-40B4-BE49-F238E27FC236}">
                <a16:creationId xmlns:a16="http://schemas.microsoft.com/office/drawing/2014/main" id="{EBFD5E37-2472-4004-E51E-65D6D8A006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F1BAC8-106B-CFB9-8D4B-11A9E7D753F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8101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Only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9AFC7-5A92-11DE-9403-A24DCCB904E8}"/>
              </a:ext>
            </a:extLst>
          </p:cNvPr>
          <p:cNvSpPr>
            <a:spLocks noGrp="1"/>
          </p:cNvSpPr>
          <p:nvPr>
            <p:ph type="title"/>
          </p:nvPr>
        </p:nvSpPr>
        <p:spPr>
          <a:xfrm>
            <a:off x="986287" y="1443517"/>
            <a:ext cx="10515600" cy="1325563"/>
          </a:xfrm>
        </p:spPr>
        <p:txBody>
          <a:bodyPr/>
          <a:lstStyle>
            <a:lvl1pPr>
              <a:defRPr b="1">
                <a:solidFill>
                  <a:schemeClr val="tx1"/>
                </a:solidFill>
                <a:latin typeface="Quicksand" pitchFamily="2" charset="0"/>
              </a:defRPr>
            </a:lvl1pPr>
          </a:lstStyle>
          <a:p>
            <a:r>
              <a:rPr lang="en-US"/>
              <a:t>Click to edit Master title style</a:t>
            </a:r>
            <a:endParaRPr lang="en-IN" dirty="0"/>
          </a:p>
        </p:txBody>
      </p:sp>
      <p:sp>
        <p:nvSpPr>
          <p:cNvPr id="5" name="Slide Number Placeholder 4">
            <a:extLst>
              <a:ext uri="{FF2B5EF4-FFF2-40B4-BE49-F238E27FC236}">
                <a16:creationId xmlns:a16="http://schemas.microsoft.com/office/drawing/2014/main" id="{7415A780-312C-AC19-25E9-5A8A6C0B7D6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8001885"/>
      </p:ext>
    </p:extLst>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Rect">
            <a:extLst>
              <a:ext uri="{FF2B5EF4-FFF2-40B4-BE49-F238E27FC236}">
                <a16:creationId xmlns:a16="http://schemas.microsoft.com/office/drawing/2014/main" id="{1CEABFB7-0E55-6B42-07AC-811A73351439}"/>
              </a:ext>
            </a:extLst>
          </p:cNvPr>
          <p:cNvPicPr>
            <a:picLocks noChangeAspect="1"/>
          </p:cNvPicPr>
          <p:nvPr/>
        </p:nvPicPr>
        <p:blipFill rotWithShape="1">
          <a:blip r:embed="rId13">
            <a:alphaModFix/>
          </a:blip>
          <a:stretch/>
        </p:blipFill>
        <p:spPr>
          <a:xfrm>
            <a:off x="0" y="0"/>
            <a:ext cx="10601325" cy="1420273"/>
          </a:xfrm>
          <a:prstGeom prst="rect">
            <a:avLst/>
          </a:prstGeom>
        </p:spPr>
      </p:pic>
      <p:sp>
        <p:nvSpPr>
          <p:cNvPr id="2" name="Title Placeholder 1">
            <a:extLst>
              <a:ext uri="{FF2B5EF4-FFF2-40B4-BE49-F238E27FC236}">
                <a16:creationId xmlns:a16="http://schemas.microsoft.com/office/drawing/2014/main" id="{7B3DBBF8-B311-9293-FDF3-4A284D9FB72E}"/>
              </a:ext>
            </a:extLst>
          </p:cNvPr>
          <p:cNvSpPr>
            <a:spLocks noGrp="1"/>
          </p:cNvSpPr>
          <p:nvPr>
            <p:ph type="title"/>
          </p:nvPr>
        </p:nvSpPr>
        <p:spPr>
          <a:xfrm>
            <a:off x="424132" y="94710"/>
            <a:ext cx="10515600" cy="1325563"/>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60C9F6C6-73A5-0E7A-7077-E131FC32C69A}"/>
              </a:ext>
            </a:extLst>
          </p:cNvPr>
          <p:cNvSpPr>
            <a:spLocks noGrp="1"/>
          </p:cNvSpPr>
          <p:nvPr>
            <p:ph type="body" idx="1"/>
          </p:nvPr>
        </p:nvSpPr>
        <p:spPr>
          <a:xfrm>
            <a:off x="838200" y="1825625"/>
            <a:ext cx="10515600" cy="4351338"/>
          </a:xfrm>
          <a:prstGeom prst="roundRect">
            <a:avLst>
              <a:gd name="adj" fmla="val 4177"/>
            </a:avLst>
          </a:prstGeom>
          <a:solidFill>
            <a:srgbClr val="DDE4F8"/>
          </a:solidFill>
        </p:spPr>
        <p:txBody>
          <a:bodyPr vert="horz" lIns="91440" tIns="45720" rIns="91440" bIns="45720" rtlCol="0" anchor="ctr">
            <a:normAutofit/>
          </a:bodyPr>
          <a:lstStyle/>
          <a:p>
            <a:pPr lvl="0"/>
            <a:r>
              <a:rPr lang="en-US" dirty="0"/>
              <a:t> Click to edit Master text styles</a:t>
            </a:r>
          </a:p>
          <a:p>
            <a:pPr lvl="1"/>
            <a:r>
              <a:rPr lang="en-US" dirty="0"/>
              <a:t> Second level</a:t>
            </a:r>
          </a:p>
          <a:p>
            <a:pPr lvl="2"/>
            <a:r>
              <a:rPr lang="en-US" dirty="0"/>
              <a:t> Third level</a:t>
            </a:r>
          </a:p>
          <a:p>
            <a:pPr lvl="3"/>
            <a:r>
              <a:rPr lang="en-US" dirty="0"/>
              <a:t> Fourth level</a:t>
            </a:r>
          </a:p>
          <a:p>
            <a:pPr lvl="4"/>
            <a:r>
              <a:rPr lang="en-US" dirty="0"/>
              <a:t> Fifth level</a:t>
            </a:r>
            <a:endParaRPr lang="en-IN" dirty="0"/>
          </a:p>
        </p:txBody>
      </p:sp>
      <p:sp>
        <p:nvSpPr>
          <p:cNvPr id="4" name="Date Placeholder 3">
            <a:extLst>
              <a:ext uri="{FF2B5EF4-FFF2-40B4-BE49-F238E27FC236}">
                <a16:creationId xmlns:a16="http://schemas.microsoft.com/office/drawing/2014/main" id="{20C7E770-D3AD-DCE7-4035-43C1F5E493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8/12/2026</a:t>
            </a:fld>
            <a:endParaRPr lang="en-US"/>
          </a:p>
        </p:txBody>
      </p:sp>
      <p:sp>
        <p:nvSpPr>
          <p:cNvPr id="5" name="Footer Placeholder 4">
            <a:extLst>
              <a:ext uri="{FF2B5EF4-FFF2-40B4-BE49-F238E27FC236}">
                <a16:creationId xmlns:a16="http://schemas.microsoft.com/office/drawing/2014/main" id="{DC1A65FE-6E8B-5A92-BCDE-6641812534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337AEF-085A-A1E4-5D23-50EC9146D0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8" name="layoutShapeInnerChild1">
            <a:extLst>
              <a:ext uri="{FF2B5EF4-FFF2-40B4-BE49-F238E27FC236}">
                <a16:creationId xmlns:a16="http://schemas.microsoft.com/office/drawing/2014/main" id="{5DE74BB6-3FFA-3BBE-C247-88A534B93E63}"/>
              </a:ext>
            </a:extLst>
          </p:cNvPr>
          <p:cNvPicPr>
            <a:picLocks noChangeAspect="1"/>
          </p:cNvPicPr>
          <p:nvPr/>
        </p:nvPicPr>
        <p:blipFill rotWithShape="1">
          <a:blip r:embed="rId14">
            <a:alphaModFix/>
            <a:extLst>
              <a:ext uri="{899FBA48-7B2C-474C-B2AE-7FA3B76AA679}">
                <a14:useLocalDpi xmlns="" xmlns:a16="http://schemas.microsoft.com/office/drawing/2014/main" xmlns:asvg="http://schemas.microsoft.com/office/drawing/2016/SVG/main" xmlns:p14="http://schemas.microsoft.com/office/powerpoint/2010/main" xmlns:a14="http://schemas.microsoft.com/office/drawing/2010/main" val="0"/>
              </a:ext>
            </a:extLst>
          </a:blip>
          <a:srcRect t="-261" b="-261"/>
          <a:stretch/>
        </p:blipFill>
        <p:spPr>
          <a:xfrm>
            <a:off x="11743019" y="329183"/>
            <a:ext cx="448981" cy="897007"/>
          </a:xfrm>
          <a:prstGeom prst="rect">
            <a:avLst/>
          </a:prstGeom>
        </p:spPr>
      </p:pic>
    </p:spTree>
    <p:extLst>
      <p:ext uri="{BB962C8B-B14F-4D97-AF65-F5344CB8AC3E}">
        <p14:creationId xmlns:p14="http://schemas.microsoft.com/office/powerpoint/2010/main" val="5439407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1+#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bg/>
                                          </p:spTgt>
                                        </p:tgtEl>
                                        <p:attrNameLst>
                                          <p:attrName>style.visibility</p:attrName>
                                        </p:attrNameLst>
                                      </p:cBhvr>
                                      <p:to>
                                        <p:strVal val="visible"/>
                                      </p:to>
                                    </p:set>
                                    <p:animEffect transition="in" filter="fade">
                                      <p:cBhvr>
                                        <p:cTn id="26" dur="1000"/>
                                        <p:tgtEl>
                                          <p:spTgt spid="3">
                                            <p:bg/>
                                          </p:spTgt>
                                        </p:tgtEl>
                                      </p:cBhvr>
                                    </p:animEffect>
                                    <p:anim calcmode="lin" valueType="num">
                                      <p:cBhvr>
                                        <p:cTn id="27" dur="1000" fill="hold"/>
                                        <p:tgtEl>
                                          <p:spTgt spid="3">
                                            <p:bg/>
                                          </p:spTgt>
                                        </p:tgtEl>
                                        <p:attrNameLst>
                                          <p:attrName>ppt_x</p:attrName>
                                        </p:attrNameLst>
                                      </p:cBhvr>
                                      <p:tavLst>
                                        <p:tav tm="0">
                                          <p:val>
                                            <p:strVal val="#ppt_x"/>
                                          </p:val>
                                        </p:tav>
                                        <p:tav tm="100000">
                                          <p:val>
                                            <p:strVal val="#ppt_x"/>
                                          </p:val>
                                        </p:tav>
                                      </p:tavLst>
                                    </p:anim>
                                    <p:anim calcmode="lin" valueType="num">
                                      <p:cBhvr>
                                        <p:cTn id="28"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animEffect transition="in" filter="fade">
                                      <p:cBhvr>
                                        <p:cTn id="33" dur="1000"/>
                                        <p:tgtEl>
                                          <p:spTgt spid="3">
                                            <p:txEl>
                                              <p:pRg st="0" end="0"/>
                                            </p:txEl>
                                          </p:spTgt>
                                        </p:tgtEl>
                                      </p:cBhvr>
                                    </p:animEffect>
                                    <p:anim calcmode="lin" valueType="num">
                                      <p:cBhvr>
                                        <p:cTn id="3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1" end="1"/>
                                            </p:txEl>
                                          </p:spTgt>
                                        </p:tgtEl>
                                        <p:attrNameLst>
                                          <p:attrName>style.visibility</p:attrName>
                                        </p:attrNameLst>
                                      </p:cBhvr>
                                      <p:to>
                                        <p:strVal val="visible"/>
                                      </p:to>
                                    </p:set>
                                    <p:animEffect transition="in" filter="fade">
                                      <p:cBhvr>
                                        <p:cTn id="40" dur="1000"/>
                                        <p:tgtEl>
                                          <p:spTgt spid="3">
                                            <p:txEl>
                                              <p:pRg st="1" end="1"/>
                                            </p:txEl>
                                          </p:spTgt>
                                        </p:tgtEl>
                                      </p:cBhvr>
                                    </p:animEffect>
                                    <p:anim calcmode="lin" valueType="num">
                                      <p:cBhvr>
                                        <p:cTn id="4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fade">
                                      <p:cBhvr>
                                        <p:cTn id="47" dur="1000"/>
                                        <p:tgtEl>
                                          <p:spTgt spid="3">
                                            <p:txEl>
                                              <p:pRg st="2" end="2"/>
                                            </p:txEl>
                                          </p:spTgt>
                                        </p:tgtEl>
                                      </p:cBhvr>
                                    </p:animEffect>
                                    <p:anim calcmode="lin" valueType="num">
                                      <p:cBhvr>
                                        <p:cTn id="4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3" end="3"/>
                                            </p:txEl>
                                          </p:spTgt>
                                        </p:tgtEl>
                                        <p:attrNameLst>
                                          <p:attrName>style.visibility</p:attrName>
                                        </p:attrNameLst>
                                      </p:cBhvr>
                                      <p:to>
                                        <p:strVal val="visible"/>
                                      </p:to>
                                    </p:set>
                                    <p:animEffect transition="in" filter="fade">
                                      <p:cBhvr>
                                        <p:cTn id="54" dur="1000"/>
                                        <p:tgtEl>
                                          <p:spTgt spid="3">
                                            <p:txEl>
                                              <p:pRg st="3" end="3"/>
                                            </p:txEl>
                                          </p:spTgt>
                                        </p:tgtEl>
                                      </p:cBhvr>
                                    </p:animEffect>
                                    <p:anim calcmode="lin" valueType="num">
                                      <p:cBhvr>
                                        <p:cTn id="5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animEffect transition="in" filter="fade">
                                      <p:cBhvr>
                                        <p:cTn id="61" dur="1000"/>
                                        <p:tgtEl>
                                          <p:spTgt spid="3">
                                            <p:txEl>
                                              <p:pRg st="4" end="4"/>
                                            </p:txEl>
                                          </p:spTgt>
                                        </p:tgtEl>
                                      </p:cBhvr>
                                    </p:animEffect>
                                    <p:anim calcmode="lin" valueType="num">
                                      <p:cBhvr>
                                        <p:cTn id="6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uiExpand="1" build="p" animBg="1">
        <p:tmplLst>
          <p:tmpl>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8" grpId="0"/>
    </p:bldLst>
  </p:timing>
  <p:txStyles>
    <p:titleStyle>
      <a:lvl1pPr algn="l" defTabSz="914400" rtl="0" eaLnBrk="1" latinLnBrk="0" hangingPunct="1">
        <a:lnSpc>
          <a:spcPct val="90000"/>
        </a:lnSpc>
        <a:spcBef>
          <a:spcPct val="0"/>
        </a:spcBef>
        <a:buNone/>
        <a:defRPr sz="4400" b="1" kern="1200">
          <a:solidFill>
            <a:schemeClr val="bg1"/>
          </a:solidFill>
          <a:latin typeface="Quicksand" pitchFamily="2" charset="0"/>
          <a:ea typeface="+mj-ea"/>
          <a:cs typeface="+mj-cs"/>
        </a:defRPr>
      </a:lvl1pPr>
    </p:titleStyle>
    <p:bodyStyle>
      <a:lvl1pPr marL="801688" indent="-228600" algn="l" defTabSz="914400" rtl="0" eaLnBrk="1" latinLnBrk="0" hangingPunct="1">
        <a:lnSpc>
          <a:spcPct val="150000"/>
        </a:lnSpc>
        <a:spcBef>
          <a:spcPts val="1000"/>
        </a:spcBef>
        <a:buClr>
          <a:srgbClr val="204ECF"/>
        </a:buClr>
        <a:buFontTx/>
        <a:buChar char="●"/>
        <a:tabLst>
          <a:tab pos="361950" algn="l"/>
          <a:tab pos="449263" algn="l"/>
        </a:tabLst>
        <a:defRPr sz="2000" b="1" kern="1200">
          <a:solidFill>
            <a:schemeClr val="tx1"/>
          </a:solidFill>
          <a:latin typeface="Quicksand" pitchFamily="2" charset="0"/>
          <a:ea typeface="+mn-ea"/>
          <a:cs typeface="+mn-cs"/>
        </a:defRPr>
      </a:lvl1pPr>
      <a:lvl2pPr marL="1258888" indent="-228600" algn="l" defTabSz="914400" rtl="0" eaLnBrk="1" latinLnBrk="0" hangingPunct="1">
        <a:lnSpc>
          <a:spcPct val="150000"/>
        </a:lnSpc>
        <a:spcBef>
          <a:spcPts val="500"/>
        </a:spcBef>
        <a:buClr>
          <a:srgbClr val="204ECF"/>
        </a:buClr>
        <a:buFontTx/>
        <a:buChar char="●"/>
        <a:tabLst>
          <a:tab pos="361950" algn="l"/>
          <a:tab pos="449263" algn="l"/>
        </a:tabLst>
        <a:defRPr sz="2000" kern="1200">
          <a:solidFill>
            <a:schemeClr val="tx1"/>
          </a:solidFill>
          <a:latin typeface="IBM Plex Sans" panose="020B0503050203000203" pitchFamily="34" charset="0"/>
          <a:ea typeface="+mn-ea"/>
          <a:cs typeface="+mn-cs"/>
        </a:defRPr>
      </a:lvl2pPr>
      <a:lvl3pPr marL="1614488" indent="-228600" algn="l" defTabSz="914400" rtl="0" eaLnBrk="1" latinLnBrk="0" hangingPunct="1">
        <a:lnSpc>
          <a:spcPct val="150000"/>
        </a:lnSpc>
        <a:spcBef>
          <a:spcPts val="500"/>
        </a:spcBef>
        <a:buClr>
          <a:srgbClr val="204ECF"/>
        </a:buClr>
        <a:buFontTx/>
        <a:buChar char="●"/>
        <a:tabLst>
          <a:tab pos="361950" algn="l"/>
          <a:tab pos="449263" algn="l"/>
        </a:tabLst>
        <a:defRPr sz="2000" kern="1200">
          <a:solidFill>
            <a:schemeClr val="tx1"/>
          </a:solidFill>
          <a:latin typeface="IBM Plex Sans" panose="020B0503050203000203" pitchFamily="34" charset="0"/>
          <a:ea typeface="+mn-ea"/>
          <a:cs typeface="+mn-cs"/>
        </a:defRPr>
      </a:lvl3pPr>
      <a:lvl4pPr marL="1884363" indent="-228600" algn="l" defTabSz="914400" rtl="0" eaLnBrk="1" latinLnBrk="0" hangingPunct="1">
        <a:lnSpc>
          <a:spcPct val="150000"/>
        </a:lnSpc>
        <a:spcBef>
          <a:spcPts val="500"/>
        </a:spcBef>
        <a:buClr>
          <a:srgbClr val="204ECF"/>
        </a:buClr>
        <a:buFontTx/>
        <a:buChar char="●"/>
        <a:tabLst>
          <a:tab pos="361950" algn="l"/>
          <a:tab pos="449263" algn="l"/>
        </a:tabLst>
        <a:defRPr sz="2000" kern="1200">
          <a:solidFill>
            <a:schemeClr val="tx1"/>
          </a:solidFill>
          <a:latin typeface="IBM Plex Sans" panose="020B0503050203000203" pitchFamily="34" charset="0"/>
          <a:ea typeface="+mn-ea"/>
          <a:cs typeface="+mn-cs"/>
        </a:defRPr>
      </a:lvl4pPr>
      <a:lvl5pPr marL="2155825" indent="-228600" algn="l" defTabSz="914400" rtl="0" eaLnBrk="1" latinLnBrk="0" hangingPunct="1">
        <a:lnSpc>
          <a:spcPct val="150000"/>
        </a:lnSpc>
        <a:spcBef>
          <a:spcPts val="500"/>
        </a:spcBef>
        <a:buClr>
          <a:srgbClr val="204ECF"/>
        </a:buClr>
        <a:buFontTx/>
        <a:buChar char="●"/>
        <a:tabLst>
          <a:tab pos="361950" algn="l"/>
          <a:tab pos="449263" algn="l"/>
        </a:tabLst>
        <a:defRPr sz="2000" kern="1200">
          <a:solidFill>
            <a:schemeClr val="tx1"/>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119610"/>
            <a:ext cx="9144000" cy="1056102"/>
          </a:xfrm>
        </p:spPr>
        <p:txBody>
          <a:bodyPr/>
          <a:lstStyle/>
          <a:p>
            <a:r>
              <a:rPr dirty="0">
                <a:solidFill>
                  <a:schemeClr val="tx1"/>
                </a:solidFill>
              </a:rPr>
              <a:t>JavaScript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62358-85F2-C1D0-B808-50975B7540A5}"/>
              </a:ext>
            </a:extLst>
          </p:cNvPr>
          <p:cNvSpPr>
            <a:spLocks noGrp="1"/>
          </p:cNvSpPr>
          <p:nvPr>
            <p:ph type="title"/>
          </p:nvPr>
        </p:nvSpPr>
        <p:spPr/>
        <p:txBody>
          <a:bodyPr/>
          <a:lstStyle/>
          <a:p>
            <a:r>
              <a:rPr lang="en-IN" dirty="0"/>
              <a:t>What is JavaScript?</a:t>
            </a:r>
          </a:p>
        </p:txBody>
      </p:sp>
      <p:sp>
        <p:nvSpPr>
          <p:cNvPr id="3" name="Content Placeholder 2">
            <a:extLst>
              <a:ext uri="{FF2B5EF4-FFF2-40B4-BE49-F238E27FC236}">
                <a16:creationId xmlns:a16="http://schemas.microsoft.com/office/drawing/2014/main" id="{4FA2EED6-DA01-17B1-B239-21F609AFD4C7}"/>
              </a:ext>
            </a:extLst>
          </p:cNvPr>
          <p:cNvSpPr>
            <a:spLocks noGrp="1"/>
          </p:cNvSpPr>
          <p:nvPr>
            <p:ph idx="1"/>
          </p:nvPr>
        </p:nvSpPr>
        <p:spPr/>
        <p:txBody>
          <a:bodyPr/>
          <a:lstStyle/>
          <a:p>
            <a:r>
              <a:rPr lang="en-US" dirty="0"/>
              <a:t>JavaScript is a programming language for the web that makes </a:t>
            </a:r>
            <a:br>
              <a:rPr lang="en-US" dirty="0"/>
            </a:br>
            <a:r>
              <a:rPr lang="en-US" u="sng" dirty="0"/>
              <a:t>websites interactive and dynamic</a:t>
            </a:r>
            <a:r>
              <a:rPr lang="en-US" dirty="0"/>
              <a:t>.</a:t>
            </a:r>
            <a:endParaRPr lang="en-IN" dirty="0"/>
          </a:p>
        </p:txBody>
      </p:sp>
    </p:spTree>
    <p:extLst>
      <p:ext uri="{BB962C8B-B14F-4D97-AF65-F5344CB8AC3E}">
        <p14:creationId xmlns:p14="http://schemas.microsoft.com/office/powerpoint/2010/main" val="1851686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JavaScript does</a:t>
            </a:r>
          </a:p>
        </p:txBody>
      </p:sp>
      <p:sp>
        <p:nvSpPr>
          <p:cNvPr id="3" name="Content Placeholder 2"/>
          <p:cNvSpPr>
            <a:spLocks noGrp="1"/>
          </p:cNvSpPr>
          <p:nvPr>
            <p:ph idx="1"/>
          </p:nvPr>
        </p:nvSpPr>
        <p:spPr/>
        <p:txBody>
          <a:bodyPr>
            <a:normAutofit fontScale="92500" lnSpcReduction="20000"/>
          </a:bodyPr>
          <a:lstStyle/>
          <a:p>
            <a:pPr>
              <a:defRPr sz="2000"/>
            </a:pPr>
            <a:r>
              <a:rPr dirty="0"/>
              <a:t>JavaScript lets you:</a:t>
            </a:r>
          </a:p>
          <a:p>
            <a:pPr lvl="1">
              <a:defRPr sz="2000"/>
            </a:pPr>
            <a:r>
              <a:rPr dirty="0"/>
              <a:t>Respond to user actions like clicks, typing, and scrolling.</a:t>
            </a:r>
          </a:p>
          <a:p>
            <a:pPr lvl="1">
              <a:defRPr sz="2000"/>
            </a:pPr>
            <a:r>
              <a:rPr dirty="0"/>
              <a:t>Change HTML content and CSS styles dynamically.</a:t>
            </a:r>
          </a:p>
          <a:p>
            <a:pPr lvl="1">
              <a:defRPr sz="2000"/>
            </a:pPr>
            <a:r>
              <a:rPr dirty="0"/>
              <a:t>Validate forms before sending data.</a:t>
            </a:r>
          </a:p>
          <a:p>
            <a:pPr lvl="1">
              <a:defRPr sz="2000"/>
            </a:pPr>
            <a:r>
              <a:rPr dirty="0"/>
              <a:t>Fetch and update data from servers.</a:t>
            </a:r>
          </a:p>
          <a:p>
            <a:pPr lvl="1">
              <a:defRPr sz="2000"/>
            </a:pPr>
            <a:r>
              <a:rPr dirty="0"/>
              <a:t>Build interactive features such as sliders, menus, tabs, and games.</a:t>
            </a:r>
          </a:p>
          <a:p>
            <a:pPr>
              <a:defRPr sz="2000"/>
            </a:pPr>
            <a:r>
              <a:rPr dirty="0"/>
              <a:t>Example:</a:t>
            </a:r>
          </a:p>
          <a:p>
            <a:pPr marL="1030288" lvl="1" indent="0">
              <a:buNone/>
              <a:defRPr sz="2000"/>
            </a:pPr>
            <a:r>
              <a:rPr dirty="0"/>
              <a:t>&lt;button onclick="</a:t>
            </a:r>
            <a:r>
              <a:rPr dirty="0" err="1"/>
              <a:t>changeText</a:t>
            </a:r>
            <a:r>
              <a:rPr dirty="0"/>
              <a:t>()"&gt;Click me&lt;/button&gt;</a:t>
            </a:r>
          </a:p>
          <a:p>
            <a:pPr marL="1030288" lvl="1" indent="0">
              <a:buNone/>
              <a:defRPr sz="2000"/>
            </a:pPr>
            <a:r>
              <a:rPr dirty="0"/>
              <a:t>&lt;p id="demo"&gt;Hello&lt;/p&gt;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JavaScript does (cont.)</a:t>
            </a:r>
          </a:p>
        </p:txBody>
      </p:sp>
      <p:sp>
        <p:nvSpPr>
          <p:cNvPr id="3" name="Content Placeholder 2"/>
          <p:cNvSpPr>
            <a:spLocks noGrp="1"/>
          </p:cNvSpPr>
          <p:nvPr>
            <p:ph idx="1"/>
          </p:nvPr>
        </p:nvSpPr>
        <p:spPr/>
        <p:txBody>
          <a:bodyPr/>
          <a:lstStyle/>
          <a:p>
            <a:pPr marL="573088" indent="0">
              <a:buNone/>
              <a:defRPr sz="2000"/>
            </a:pPr>
            <a:r>
              <a:rPr lang="en-IN" dirty="0"/>
              <a:t>&lt;script&gt;</a:t>
            </a:r>
            <a:endParaRPr lang="en-US" dirty="0"/>
          </a:p>
          <a:p>
            <a:pPr marL="573088" indent="0">
              <a:buNone/>
              <a:defRPr sz="2000"/>
            </a:pPr>
            <a:r>
              <a:rPr dirty="0"/>
              <a:t>function </a:t>
            </a:r>
            <a:r>
              <a:rPr dirty="0" err="1"/>
              <a:t>changeText</a:t>
            </a:r>
            <a:r>
              <a:rPr dirty="0"/>
              <a:t>() {</a:t>
            </a:r>
          </a:p>
          <a:p>
            <a:pPr marL="573088" indent="0">
              <a:buNone/>
              <a:defRPr sz="2000"/>
            </a:pPr>
            <a:r>
              <a:rPr dirty="0" err="1"/>
              <a:t>document.getElementById</a:t>
            </a:r>
            <a:r>
              <a:rPr dirty="0"/>
              <a:t>("demo").</a:t>
            </a:r>
            <a:r>
              <a:rPr dirty="0" err="1"/>
              <a:t>textContent</a:t>
            </a:r>
            <a:r>
              <a:rPr dirty="0"/>
              <a:t> = "Text changed!";</a:t>
            </a:r>
          </a:p>
          <a:p>
            <a:pPr marL="573088" indent="0">
              <a:buNone/>
              <a:defRPr sz="2000"/>
            </a:pPr>
            <a:r>
              <a:rPr dirty="0"/>
              <a:t>}</a:t>
            </a:r>
          </a:p>
          <a:p>
            <a:pPr marL="573088" indent="0">
              <a:buNone/>
              <a:defRPr sz="2000"/>
            </a:pPr>
            <a:r>
              <a:rPr dirty="0"/>
              <a:t>&lt;/script&gt;</a:t>
            </a:r>
          </a:p>
          <a:p>
            <a:pPr>
              <a:defRPr sz="2000"/>
            </a:pPr>
            <a:r>
              <a:rPr dirty="0"/>
              <a:t>When the button is clicked, JavaScript changes the text on the page.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Where JavaScript runs</a:t>
            </a:r>
          </a:p>
        </p:txBody>
      </p:sp>
      <p:sp>
        <p:nvSpPr>
          <p:cNvPr id="3" name="Content Placeholder 2"/>
          <p:cNvSpPr>
            <a:spLocks noGrp="1"/>
          </p:cNvSpPr>
          <p:nvPr>
            <p:ph idx="1"/>
          </p:nvPr>
        </p:nvSpPr>
        <p:spPr/>
        <p:txBody>
          <a:bodyPr/>
          <a:lstStyle/>
          <a:p>
            <a:pPr marL="1030288" indent="-457200">
              <a:buFont typeface="+mj-lt"/>
              <a:buAutoNum type="arabicPeriod"/>
              <a:defRPr sz="2000"/>
            </a:pPr>
            <a:r>
              <a:rPr dirty="0"/>
              <a:t>JavaScript usually runs in the browser. The browser reads your </a:t>
            </a:r>
            <a:br>
              <a:rPr lang="en-US" dirty="0"/>
            </a:br>
            <a:r>
              <a:rPr dirty="0"/>
              <a:t>JavaScript and executes it while the page is open.</a:t>
            </a:r>
          </a:p>
          <a:p>
            <a:pPr marL="1030288" indent="-457200">
              <a:buFont typeface="+mj-lt"/>
              <a:buAutoNum type="arabicPeriod"/>
              <a:defRPr sz="2000"/>
            </a:pPr>
            <a:r>
              <a:rPr dirty="0"/>
              <a:t>It can also run outside the browser, such as on servers, but for </a:t>
            </a:r>
            <a:br>
              <a:rPr lang="en-US" dirty="0"/>
            </a:br>
            <a:r>
              <a:rPr dirty="0"/>
              <a:t>web development the main focus is browser-based JavaScript.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 syntax</a:t>
            </a:r>
          </a:p>
        </p:txBody>
      </p:sp>
      <p:sp>
        <p:nvSpPr>
          <p:cNvPr id="3" name="Content Placeholder 2"/>
          <p:cNvSpPr>
            <a:spLocks noGrp="1"/>
          </p:cNvSpPr>
          <p:nvPr>
            <p:ph idx="1"/>
          </p:nvPr>
        </p:nvSpPr>
        <p:spPr/>
        <p:txBody>
          <a:bodyPr/>
          <a:lstStyle/>
          <a:p>
            <a:pPr>
              <a:defRPr sz="2000"/>
            </a:pPr>
            <a:r>
              <a:rPr dirty="0"/>
              <a:t>JavaScript code is made of statements, expressions, and blocks.</a:t>
            </a:r>
          </a:p>
          <a:p>
            <a:pPr marL="1030288" lvl="1" indent="0">
              <a:buNone/>
              <a:defRPr sz="2000"/>
            </a:pPr>
            <a:r>
              <a:rPr dirty="0"/>
              <a:t>let name = "Asha";</a:t>
            </a:r>
          </a:p>
          <a:p>
            <a:pPr marL="1030288" lvl="1" indent="0">
              <a:buNone/>
              <a:defRPr sz="2000"/>
            </a:pPr>
            <a:r>
              <a:rPr dirty="0"/>
              <a:t>console.log(name);</a:t>
            </a:r>
          </a:p>
          <a:p>
            <a:pPr>
              <a:defRPr sz="2000"/>
            </a:pPr>
            <a:r>
              <a:rPr dirty="0"/>
              <a:t>let creates a variable.</a:t>
            </a:r>
          </a:p>
          <a:p>
            <a:pPr>
              <a:defRPr sz="2000"/>
            </a:pPr>
            <a:r>
              <a:rPr dirty="0"/>
              <a:t>"Asha" is a string.</a:t>
            </a:r>
          </a:p>
          <a:p>
            <a:pPr>
              <a:defRPr sz="2000"/>
            </a:pPr>
            <a:r>
              <a:rPr dirty="0"/>
              <a:t>console.log() prints output to the browser console.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to add JavaScript to a page</a:t>
            </a:r>
          </a:p>
        </p:txBody>
      </p:sp>
      <p:sp>
        <p:nvSpPr>
          <p:cNvPr id="3" name="Content Placeholder 2"/>
          <p:cNvSpPr>
            <a:spLocks noGrp="1"/>
          </p:cNvSpPr>
          <p:nvPr>
            <p:ph idx="1"/>
          </p:nvPr>
        </p:nvSpPr>
        <p:spPr/>
        <p:txBody>
          <a:bodyPr>
            <a:normAutofit fontScale="77500" lnSpcReduction="20000"/>
          </a:bodyPr>
          <a:lstStyle/>
          <a:p>
            <a:pPr marL="536575">
              <a:defRPr sz="2000"/>
            </a:pPr>
            <a:r>
              <a:rPr sz="2300" dirty="0"/>
              <a:t>There are three common ways:</a:t>
            </a:r>
            <a:endParaRPr dirty="0"/>
          </a:p>
          <a:p>
            <a:pPr marL="573088" indent="0">
              <a:buNone/>
              <a:defRPr sz="2000"/>
            </a:pPr>
            <a:r>
              <a:rPr dirty="0"/>
              <a:t>1. Inline JavaScript</a:t>
            </a:r>
          </a:p>
          <a:p>
            <a:pPr marL="1030288" lvl="1" indent="0">
              <a:buNone/>
              <a:defRPr sz="2000"/>
            </a:pPr>
            <a:r>
              <a:rPr dirty="0"/>
              <a:t>&lt;button onclick="alert('Hello!')"&gt;Click&lt;/button&gt;</a:t>
            </a:r>
          </a:p>
          <a:p>
            <a:pPr marL="573088" indent="0">
              <a:buNone/>
              <a:defRPr sz="2000"/>
            </a:pPr>
            <a:r>
              <a:rPr dirty="0"/>
              <a:t>2. Internal JavaScript</a:t>
            </a:r>
          </a:p>
          <a:p>
            <a:pPr marL="1030288" lvl="1" indent="0">
              <a:buNone/>
              <a:defRPr sz="2000"/>
            </a:pPr>
            <a:r>
              <a:rPr dirty="0"/>
              <a:t>&lt;script&gt;</a:t>
            </a:r>
          </a:p>
          <a:p>
            <a:pPr marL="1030288" lvl="1" indent="0">
              <a:buNone/>
              <a:defRPr sz="2000"/>
            </a:pPr>
            <a:r>
              <a:rPr lang="en-US" dirty="0"/>
              <a:t>	</a:t>
            </a:r>
            <a:r>
              <a:rPr dirty="0"/>
              <a:t>alert("Hello!");</a:t>
            </a:r>
          </a:p>
          <a:p>
            <a:pPr marL="1030288" lvl="1" indent="0">
              <a:buNone/>
              <a:defRPr sz="2000"/>
            </a:pPr>
            <a:r>
              <a:rPr dirty="0"/>
              <a:t>&lt;/script&gt;</a:t>
            </a:r>
          </a:p>
          <a:p>
            <a:pPr marL="573088" indent="0">
              <a:buNone/>
              <a:defRPr sz="2000"/>
            </a:pPr>
            <a:r>
              <a:rPr dirty="0"/>
              <a:t>3. External JavaScript</a:t>
            </a:r>
          </a:p>
          <a:p>
            <a:pPr marL="1030288" lvl="1" indent="0">
              <a:buNone/>
              <a:defRPr sz="2000"/>
            </a:pPr>
            <a:r>
              <a:rPr dirty="0"/>
              <a:t>&lt;script </a:t>
            </a:r>
            <a:r>
              <a:rPr dirty="0" err="1"/>
              <a:t>src</a:t>
            </a:r>
            <a:r>
              <a:rPr dirty="0"/>
              <a:t>="app.js"&gt;&lt;/script&gt;</a:t>
            </a:r>
          </a:p>
          <a:p>
            <a:pPr>
              <a:defRPr sz="2000"/>
            </a:pPr>
            <a:r>
              <a:rPr dirty="0"/>
              <a:t>Using an external file is the most common and clean approach for real projects.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simple interaction example</a:t>
            </a:r>
          </a:p>
        </p:txBody>
      </p:sp>
      <p:sp>
        <p:nvSpPr>
          <p:cNvPr id="3" name="Content Placeholder 2"/>
          <p:cNvSpPr>
            <a:spLocks noGrp="1"/>
          </p:cNvSpPr>
          <p:nvPr>
            <p:ph idx="1"/>
          </p:nvPr>
        </p:nvSpPr>
        <p:spPr/>
        <p:txBody>
          <a:bodyPr>
            <a:normAutofit fontScale="70000" lnSpcReduction="20000"/>
          </a:bodyPr>
          <a:lstStyle/>
          <a:p>
            <a:pPr marL="573088" indent="0">
              <a:buNone/>
              <a:defRPr sz="2000"/>
            </a:pPr>
            <a:r>
              <a:rPr dirty="0"/>
              <a:t>&lt;!DOCTYPE html&gt;</a:t>
            </a:r>
          </a:p>
          <a:p>
            <a:pPr marL="573088" indent="0">
              <a:buNone/>
              <a:defRPr sz="2000"/>
            </a:pPr>
            <a:r>
              <a:rPr dirty="0"/>
              <a:t>&lt;html lang="</a:t>
            </a:r>
            <a:r>
              <a:rPr dirty="0" err="1"/>
              <a:t>en</a:t>
            </a:r>
            <a:r>
              <a:rPr dirty="0"/>
              <a:t>"&gt;</a:t>
            </a:r>
          </a:p>
          <a:p>
            <a:pPr marL="573088" indent="0">
              <a:buNone/>
              <a:defRPr sz="2000"/>
            </a:pPr>
            <a:r>
              <a:rPr dirty="0"/>
              <a:t>&lt;head&gt;</a:t>
            </a:r>
          </a:p>
          <a:p>
            <a:pPr marL="573088" indent="0">
              <a:buNone/>
              <a:defRPr sz="2000"/>
            </a:pPr>
            <a:r>
              <a:rPr dirty="0"/>
              <a:t>&lt;meta charset="UTF-8" /&gt;</a:t>
            </a:r>
          </a:p>
          <a:p>
            <a:pPr marL="573088" indent="0">
              <a:buNone/>
              <a:defRPr sz="2000"/>
            </a:pPr>
            <a:r>
              <a:rPr dirty="0"/>
              <a:t>&lt;title&gt;JS Intro&lt;/title&gt;</a:t>
            </a:r>
          </a:p>
          <a:p>
            <a:pPr marL="573088" indent="0">
              <a:buNone/>
              <a:defRPr sz="2000"/>
            </a:pPr>
            <a:r>
              <a:rPr dirty="0"/>
              <a:t>&lt;/head&gt;</a:t>
            </a:r>
          </a:p>
          <a:p>
            <a:pPr marL="573088" indent="0">
              <a:buNone/>
              <a:defRPr sz="2000"/>
            </a:pPr>
            <a:r>
              <a:rPr dirty="0"/>
              <a:t>&lt;body&gt;</a:t>
            </a:r>
          </a:p>
          <a:p>
            <a:pPr marL="573088" indent="0">
              <a:buNone/>
              <a:defRPr sz="2000"/>
            </a:pPr>
            <a:r>
              <a:rPr dirty="0"/>
              <a:t>&lt;h1 id="title"&gt;Welcome&lt;/h1&gt;</a:t>
            </a:r>
          </a:p>
          <a:p>
            <a:pPr marL="573088" indent="0">
              <a:buNone/>
              <a:defRPr sz="2000"/>
            </a:pPr>
            <a:r>
              <a:rPr dirty="0"/>
              <a:t>&lt;button id="</a:t>
            </a:r>
            <a:r>
              <a:rPr dirty="0" err="1"/>
              <a:t>btn</a:t>
            </a:r>
            <a:r>
              <a:rPr dirty="0"/>
              <a:t>"&gt;Change Title&lt;/button&gt;</a:t>
            </a:r>
          </a:p>
          <a:p>
            <a:pPr marL="573088" indent="0">
              <a:buNone/>
              <a:defRPr sz="2000"/>
            </a:pPr>
            <a:r>
              <a:rPr dirty="0"/>
              <a:t>&lt;script&gt;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simple interaction example (cont.)</a:t>
            </a:r>
          </a:p>
        </p:txBody>
      </p:sp>
      <p:sp>
        <p:nvSpPr>
          <p:cNvPr id="3" name="Content Placeholder 2"/>
          <p:cNvSpPr>
            <a:spLocks noGrp="1"/>
          </p:cNvSpPr>
          <p:nvPr>
            <p:ph idx="1"/>
          </p:nvPr>
        </p:nvSpPr>
        <p:spPr/>
        <p:txBody>
          <a:bodyPr>
            <a:normAutofit fontScale="70000" lnSpcReduction="20000"/>
          </a:bodyPr>
          <a:lstStyle/>
          <a:p>
            <a:pPr marL="573088" indent="0">
              <a:buNone/>
              <a:defRPr sz="2000"/>
            </a:pPr>
            <a:r>
              <a:rPr dirty="0"/>
              <a:t>const button = </a:t>
            </a:r>
            <a:r>
              <a:rPr dirty="0" err="1"/>
              <a:t>document.getElementById</a:t>
            </a:r>
            <a:r>
              <a:rPr dirty="0"/>
              <a:t>("</a:t>
            </a:r>
            <a:r>
              <a:rPr dirty="0" err="1"/>
              <a:t>btn</a:t>
            </a:r>
            <a:r>
              <a:rPr dirty="0"/>
              <a:t>");</a:t>
            </a:r>
          </a:p>
          <a:p>
            <a:pPr marL="573088" indent="0">
              <a:buNone/>
              <a:defRPr sz="2000"/>
            </a:pPr>
            <a:r>
              <a:rPr dirty="0"/>
              <a:t>const title = </a:t>
            </a:r>
            <a:r>
              <a:rPr dirty="0" err="1"/>
              <a:t>document.getElementById</a:t>
            </a:r>
            <a:r>
              <a:rPr dirty="0"/>
              <a:t>("title");</a:t>
            </a:r>
          </a:p>
          <a:p>
            <a:pPr marL="573088" indent="0">
              <a:buNone/>
              <a:defRPr sz="2000"/>
            </a:pPr>
            <a:r>
              <a:rPr dirty="0" err="1"/>
              <a:t>button.addEventListener</a:t>
            </a:r>
            <a:r>
              <a:rPr dirty="0"/>
              <a:t>("click", function () {</a:t>
            </a:r>
          </a:p>
          <a:p>
            <a:pPr marL="573088" indent="0">
              <a:buNone/>
              <a:defRPr sz="2000"/>
            </a:pPr>
            <a:r>
              <a:rPr dirty="0" err="1"/>
              <a:t>title.textContent</a:t>
            </a:r>
            <a:r>
              <a:rPr dirty="0"/>
              <a:t> = "JavaScript is working!";</a:t>
            </a:r>
          </a:p>
          <a:p>
            <a:pPr marL="573088" indent="0">
              <a:buNone/>
              <a:defRPr sz="2000"/>
            </a:pPr>
            <a:r>
              <a:rPr dirty="0"/>
              <a:t>});</a:t>
            </a:r>
          </a:p>
          <a:p>
            <a:pPr marL="573088" indent="0">
              <a:buNone/>
              <a:defRPr sz="2000"/>
            </a:pPr>
            <a:r>
              <a:rPr dirty="0"/>
              <a:t>&lt;/script&gt;</a:t>
            </a:r>
          </a:p>
          <a:p>
            <a:pPr marL="573088" indent="0">
              <a:buNone/>
              <a:defRPr sz="2000"/>
            </a:pPr>
            <a:r>
              <a:rPr dirty="0"/>
              <a:t>&lt;/body&gt;</a:t>
            </a:r>
          </a:p>
          <a:p>
            <a:pPr marL="573088" indent="0">
              <a:buNone/>
              <a:defRPr sz="2000"/>
            </a:pPr>
            <a:r>
              <a:rPr dirty="0"/>
              <a:t>&lt;/html&gt;</a:t>
            </a:r>
          </a:p>
          <a:p>
            <a:pPr>
              <a:defRPr sz="2000"/>
            </a:pPr>
            <a:r>
              <a:rPr dirty="0"/>
              <a:t>This example shows the basic idea of JavaScript: select an element, listen for an event, and update the page.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Important features of JavaScript</a:t>
            </a:r>
          </a:p>
        </p:txBody>
      </p:sp>
      <p:sp>
        <p:nvSpPr>
          <p:cNvPr id="3" name="Content Placeholder 2"/>
          <p:cNvSpPr>
            <a:spLocks noGrp="1"/>
          </p:cNvSpPr>
          <p:nvPr>
            <p:ph idx="1"/>
          </p:nvPr>
        </p:nvSpPr>
        <p:spPr/>
        <p:txBody>
          <a:bodyPr>
            <a:normAutofit fontScale="92500" lnSpcReduction="20000"/>
          </a:bodyPr>
          <a:lstStyle/>
          <a:p>
            <a:pPr>
              <a:defRPr sz="2000"/>
            </a:pPr>
            <a:r>
              <a:rPr dirty="0"/>
              <a:t>Dynamic behavior</a:t>
            </a:r>
          </a:p>
          <a:p>
            <a:pPr lvl="1">
              <a:defRPr sz="2000"/>
            </a:pPr>
            <a:r>
              <a:rPr dirty="0"/>
              <a:t>JavaScript can change values while the page is running.</a:t>
            </a:r>
          </a:p>
          <a:p>
            <a:pPr>
              <a:defRPr sz="2000"/>
            </a:pPr>
            <a:r>
              <a:rPr dirty="0"/>
              <a:t>Interactivity</a:t>
            </a:r>
          </a:p>
          <a:p>
            <a:pPr lvl="1">
              <a:defRPr sz="2000"/>
            </a:pPr>
            <a:r>
              <a:rPr dirty="0"/>
              <a:t>It reacts to events like clicks, hover, input, and keypresses.</a:t>
            </a:r>
          </a:p>
          <a:p>
            <a:pPr>
              <a:defRPr sz="2000"/>
            </a:pPr>
            <a:r>
              <a:rPr dirty="0"/>
              <a:t>Flexibility</a:t>
            </a:r>
          </a:p>
          <a:p>
            <a:pPr lvl="1">
              <a:defRPr sz="2000"/>
            </a:pPr>
            <a:r>
              <a:rPr dirty="0"/>
              <a:t>It supports different styles of programming, including procedural and object-oriented patterns.</a:t>
            </a:r>
          </a:p>
          <a:p>
            <a:pPr>
              <a:defRPr sz="2000"/>
            </a:pPr>
            <a:r>
              <a:rPr dirty="0"/>
              <a:t>Cross-platform</a:t>
            </a:r>
          </a:p>
          <a:p>
            <a:pPr lvl="1">
              <a:defRPr sz="2000"/>
            </a:pPr>
            <a:r>
              <a:rPr dirty="0"/>
              <a:t>JavaScript works in all major browsers.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JavaScript in the development stack</a:t>
            </a:r>
          </a:p>
        </p:txBody>
      </p:sp>
      <p:sp>
        <p:nvSpPr>
          <p:cNvPr id="3" name="Content Placeholder 2"/>
          <p:cNvSpPr>
            <a:spLocks noGrp="1"/>
          </p:cNvSpPr>
          <p:nvPr>
            <p:ph idx="1"/>
          </p:nvPr>
        </p:nvSpPr>
        <p:spPr/>
        <p:txBody>
          <a:bodyPr>
            <a:normAutofit fontScale="85000" lnSpcReduction="20000"/>
          </a:bodyPr>
          <a:lstStyle/>
          <a:p>
            <a:pPr>
              <a:defRPr sz="2000"/>
            </a:pPr>
            <a:r>
              <a:rPr dirty="0"/>
              <a:t>A web page usually uses all three together:</a:t>
            </a:r>
          </a:p>
          <a:p>
            <a:pPr lvl="1">
              <a:defRPr sz="2000"/>
            </a:pPr>
            <a:r>
              <a:rPr dirty="0"/>
              <a:t>HTML for structure.</a:t>
            </a:r>
          </a:p>
          <a:p>
            <a:pPr lvl="1">
              <a:defRPr sz="2000"/>
            </a:pPr>
            <a:r>
              <a:rPr dirty="0"/>
              <a:t>CSS for appearance.</a:t>
            </a:r>
          </a:p>
          <a:p>
            <a:pPr lvl="1">
              <a:defRPr sz="2000"/>
            </a:pPr>
            <a:r>
              <a:rPr dirty="0"/>
              <a:t>JavaScript for behavior.</a:t>
            </a:r>
          </a:p>
          <a:p>
            <a:pPr>
              <a:defRPr sz="2000"/>
            </a:pPr>
            <a:r>
              <a:rPr dirty="0"/>
              <a:t>Example:</a:t>
            </a:r>
          </a:p>
          <a:p>
            <a:pPr marL="1030288" lvl="1" indent="0">
              <a:buNone/>
              <a:defRPr sz="2000"/>
            </a:pPr>
            <a:r>
              <a:rPr dirty="0"/>
              <a:t>&lt;div class="card"&gt;</a:t>
            </a:r>
          </a:p>
          <a:p>
            <a:pPr marL="1030288" lvl="1" indent="0">
              <a:buNone/>
              <a:defRPr sz="2000"/>
            </a:pPr>
            <a:r>
              <a:rPr dirty="0"/>
              <a:t>&lt;h2&gt;Product&lt;/h2&gt;</a:t>
            </a:r>
          </a:p>
          <a:p>
            <a:pPr marL="1030288" lvl="1" indent="0">
              <a:buNone/>
              <a:defRPr sz="2000"/>
            </a:pPr>
            <a:r>
              <a:rPr dirty="0"/>
              <a:t>&lt;p&gt;Price: $20&lt;/p&gt;</a:t>
            </a:r>
          </a:p>
          <a:p>
            <a:pPr marL="1030288" lvl="1" indent="0">
              <a:buNone/>
              <a:defRPr sz="2000"/>
            </a:pPr>
            <a:r>
              <a:rPr dirty="0"/>
              <a:t>&lt;button&gt;Add to Cart&lt;/button&gt;</a:t>
            </a:r>
          </a:p>
          <a:p>
            <a:pPr marL="1030288" lvl="1" indent="0">
              <a:buNone/>
              <a:defRPr sz="2000"/>
            </a:pPr>
            <a:r>
              <a:rPr dirty="0"/>
              <a:t>&lt;/div&gt;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JavaScript in the development stack (cont.)</a:t>
            </a:r>
          </a:p>
        </p:txBody>
      </p:sp>
      <p:sp>
        <p:nvSpPr>
          <p:cNvPr id="3" name="Content Placeholder 2"/>
          <p:cNvSpPr>
            <a:spLocks noGrp="1"/>
          </p:cNvSpPr>
          <p:nvPr>
            <p:ph idx="1"/>
          </p:nvPr>
        </p:nvSpPr>
        <p:spPr/>
        <p:txBody>
          <a:bodyPr/>
          <a:lstStyle/>
          <a:p>
            <a:pPr>
              <a:defRPr sz="2000"/>
            </a:pPr>
            <a:r>
              <a:rPr dirty="0"/>
              <a:t>HTML creates the card.</a:t>
            </a:r>
          </a:p>
          <a:p>
            <a:pPr>
              <a:defRPr sz="2000"/>
            </a:pPr>
            <a:r>
              <a:rPr dirty="0"/>
              <a:t>CSS makes it look nice.</a:t>
            </a:r>
          </a:p>
          <a:p>
            <a:pPr>
              <a:defRPr sz="2000"/>
            </a:pPr>
            <a:r>
              <a:rPr dirty="0"/>
              <a:t>JavaScript can make the button work.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uses</a:t>
            </a:r>
          </a:p>
        </p:txBody>
      </p:sp>
      <p:sp>
        <p:nvSpPr>
          <p:cNvPr id="3" name="Content Placeholder 2"/>
          <p:cNvSpPr>
            <a:spLocks noGrp="1"/>
          </p:cNvSpPr>
          <p:nvPr>
            <p:ph idx="1"/>
          </p:nvPr>
        </p:nvSpPr>
        <p:spPr/>
        <p:txBody>
          <a:bodyPr>
            <a:normAutofit fontScale="85000" lnSpcReduction="20000"/>
          </a:bodyPr>
          <a:lstStyle/>
          <a:p>
            <a:pPr marL="573088" indent="0">
              <a:buNone/>
              <a:defRPr sz="2000"/>
            </a:pPr>
            <a:r>
              <a:rPr dirty="0"/>
              <a:t>JavaScript is used for:</a:t>
            </a:r>
          </a:p>
          <a:p>
            <a:pPr>
              <a:defRPr sz="2000"/>
            </a:pPr>
            <a:r>
              <a:rPr dirty="0"/>
              <a:t>Interactive forms.</a:t>
            </a:r>
          </a:p>
          <a:p>
            <a:pPr>
              <a:defRPr sz="2000"/>
            </a:pPr>
            <a:r>
              <a:rPr dirty="0"/>
              <a:t>Tabs and dropdowns.</a:t>
            </a:r>
          </a:p>
          <a:p>
            <a:pPr>
              <a:defRPr sz="2000"/>
            </a:pPr>
            <a:r>
              <a:rPr dirty="0"/>
              <a:t>Image sliders.</a:t>
            </a:r>
          </a:p>
          <a:p>
            <a:pPr>
              <a:defRPr sz="2000"/>
            </a:pPr>
            <a:r>
              <a:rPr dirty="0"/>
              <a:t>Modal popups.</a:t>
            </a:r>
          </a:p>
          <a:p>
            <a:pPr>
              <a:defRPr sz="2000"/>
            </a:pPr>
            <a:r>
              <a:rPr dirty="0"/>
              <a:t>Data tables.</a:t>
            </a:r>
          </a:p>
          <a:p>
            <a:pPr>
              <a:defRPr sz="2000"/>
            </a:pPr>
            <a:r>
              <a:rPr dirty="0"/>
              <a:t>Real-time updates.</a:t>
            </a:r>
          </a:p>
          <a:p>
            <a:pPr>
              <a:defRPr sz="2000"/>
            </a:pPr>
            <a:r>
              <a:rPr dirty="0"/>
              <a:t>Single-page applications.</a:t>
            </a:r>
          </a:p>
          <a:p>
            <a:pPr>
              <a:defRPr sz="2000"/>
            </a:pPr>
            <a:r>
              <a:rPr dirty="0"/>
              <a:t>Games and visual effects.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Console and debugging</a:t>
            </a:r>
          </a:p>
        </p:txBody>
      </p:sp>
      <p:sp>
        <p:nvSpPr>
          <p:cNvPr id="3" name="Content Placeholder 2"/>
          <p:cNvSpPr>
            <a:spLocks noGrp="1"/>
          </p:cNvSpPr>
          <p:nvPr>
            <p:ph idx="1"/>
          </p:nvPr>
        </p:nvSpPr>
        <p:spPr/>
        <p:txBody>
          <a:bodyPr/>
          <a:lstStyle/>
          <a:p>
            <a:pPr>
              <a:defRPr sz="2000"/>
            </a:pPr>
            <a:r>
              <a:t>Developers often use the browser console to test JavaScript.</a:t>
            </a:r>
          </a:p>
          <a:p>
            <a:pPr>
              <a:defRPr sz="2000"/>
            </a:pPr>
            <a:r>
              <a:t>console.log("Hello from JavaScript");</a:t>
            </a:r>
          </a:p>
          <a:p>
            <a:pPr>
              <a:defRPr sz="2000"/>
            </a:pPr>
            <a:r>
              <a:t>This helps you check values, spot errors, and understand how code behaves.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Beginner-friendly idea to remember</a:t>
            </a:r>
          </a:p>
        </p:txBody>
      </p:sp>
      <p:sp>
        <p:nvSpPr>
          <p:cNvPr id="3" name="Content Placeholder 2"/>
          <p:cNvSpPr>
            <a:spLocks noGrp="1"/>
          </p:cNvSpPr>
          <p:nvPr>
            <p:ph idx="1"/>
          </p:nvPr>
        </p:nvSpPr>
        <p:spPr/>
        <p:txBody>
          <a:bodyPr/>
          <a:lstStyle/>
          <a:p>
            <a:pPr>
              <a:defRPr sz="2000"/>
            </a:pPr>
            <a:r>
              <a:rPr dirty="0"/>
              <a:t>A simple way to think about JavaScript is:</a:t>
            </a:r>
          </a:p>
          <a:p>
            <a:pPr marL="1030288" lvl="1" indent="0">
              <a:buNone/>
              <a:defRPr sz="2000"/>
            </a:pPr>
            <a:r>
              <a:rPr dirty="0"/>
              <a:t>HTML = structure.</a:t>
            </a:r>
          </a:p>
          <a:p>
            <a:pPr marL="1030288" lvl="1" indent="0">
              <a:buNone/>
              <a:defRPr sz="2000"/>
            </a:pPr>
            <a:r>
              <a:rPr dirty="0"/>
              <a:t>CSS = design.</a:t>
            </a:r>
          </a:p>
          <a:p>
            <a:pPr marL="1030288" lvl="1" indent="0">
              <a:buNone/>
              <a:defRPr sz="2000"/>
            </a:pPr>
            <a:r>
              <a:rPr dirty="0"/>
              <a:t>JavaScript = action.</a:t>
            </a:r>
          </a:p>
          <a:p>
            <a:pPr>
              <a:defRPr sz="2000"/>
            </a:pPr>
            <a:r>
              <a:rPr dirty="0"/>
              <a:t>So if HTML is the skeleton and CSS is the clothes, JavaScript is the movement and behavior.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Mini example</a:t>
            </a:r>
          </a:p>
        </p:txBody>
      </p:sp>
      <p:sp>
        <p:nvSpPr>
          <p:cNvPr id="3" name="Content Placeholder 2"/>
          <p:cNvSpPr>
            <a:spLocks noGrp="1"/>
          </p:cNvSpPr>
          <p:nvPr>
            <p:ph idx="1"/>
          </p:nvPr>
        </p:nvSpPr>
        <p:spPr/>
        <p:txBody>
          <a:bodyPr>
            <a:normAutofit fontScale="70000" lnSpcReduction="20000"/>
          </a:bodyPr>
          <a:lstStyle/>
          <a:p>
            <a:pPr marL="573088" indent="0">
              <a:buNone/>
              <a:defRPr sz="2000"/>
            </a:pPr>
            <a:r>
              <a:rPr dirty="0"/>
              <a:t>&lt;button id="</a:t>
            </a:r>
            <a:r>
              <a:rPr dirty="0" err="1"/>
              <a:t>msgBtn</a:t>
            </a:r>
            <a:r>
              <a:rPr dirty="0"/>
              <a:t>"&gt;Show Message&lt;/button&gt;</a:t>
            </a:r>
          </a:p>
          <a:p>
            <a:pPr marL="573088" indent="0">
              <a:buNone/>
              <a:defRPr sz="2000"/>
            </a:pPr>
            <a:r>
              <a:rPr dirty="0"/>
              <a:t>&lt;script&gt;</a:t>
            </a:r>
          </a:p>
          <a:p>
            <a:pPr marL="573088" indent="0">
              <a:buNone/>
              <a:defRPr sz="2000"/>
            </a:pPr>
            <a:r>
              <a:rPr dirty="0" err="1"/>
              <a:t>document.getElementById</a:t>
            </a:r>
            <a:r>
              <a:rPr dirty="0"/>
              <a:t>("</a:t>
            </a:r>
            <a:r>
              <a:rPr dirty="0" err="1"/>
              <a:t>msgBtn</a:t>
            </a:r>
            <a:r>
              <a:rPr dirty="0"/>
              <a:t>").onclick = function () {</a:t>
            </a:r>
          </a:p>
          <a:p>
            <a:pPr marL="573088" indent="0">
              <a:buNone/>
              <a:defRPr sz="2000"/>
            </a:pPr>
            <a:r>
              <a:rPr dirty="0"/>
              <a:t>alert("Welcome to JavaScript!");</a:t>
            </a:r>
          </a:p>
          <a:p>
            <a:pPr marL="573088" indent="0">
              <a:buNone/>
              <a:defRPr sz="2000"/>
            </a:pPr>
            <a:r>
              <a:rPr dirty="0"/>
              <a:t>};</a:t>
            </a:r>
          </a:p>
          <a:p>
            <a:pPr marL="573088" indent="0">
              <a:buNone/>
              <a:defRPr sz="2000"/>
            </a:pPr>
            <a:r>
              <a:rPr dirty="0"/>
              <a:t>&lt;/script&gt;</a:t>
            </a:r>
          </a:p>
          <a:p>
            <a:pPr marL="573088" indent="0">
              <a:buNone/>
              <a:defRPr sz="2000"/>
            </a:pPr>
            <a:r>
              <a:rPr dirty="0"/>
              <a:t>This shows the core JavaScript workflow:</a:t>
            </a:r>
          </a:p>
          <a:p>
            <a:pPr marL="984250" indent="0">
              <a:buNone/>
              <a:defRPr sz="2000"/>
            </a:pPr>
            <a:r>
              <a:rPr dirty="0"/>
              <a:t>1.	Select an element.</a:t>
            </a:r>
          </a:p>
          <a:p>
            <a:pPr marL="984250" indent="0">
              <a:buNone/>
              <a:defRPr sz="2000"/>
            </a:pPr>
            <a:r>
              <a:rPr dirty="0"/>
              <a:t>2.	Wait for an event.</a:t>
            </a:r>
          </a:p>
          <a:p>
            <a:pPr marL="984250" indent="0">
              <a:buNone/>
              <a:defRPr sz="2000"/>
            </a:pPr>
            <a:r>
              <a:rPr dirty="0"/>
              <a:t>3.	Do something.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Mini example (cont.)</a:t>
            </a:r>
          </a:p>
        </p:txBody>
      </p:sp>
      <p:sp>
        <p:nvSpPr>
          <p:cNvPr id="3" name="Content Placeholder 2"/>
          <p:cNvSpPr>
            <a:spLocks noGrp="1"/>
          </p:cNvSpPr>
          <p:nvPr>
            <p:ph idx="1"/>
          </p:nvPr>
        </p:nvSpPr>
        <p:spPr/>
        <p:txBody>
          <a:bodyPr/>
          <a:lstStyle/>
          <a:p>
            <a:pPr>
              <a:defRPr sz="2000"/>
            </a:pPr>
            <a:r>
              <a:t>That is the foundation for everything you will learn next, including variables, functions, loops, and DOM manipulation.</a:t>
            </a:r>
          </a:p>
          <a:p>
            <a:pPr>
              <a:defRPr sz="2000"/>
            </a:pPr>
            <a:r>
              <a:t>JavaScript variables are used to store values so you can reuse and change them in your program. The three ways to declare variables are var, let, and const, and each behaves a little differently.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is a variable?</a:t>
            </a:r>
          </a:p>
        </p:txBody>
      </p:sp>
      <p:sp>
        <p:nvSpPr>
          <p:cNvPr id="3" name="Content Placeholder 2"/>
          <p:cNvSpPr>
            <a:spLocks noGrp="1"/>
          </p:cNvSpPr>
          <p:nvPr>
            <p:ph idx="1"/>
          </p:nvPr>
        </p:nvSpPr>
        <p:spPr/>
        <p:txBody>
          <a:bodyPr>
            <a:normAutofit/>
          </a:bodyPr>
          <a:lstStyle/>
          <a:p>
            <a:pPr>
              <a:defRPr sz="2000"/>
            </a:pPr>
            <a:r>
              <a:rPr dirty="0"/>
              <a:t>A variable is like a labeled container for data.</a:t>
            </a:r>
          </a:p>
          <a:p>
            <a:pPr marL="1030288" lvl="1" indent="0">
              <a:buNone/>
              <a:defRPr sz="2000"/>
            </a:pPr>
            <a:r>
              <a:rPr dirty="0"/>
              <a:t>let name = "Asha";</a:t>
            </a:r>
          </a:p>
          <a:p>
            <a:pPr marL="1030288" lvl="1" indent="0">
              <a:buNone/>
              <a:defRPr sz="2000"/>
            </a:pPr>
            <a:r>
              <a:rPr dirty="0"/>
              <a:t>let age = 22;</a:t>
            </a:r>
          </a:p>
          <a:p>
            <a:pPr>
              <a:defRPr sz="2000"/>
            </a:pPr>
            <a:r>
              <a:rPr dirty="0"/>
              <a:t>Here:</a:t>
            </a:r>
          </a:p>
          <a:p>
            <a:pPr>
              <a:defRPr sz="2000"/>
            </a:pPr>
            <a:r>
              <a:rPr dirty="0"/>
              <a:t>name stores a string.</a:t>
            </a:r>
          </a:p>
          <a:p>
            <a:pPr>
              <a:defRPr sz="2000"/>
            </a:pPr>
            <a:r>
              <a:rPr dirty="0"/>
              <a:t>age stores a number.</a:t>
            </a:r>
          </a:p>
          <a:p>
            <a:pPr>
              <a:defRPr sz="2000"/>
            </a:pPr>
            <a:r>
              <a:rPr dirty="0"/>
              <a:t>You can use these values later in your code.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var</a:t>
            </a:r>
          </a:p>
        </p:txBody>
      </p:sp>
      <p:sp>
        <p:nvSpPr>
          <p:cNvPr id="3" name="Content Placeholder 2"/>
          <p:cNvSpPr>
            <a:spLocks noGrp="1"/>
          </p:cNvSpPr>
          <p:nvPr>
            <p:ph idx="1"/>
          </p:nvPr>
        </p:nvSpPr>
        <p:spPr/>
        <p:txBody>
          <a:bodyPr>
            <a:normAutofit/>
          </a:bodyPr>
          <a:lstStyle/>
          <a:p>
            <a:pPr>
              <a:defRPr sz="2000"/>
            </a:pPr>
            <a:r>
              <a:rPr dirty="0"/>
              <a:t>var is the older way to declare variables in JavaScript.</a:t>
            </a:r>
          </a:p>
          <a:p>
            <a:pPr lvl="1">
              <a:defRPr sz="2000"/>
            </a:pPr>
            <a:r>
              <a:rPr dirty="0"/>
              <a:t>var city = "Delhi";</a:t>
            </a:r>
          </a:p>
          <a:p>
            <a:pPr>
              <a:defRPr sz="2000"/>
            </a:pPr>
            <a:r>
              <a:rPr dirty="0"/>
              <a:t>Features of var</a:t>
            </a:r>
          </a:p>
          <a:p>
            <a:pPr lvl="1">
              <a:defRPr sz="2000"/>
            </a:pPr>
            <a:r>
              <a:rPr dirty="0"/>
              <a:t>It can be reassigned.</a:t>
            </a:r>
          </a:p>
          <a:p>
            <a:pPr lvl="1">
              <a:defRPr sz="2000"/>
            </a:pPr>
            <a:r>
              <a:rPr dirty="0"/>
              <a:t>It can be redeclared in the same scope.</a:t>
            </a:r>
          </a:p>
          <a:p>
            <a:pPr lvl="1">
              <a:defRPr sz="2000"/>
            </a:pPr>
            <a:r>
              <a:rPr dirty="0"/>
              <a:t>It is function-scoped, not block-scoped.</a:t>
            </a:r>
          </a:p>
          <a:p>
            <a:pPr lvl="1">
              <a:defRPr sz="2000"/>
            </a:pPr>
            <a:r>
              <a:rPr dirty="0"/>
              <a:t>It is generally avoided in modern JavaScript.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var (cont.)</a:t>
            </a:r>
          </a:p>
        </p:txBody>
      </p:sp>
      <p:sp>
        <p:nvSpPr>
          <p:cNvPr id="3" name="Content Placeholder 2"/>
          <p:cNvSpPr>
            <a:spLocks noGrp="1"/>
          </p:cNvSpPr>
          <p:nvPr>
            <p:ph idx="1"/>
          </p:nvPr>
        </p:nvSpPr>
        <p:spPr/>
        <p:txBody>
          <a:bodyPr>
            <a:normAutofit fontScale="70000" lnSpcReduction="20000"/>
          </a:bodyPr>
          <a:lstStyle/>
          <a:p>
            <a:pPr>
              <a:defRPr sz="2000"/>
            </a:pPr>
            <a:r>
              <a:t>var x = 10;</a:t>
            </a:r>
          </a:p>
          <a:p>
            <a:pPr>
              <a:defRPr sz="2000"/>
            </a:pPr>
            <a:r>
              <a:t>var x = 20; // allowed</a:t>
            </a:r>
          </a:p>
          <a:p>
            <a:pPr>
              <a:defRPr sz="2000"/>
            </a:pPr>
            <a:r>
              <a:t>x = 30;     // allowed</a:t>
            </a:r>
          </a:p>
          <a:p>
            <a:pPr>
              <a:defRPr sz="2000"/>
            </a:pPr>
            <a:r>
              <a:t>console.log(x); // 30</a:t>
            </a:r>
          </a:p>
          <a:p>
            <a:pPr>
              <a:defRPr sz="2000"/>
            </a:pPr>
            <a:r>
              <a:t>Scope behavior</a:t>
            </a:r>
          </a:p>
          <a:p>
            <a:pPr>
              <a:defRPr sz="2000"/>
            </a:pPr>
            <a:r>
              <a:t>javascript</a:t>
            </a:r>
          </a:p>
          <a:p>
            <a:pPr>
              <a:defRPr sz="2000"/>
            </a:pPr>
            <a:r>
              <a:t>if (true) {</a:t>
            </a:r>
          </a:p>
          <a:p>
            <a:pPr>
              <a:defRPr sz="2000"/>
            </a:pPr>
            <a:r>
              <a:t>var message = "Hello";</a:t>
            </a:r>
          </a:p>
          <a:p>
            <a:pPr>
              <a:defRPr sz="2000"/>
            </a:pPr>
            <a:r>
              <a:t>}</a:t>
            </a:r>
          </a:p>
          <a:p>
            <a:pPr>
              <a:defRPr sz="2000"/>
            </a:pPr>
            <a:r>
              <a:t>console.log(message); // works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var (cont.)</a:t>
            </a:r>
          </a:p>
        </p:txBody>
      </p:sp>
      <p:sp>
        <p:nvSpPr>
          <p:cNvPr id="3" name="Content Placeholder 2"/>
          <p:cNvSpPr>
            <a:spLocks noGrp="1"/>
          </p:cNvSpPr>
          <p:nvPr>
            <p:ph idx="1"/>
          </p:nvPr>
        </p:nvSpPr>
        <p:spPr/>
        <p:txBody>
          <a:bodyPr/>
          <a:lstStyle/>
          <a:p>
            <a:pPr>
              <a:defRPr sz="2000"/>
            </a:pPr>
            <a:r>
              <a:t>Because var is not block-scoped, message is accessible outside the if block.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let</a:t>
            </a:r>
          </a:p>
        </p:txBody>
      </p:sp>
      <p:sp>
        <p:nvSpPr>
          <p:cNvPr id="3" name="Content Placeholder 2"/>
          <p:cNvSpPr>
            <a:spLocks noGrp="1"/>
          </p:cNvSpPr>
          <p:nvPr>
            <p:ph idx="1"/>
          </p:nvPr>
        </p:nvSpPr>
        <p:spPr/>
        <p:txBody>
          <a:bodyPr>
            <a:normAutofit/>
          </a:bodyPr>
          <a:lstStyle/>
          <a:p>
            <a:pPr>
              <a:defRPr sz="2000"/>
            </a:pPr>
            <a:r>
              <a:rPr dirty="0"/>
              <a:t>let is the modern replacement for most var use.</a:t>
            </a:r>
          </a:p>
          <a:p>
            <a:pPr lvl="1">
              <a:defRPr sz="2000"/>
            </a:pPr>
            <a:r>
              <a:rPr dirty="0"/>
              <a:t>let score = 100;</a:t>
            </a:r>
          </a:p>
          <a:p>
            <a:pPr>
              <a:defRPr sz="2000"/>
            </a:pPr>
            <a:r>
              <a:rPr dirty="0"/>
              <a:t>Features of let</a:t>
            </a:r>
          </a:p>
          <a:p>
            <a:pPr lvl="1">
              <a:defRPr sz="2000"/>
            </a:pPr>
            <a:r>
              <a:rPr dirty="0"/>
              <a:t>It can be reassigned.</a:t>
            </a:r>
          </a:p>
          <a:p>
            <a:pPr lvl="1">
              <a:defRPr sz="2000"/>
            </a:pPr>
            <a:r>
              <a:rPr dirty="0"/>
              <a:t>It cannot be redeclared in the same scope.</a:t>
            </a:r>
          </a:p>
          <a:p>
            <a:pPr lvl="1">
              <a:defRPr sz="2000"/>
            </a:pPr>
            <a:r>
              <a:rPr dirty="0"/>
              <a:t>It is block-scoped.</a:t>
            </a:r>
          </a:p>
          <a:p>
            <a:pPr lvl="1">
              <a:defRPr sz="2000"/>
            </a:pPr>
            <a:r>
              <a:rPr dirty="0"/>
              <a:t>It is the best choice when the value may change.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let (cont.)</a:t>
            </a:r>
          </a:p>
        </p:txBody>
      </p:sp>
      <p:sp>
        <p:nvSpPr>
          <p:cNvPr id="3" name="Content Placeholder 2"/>
          <p:cNvSpPr>
            <a:spLocks noGrp="1"/>
          </p:cNvSpPr>
          <p:nvPr>
            <p:ph idx="1"/>
          </p:nvPr>
        </p:nvSpPr>
        <p:spPr/>
        <p:txBody>
          <a:bodyPr>
            <a:normAutofit/>
          </a:bodyPr>
          <a:lstStyle/>
          <a:p>
            <a:pPr lvl="1">
              <a:defRPr sz="2000"/>
            </a:pPr>
            <a:r>
              <a:rPr dirty="0"/>
              <a:t>let total = 50;</a:t>
            </a:r>
          </a:p>
          <a:p>
            <a:pPr lvl="1">
              <a:defRPr sz="2000"/>
            </a:pPr>
            <a:r>
              <a:rPr dirty="0"/>
              <a:t>total = 75; // allowed</a:t>
            </a:r>
          </a:p>
          <a:p>
            <a:pPr lvl="1">
              <a:defRPr sz="2000"/>
            </a:pPr>
            <a:r>
              <a:rPr dirty="0"/>
              <a:t>console.log(total); // 75</a:t>
            </a:r>
          </a:p>
          <a:p>
            <a:pPr>
              <a:defRPr sz="2000"/>
            </a:pPr>
            <a:r>
              <a:rPr dirty="0"/>
              <a:t>Redeclaration not allowed</a:t>
            </a:r>
          </a:p>
          <a:p>
            <a:pPr lvl="1">
              <a:defRPr sz="2000"/>
            </a:pPr>
            <a:r>
              <a:rPr dirty="0"/>
              <a:t>let age = 20;</a:t>
            </a:r>
          </a:p>
          <a:p>
            <a:pPr lvl="1">
              <a:defRPr sz="2000"/>
            </a:pPr>
            <a:r>
              <a:rPr dirty="0"/>
              <a:t>let age = 25; // error</a:t>
            </a:r>
          </a:p>
          <a:p>
            <a:pPr>
              <a:defRPr sz="2000"/>
            </a:pPr>
            <a:r>
              <a:rPr dirty="0"/>
              <a:t>Block scope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let (cont.)</a:t>
            </a:r>
          </a:p>
        </p:txBody>
      </p:sp>
      <p:sp>
        <p:nvSpPr>
          <p:cNvPr id="3" name="Content Placeholder 2"/>
          <p:cNvSpPr>
            <a:spLocks noGrp="1"/>
          </p:cNvSpPr>
          <p:nvPr>
            <p:ph idx="1"/>
          </p:nvPr>
        </p:nvSpPr>
        <p:spPr/>
        <p:txBody>
          <a:bodyPr/>
          <a:lstStyle/>
          <a:p>
            <a:pPr marL="1030288" lvl="1" indent="0">
              <a:buNone/>
              <a:defRPr sz="2000"/>
            </a:pPr>
            <a:r>
              <a:rPr lang="en-IN" dirty="0"/>
              <a:t>if (true) {</a:t>
            </a:r>
          </a:p>
          <a:p>
            <a:pPr marL="1030288" lvl="1" indent="0">
              <a:buNone/>
              <a:defRPr sz="2000"/>
            </a:pPr>
            <a:r>
              <a:rPr dirty="0"/>
              <a:t>let secret = "inside block";</a:t>
            </a:r>
          </a:p>
          <a:p>
            <a:pPr marL="1030288" lvl="1" indent="0">
              <a:buNone/>
              <a:defRPr sz="2000"/>
            </a:pPr>
            <a:r>
              <a:rPr dirty="0"/>
              <a:t>}</a:t>
            </a:r>
          </a:p>
          <a:p>
            <a:pPr marL="1030288" lvl="1" indent="0">
              <a:buNone/>
              <a:defRPr sz="2000"/>
            </a:pPr>
            <a:r>
              <a:rPr dirty="0"/>
              <a:t>console.log(secret); // error</a:t>
            </a:r>
          </a:p>
          <a:p>
            <a:pPr>
              <a:defRPr sz="2000"/>
            </a:pPr>
            <a:r>
              <a:rPr dirty="0"/>
              <a:t>secret only exists inside the block.</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a:t>
            </a:r>
          </a:p>
        </p:txBody>
      </p:sp>
      <p:sp>
        <p:nvSpPr>
          <p:cNvPr id="3" name="Content Placeholder 2"/>
          <p:cNvSpPr>
            <a:spLocks noGrp="1"/>
          </p:cNvSpPr>
          <p:nvPr>
            <p:ph idx="1"/>
          </p:nvPr>
        </p:nvSpPr>
        <p:spPr/>
        <p:txBody>
          <a:bodyPr>
            <a:normAutofit/>
          </a:bodyPr>
          <a:lstStyle/>
          <a:p>
            <a:pPr>
              <a:defRPr sz="2000"/>
            </a:pPr>
            <a:r>
              <a:rPr dirty="0"/>
              <a:t>const means the variable cannot be reassigned after declaration.</a:t>
            </a:r>
          </a:p>
          <a:p>
            <a:pPr lvl="1">
              <a:defRPr sz="2000"/>
            </a:pPr>
            <a:r>
              <a:rPr dirty="0"/>
              <a:t>const country = "India";</a:t>
            </a:r>
          </a:p>
          <a:p>
            <a:pPr>
              <a:defRPr sz="2000"/>
            </a:pPr>
            <a:r>
              <a:rPr dirty="0"/>
              <a:t>Features of const</a:t>
            </a:r>
          </a:p>
          <a:p>
            <a:pPr lvl="1">
              <a:defRPr sz="2000"/>
            </a:pPr>
            <a:r>
              <a:rPr dirty="0"/>
              <a:t>It must be initialized when declared.</a:t>
            </a:r>
          </a:p>
          <a:p>
            <a:pPr lvl="1">
              <a:defRPr sz="2000"/>
            </a:pPr>
            <a:r>
              <a:rPr dirty="0"/>
              <a:t>It cannot be reassigned.</a:t>
            </a:r>
          </a:p>
          <a:p>
            <a:pPr lvl="1">
              <a:defRPr sz="2000"/>
            </a:pPr>
            <a:r>
              <a:rPr dirty="0"/>
              <a:t>It is block-scoped.</a:t>
            </a:r>
          </a:p>
          <a:p>
            <a:pPr lvl="1">
              <a:defRPr sz="2000"/>
            </a:pPr>
            <a:r>
              <a:rPr dirty="0"/>
              <a:t>It is used for values that should stay the same.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 (cont.)</a:t>
            </a:r>
          </a:p>
        </p:txBody>
      </p:sp>
      <p:sp>
        <p:nvSpPr>
          <p:cNvPr id="3" name="Content Placeholder 2"/>
          <p:cNvSpPr>
            <a:spLocks noGrp="1"/>
          </p:cNvSpPr>
          <p:nvPr>
            <p:ph idx="1"/>
          </p:nvPr>
        </p:nvSpPr>
        <p:spPr/>
        <p:txBody>
          <a:bodyPr>
            <a:normAutofit fontScale="70000" lnSpcReduction="20000"/>
          </a:bodyPr>
          <a:lstStyle/>
          <a:p>
            <a:pPr>
              <a:defRPr sz="2000"/>
            </a:pPr>
            <a:r>
              <a:t>const pi = 3.14159;</a:t>
            </a:r>
          </a:p>
          <a:p>
            <a:pPr>
              <a:defRPr sz="2000"/>
            </a:pPr>
            <a:r>
              <a:t>pi = 3.14; // error</a:t>
            </a:r>
          </a:p>
          <a:p>
            <a:pPr>
              <a:defRPr sz="2000"/>
            </a:pPr>
            <a:r>
              <a:t>Must assign a value</a:t>
            </a:r>
          </a:p>
          <a:p>
            <a:pPr>
              <a:defRPr sz="2000"/>
            </a:pPr>
            <a:r>
              <a:t>javascript</a:t>
            </a:r>
          </a:p>
          <a:p>
            <a:pPr>
              <a:defRPr sz="2000"/>
            </a:pPr>
            <a:r>
              <a:t>const city; // error</a:t>
            </a:r>
          </a:p>
          <a:p>
            <a:pPr>
              <a:defRPr sz="2000"/>
            </a:pPr>
            <a:r>
              <a:t>Block scope</a:t>
            </a:r>
          </a:p>
          <a:p>
            <a:pPr>
              <a:defRPr sz="2000"/>
            </a:pPr>
            <a:r>
              <a:t>javascript</a:t>
            </a:r>
          </a:p>
          <a:p>
            <a:pPr>
              <a:defRPr sz="2000"/>
            </a:pPr>
            <a:r>
              <a:t>if (true) {</a:t>
            </a:r>
          </a:p>
          <a:p>
            <a:pPr>
              <a:defRPr sz="2000"/>
            </a:pPr>
            <a:r>
              <a:t>const language = "JavaScript";</a:t>
            </a:r>
          </a:p>
          <a:p>
            <a:pPr>
              <a:defRPr sz="2000"/>
            </a:pPr>
            <a: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 (cont.)</a:t>
            </a:r>
          </a:p>
        </p:txBody>
      </p:sp>
      <p:sp>
        <p:nvSpPr>
          <p:cNvPr id="3" name="Content Placeholder 2"/>
          <p:cNvSpPr>
            <a:spLocks noGrp="1"/>
          </p:cNvSpPr>
          <p:nvPr>
            <p:ph idx="1"/>
          </p:nvPr>
        </p:nvSpPr>
        <p:spPr/>
        <p:txBody>
          <a:bodyPr/>
          <a:lstStyle/>
          <a:p>
            <a:pPr>
              <a:defRPr sz="2000"/>
            </a:pPr>
            <a:r>
              <a:t>console.log(language); // error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Important note about objects and arrays with const</a:t>
            </a:r>
          </a:p>
        </p:txBody>
      </p:sp>
      <p:sp>
        <p:nvSpPr>
          <p:cNvPr id="3" name="Content Placeholder 2"/>
          <p:cNvSpPr>
            <a:spLocks noGrp="1"/>
          </p:cNvSpPr>
          <p:nvPr>
            <p:ph idx="1"/>
          </p:nvPr>
        </p:nvSpPr>
        <p:spPr/>
        <p:txBody>
          <a:bodyPr>
            <a:normAutofit fontScale="92500"/>
          </a:bodyPr>
          <a:lstStyle/>
          <a:p>
            <a:pPr>
              <a:defRPr sz="2000"/>
            </a:pPr>
            <a:r>
              <a:rPr dirty="0"/>
              <a:t>const prevents reassignment, but it does not make objects or arrays immutable.</a:t>
            </a:r>
          </a:p>
          <a:p>
            <a:pPr>
              <a:defRPr sz="2000"/>
            </a:pPr>
            <a:r>
              <a:rPr dirty="0"/>
              <a:t>Object example</a:t>
            </a:r>
          </a:p>
          <a:p>
            <a:pPr marL="1030288" lvl="1" indent="0">
              <a:buNone/>
              <a:defRPr sz="2000"/>
            </a:pPr>
            <a:r>
              <a:rPr dirty="0"/>
              <a:t>const user = {</a:t>
            </a:r>
          </a:p>
          <a:p>
            <a:pPr marL="1030288" lvl="1" indent="0">
              <a:buNone/>
              <a:defRPr sz="2000"/>
            </a:pPr>
            <a:r>
              <a:rPr dirty="0"/>
              <a:t>name: "Asha"</a:t>
            </a:r>
          </a:p>
          <a:p>
            <a:pPr marL="1030288" lvl="1" indent="0">
              <a:buNone/>
              <a:defRPr sz="2000"/>
            </a:pPr>
            <a:r>
              <a:rPr dirty="0"/>
              <a:t>};</a:t>
            </a:r>
          </a:p>
          <a:p>
            <a:pPr marL="1030288" lvl="1" indent="0">
              <a:buNone/>
              <a:defRPr sz="2000"/>
            </a:pPr>
            <a:r>
              <a:rPr dirty="0"/>
              <a:t>user.name = "Riya"; // allowed</a:t>
            </a:r>
          </a:p>
          <a:p>
            <a:pPr marL="1030288" lvl="1" indent="0">
              <a:buNone/>
              <a:defRPr sz="2000"/>
            </a:pPr>
            <a:r>
              <a:rPr dirty="0"/>
              <a:t>console.log(user.name); // Riya</a:t>
            </a:r>
          </a:p>
          <a:p>
            <a:pPr marL="1030288" lvl="1" indent="0">
              <a:buNone/>
              <a:defRPr sz="2000"/>
            </a:pPr>
            <a:r>
              <a:rPr dirty="0"/>
              <a:t>user = {}; // error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Important note about objects and arrays with const (cont.)</a:t>
            </a:r>
          </a:p>
        </p:txBody>
      </p:sp>
      <p:sp>
        <p:nvSpPr>
          <p:cNvPr id="3" name="Content Placeholder 2"/>
          <p:cNvSpPr>
            <a:spLocks noGrp="1"/>
          </p:cNvSpPr>
          <p:nvPr>
            <p:ph idx="1"/>
          </p:nvPr>
        </p:nvSpPr>
        <p:spPr/>
        <p:txBody>
          <a:bodyPr>
            <a:normAutofit/>
          </a:bodyPr>
          <a:lstStyle/>
          <a:p>
            <a:pPr>
              <a:defRPr sz="2000"/>
            </a:pPr>
            <a:r>
              <a:rPr lang="en-IN" dirty="0"/>
              <a:t>Array example</a:t>
            </a:r>
          </a:p>
          <a:p>
            <a:pPr marL="1030288" lvl="1" indent="0">
              <a:buNone/>
              <a:defRPr sz="2000"/>
            </a:pPr>
            <a:r>
              <a:rPr dirty="0"/>
              <a:t>const fruits = ["apple", "banana"];</a:t>
            </a:r>
          </a:p>
          <a:p>
            <a:pPr marL="1030288" lvl="1" indent="0">
              <a:buNone/>
              <a:defRPr sz="2000"/>
            </a:pPr>
            <a:r>
              <a:rPr dirty="0" err="1"/>
              <a:t>fruits.push</a:t>
            </a:r>
            <a:r>
              <a:rPr dirty="0"/>
              <a:t>("mango"); // allowed</a:t>
            </a:r>
          </a:p>
          <a:p>
            <a:pPr marL="1030288" lvl="1" indent="0">
              <a:buNone/>
              <a:defRPr sz="2000"/>
            </a:pPr>
            <a:r>
              <a:rPr dirty="0"/>
              <a:t>console.log(fruits); // ["apple", "banana", "mango"]</a:t>
            </a:r>
          </a:p>
          <a:p>
            <a:pPr marL="1030288" lvl="1" indent="0">
              <a:buNone/>
              <a:defRPr sz="2000"/>
            </a:pPr>
            <a:r>
              <a:rPr dirty="0"/>
              <a:t>fruits = []; // error</a:t>
            </a:r>
          </a:p>
          <a:p>
            <a:pPr>
              <a:defRPr sz="2000"/>
            </a:pPr>
            <a:r>
              <a:rPr dirty="0"/>
              <a:t>So with const, you cannot point the variable to a new object or array, but you can still change the contents.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Scope comparison</a:t>
            </a:r>
          </a:p>
        </p:txBody>
      </p:sp>
      <p:sp>
        <p:nvSpPr>
          <p:cNvPr id="3" name="Content Placeholder 2"/>
          <p:cNvSpPr>
            <a:spLocks noGrp="1"/>
          </p:cNvSpPr>
          <p:nvPr>
            <p:ph idx="1"/>
          </p:nvPr>
        </p:nvSpPr>
        <p:spPr/>
        <p:txBody>
          <a:bodyPr>
            <a:normAutofit fontScale="92500" lnSpcReduction="20000"/>
          </a:bodyPr>
          <a:lstStyle/>
          <a:p>
            <a:pPr>
              <a:defRPr sz="2000"/>
            </a:pPr>
            <a:r>
              <a:rPr dirty="0"/>
              <a:t>var</a:t>
            </a:r>
          </a:p>
          <a:p>
            <a:pPr lvl="1">
              <a:defRPr sz="2000"/>
            </a:pPr>
            <a:r>
              <a:rPr dirty="0"/>
              <a:t>Function-scoped</a:t>
            </a:r>
          </a:p>
          <a:p>
            <a:pPr>
              <a:defRPr sz="2000"/>
            </a:pPr>
            <a:r>
              <a:rPr dirty="0"/>
              <a:t>let and const</a:t>
            </a:r>
          </a:p>
          <a:p>
            <a:pPr lvl="1">
              <a:defRPr sz="2000"/>
            </a:pPr>
            <a:r>
              <a:rPr dirty="0"/>
              <a:t>Block-scoped</a:t>
            </a:r>
          </a:p>
          <a:p>
            <a:pPr>
              <a:defRPr sz="2000"/>
            </a:pPr>
            <a:r>
              <a:rPr dirty="0"/>
              <a:t>Example:</a:t>
            </a:r>
          </a:p>
          <a:p>
            <a:pPr marL="1030288" lvl="1" indent="0">
              <a:buNone/>
              <a:defRPr sz="2000"/>
            </a:pPr>
            <a:r>
              <a:rPr dirty="0"/>
              <a:t>function test() {</a:t>
            </a:r>
          </a:p>
          <a:p>
            <a:pPr marL="1030288" lvl="1" indent="0">
              <a:buNone/>
              <a:defRPr sz="2000"/>
            </a:pPr>
            <a:r>
              <a:rPr dirty="0"/>
              <a:t>if (true) {</a:t>
            </a:r>
          </a:p>
          <a:p>
            <a:pPr marL="1030288" lvl="1" indent="0">
              <a:buNone/>
              <a:defRPr sz="2000"/>
            </a:pPr>
            <a:r>
              <a:rPr dirty="0"/>
              <a:t>var a = 1;</a:t>
            </a:r>
          </a:p>
          <a:p>
            <a:pPr marL="1030288" lvl="1" indent="0">
              <a:buNone/>
              <a:defRPr sz="2000"/>
            </a:pPr>
            <a:r>
              <a:rPr dirty="0"/>
              <a:t>let b = 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Scope comparison (cont.)</a:t>
            </a:r>
          </a:p>
        </p:txBody>
      </p:sp>
      <p:sp>
        <p:nvSpPr>
          <p:cNvPr id="3" name="Content Placeholder 2"/>
          <p:cNvSpPr>
            <a:spLocks noGrp="1"/>
          </p:cNvSpPr>
          <p:nvPr>
            <p:ph idx="1"/>
          </p:nvPr>
        </p:nvSpPr>
        <p:spPr/>
        <p:txBody>
          <a:bodyPr/>
          <a:lstStyle/>
          <a:p>
            <a:pPr marL="1030288" lvl="1" indent="0">
              <a:buNone/>
              <a:defRPr sz="2000"/>
            </a:pPr>
            <a:r>
              <a:rPr dirty="0"/>
              <a:t>const c = 3;</a:t>
            </a:r>
          </a:p>
          <a:p>
            <a:pPr marL="1030288" lvl="1" indent="0">
              <a:buNone/>
              <a:defRPr sz="2000"/>
            </a:pPr>
            <a:r>
              <a:rPr dirty="0"/>
              <a:t>}</a:t>
            </a:r>
          </a:p>
          <a:p>
            <a:pPr marL="1030288" lvl="1" indent="0">
              <a:buNone/>
              <a:defRPr sz="2000"/>
            </a:pPr>
            <a:r>
              <a:rPr dirty="0"/>
              <a:t>console.log(a); // works</a:t>
            </a:r>
          </a:p>
          <a:p>
            <a:pPr marL="1030288" lvl="1" indent="0">
              <a:buNone/>
              <a:defRPr sz="2000"/>
            </a:pPr>
            <a:r>
              <a:rPr dirty="0"/>
              <a:t>console.log(b); // error</a:t>
            </a:r>
          </a:p>
          <a:p>
            <a:pPr marL="1030288" lvl="1" indent="0">
              <a:buNone/>
              <a:defRPr sz="2000"/>
            </a:pPr>
            <a:r>
              <a:rPr dirty="0"/>
              <a:t>console.log(c); // error</a:t>
            </a:r>
          </a:p>
          <a:p>
            <a:pPr marL="1030288" lvl="1" indent="0">
              <a:buNone/>
              <a:defRPr sz="2000"/>
            </a:pPr>
            <a:r>
              <a:rPr dirty="0"/>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Hoisting behavior</a:t>
            </a:r>
          </a:p>
        </p:txBody>
      </p:sp>
      <p:sp>
        <p:nvSpPr>
          <p:cNvPr id="3" name="Content Placeholder 2"/>
          <p:cNvSpPr>
            <a:spLocks noGrp="1"/>
          </p:cNvSpPr>
          <p:nvPr>
            <p:ph idx="1"/>
          </p:nvPr>
        </p:nvSpPr>
        <p:spPr/>
        <p:txBody>
          <a:bodyPr>
            <a:normAutofit fontScale="92500" lnSpcReduction="20000"/>
          </a:bodyPr>
          <a:lstStyle/>
          <a:p>
            <a:pPr>
              <a:defRPr sz="2000"/>
            </a:pPr>
            <a:r>
              <a:rPr dirty="0"/>
              <a:t>JavaScript moves declarations to the top of their scope during execution, but the behavior differs.</a:t>
            </a:r>
          </a:p>
          <a:p>
            <a:pPr>
              <a:defRPr sz="2000"/>
            </a:pPr>
            <a:r>
              <a:rPr dirty="0"/>
              <a:t>var</a:t>
            </a:r>
          </a:p>
          <a:p>
            <a:pPr lvl="1">
              <a:defRPr sz="2000"/>
            </a:pPr>
            <a:r>
              <a:rPr dirty="0"/>
              <a:t>Is hoisted and initialized with undefined.</a:t>
            </a:r>
          </a:p>
          <a:p>
            <a:pPr>
              <a:defRPr sz="2000"/>
            </a:pPr>
            <a:r>
              <a:rPr dirty="0"/>
              <a:t>console.log(x); // undefined</a:t>
            </a:r>
          </a:p>
          <a:p>
            <a:pPr>
              <a:defRPr sz="2000"/>
            </a:pPr>
            <a:r>
              <a:rPr dirty="0"/>
              <a:t>var x = 5;</a:t>
            </a:r>
          </a:p>
          <a:p>
            <a:pPr>
              <a:defRPr sz="2000"/>
            </a:pPr>
            <a:r>
              <a:rPr dirty="0"/>
              <a:t>let and const</a:t>
            </a:r>
          </a:p>
          <a:p>
            <a:pPr lvl="1">
              <a:defRPr sz="2000"/>
            </a:pPr>
            <a:r>
              <a:rPr dirty="0"/>
              <a:t>Are hoisted, but not initialized immediately.</a:t>
            </a:r>
          </a:p>
          <a:p>
            <a:pPr lvl="1">
              <a:defRPr sz="2000"/>
            </a:pPr>
            <a:r>
              <a:rPr dirty="0"/>
              <a:t>They cannot be used before declaration.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Hoisting behavior (cont.)</a:t>
            </a:r>
          </a:p>
        </p:txBody>
      </p:sp>
      <p:sp>
        <p:nvSpPr>
          <p:cNvPr id="3" name="Content Placeholder 2"/>
          <p:cNvSpPr>
            <a:spLocks noGrp="1"/>
          </p:cNvSpPr>
          <p:nvPr>
            <p:ph idx="1"/>
          </p:nvPr>
        </p:nvSpPr>
        <p:spPr/>
        <p:txBody>
          <a:bodyPr/>
          <a:lstStyle/>
          <a:p>
            <a:pPr lvl="1">
              <a:defRPr sz="2000"/>
            </a:pPr>
            <a:r>
              <a:rPr dirty="0"/>
              <a:t>console.log(y); // error</a:t>
            </a:r>
          </a:p>
          <a:p>
            <a:pPr lvl="1">
              <a:defRPr sz="2000"/>
            </a:pPr>
            <a:r>
              <a:rPr dirty="0"/>
              <a:t>let y = 5;</a:t>
            </a:r>
          </a:p>
          <a:p>
            <a:pPr>
              <a:defRPr sz="2000"/>
            </a:pPr>
            <a:r>
              <a:rPr dirty="0"/>
              <a:t>This period before initialization is called the temporal dead zone.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Which one should you use?</a:t>
            </a:r>
          </a:p>
        </p:txBody>
      </p:sp>
      <p:sp>
        <p:nvSpPr>
          <p:cNvPr id="3" name="Content Placeholder 2"/>
          <p:cNvSpPr>
            <a:spLocks noGrp="1"/>
          </p:cNvSpPr>
          <p:nvPr>
            <p:ph idx="1"/>
          </p:nvPr>
        </p:nvSpPr>
        <p:spPr/>
        <p:txBody>
          <a:bodyPr>
            <a:normAutofit/>
          </a:bodyPr>
          <a:lstStyle/>
          <a:p>
            <a:pPr>
              <a:defRPr sz="2000"/>
            </a:pPr>
            <a:r>
              <a:rPr dirty="0"/>
              <a:t>In modern JavaScript:</a:t>
            </a:r>
          </a:p>
          <a:p>
            <a:pPr lvl="1">
              <a:defRPr sz="2000"/>
            </a:pPr>
            <a:r>
              <a:rPr dirty="0"/>
              <a:t>Use const by default.</a:t>
            </a:r>
          </a:p>
          <a:p>
            <a:pPr lvl="1">
              <a:defRPr sz="2000"/>
            </a:pPr>
            <a:r>
              <a:rPr dirty="0"/>
              <a:t>Use let when the value needs to change.</a:t>
            </a:r>
          </a:p>
          <a:p>
            <a:pPr lvl="1">
              <a:defRPr sz="2000"/>
            </a:pPr>
            <a:r>
              <a:rPr dirty="0"/>
              <a:t>Avoid var unless you are working with old code.</a:t>
            </a:r>
          </a:p>
          <a:p>
            <a:pPr>
              <a:defRPr sz="2000"/>
            </a:pPr>
            <a:r>
              <a:rPr dirty="0"/>
              <a:t>Example guideline</a:t>
            </a:r>
          </a:p>
          <a:p>
            <a:pPr lvl="1">
              <a:defRPr sz="2000"/>
            </a:pPr>
            <a:r>
              <a:rPr dirty="0"/>
              <a:t>const name = "Asha";   // value won't change</a:t>
            </a:r>
          </a:p>
          <a:p>
            <a:pPr lvl="1">
              <a:defRPr sz="2000"/>
            </a:pPr>
            <a:r>
              <a:rPr dirty="0"/>
              <a:t>let age = 22;          // value may change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example</a:t>
            </a:r>
          </a:p>
        </p:txBody>
      </p:sp>
      <p:sp>
        <p:nvSpPr>
          <p:cNvPr id="3" name="Content Placeholder 2"/>
          <p:cNvSpPr>
            <a:spLocks noGrp="1"/>
          </p:cNvSpPr>
          <p:nvPr>
            <p:ph idx="1"/>
          </p:nvPr>
        </p:nvSpPr>
        <p:spPr/>
        <p:txBody>
          <a:bodyPr>
            <a:normAutofit/>
          </a:bodyPr>
          <a:lstStyle/>
          <a:p>
            <a:pPr marL="1030288" lvl="1" indent="0">
              <a:buNone/>
              <a:defRPr sz="2000"/>
            </a:pPr>
            <a:r>
              <a:rPr dirty="0"/>
              <a:t>const </a:t>
            </a:r>
            <a:r>
              <a:rPr dirty="0" err="1"/>
              <a:t>appName</a:t>
            </a:r>
            <a:r>
              <a:rPr dirty="0"/>
              <a:t> = "My App";</a:t>
            </a:r>
          </a:p>
          <a:p>
            <a:pPr marL="1030288" lvl="1" indent="0">
              <a:buNone/>
              <a:defRPr sz="2000"/>
            </a:pPr>
            <a:r>
              <a:rPr dirty="0"/>
              <a:t>let counter = 0;</a:t>
            </a:r>
          </a:p>
          <a:p>
            <a:pPr marL="1030288" lvl="1" indent="0">
              <a:buNone/>
              <a:defRPr sz="2000"/>
            </a:pPr>
            <a:r>
              <a:rPr dirty="0"/>
              <a:t>counter = counter + 1;</a:t>
            </a:r>
          </a:p>
          <a:p>
            <a:pPr marL="1030288" lvl="1" indent="0">
              <a:buNone/>
              <a:defRPr sz="2000"/>
            </a:pPr>
            <a:r>
              <a:rPr dirty="0"/>
              <a:t>console.log(</a:t>
            </a:r>
            <a:r>
              <a:rPr dirty="0" err="1"/>
              <a:t>appName</a:t>
            </a:r>
            <a:r>
              <a:rPr dirty="0"/>
              <a:t>); // My App</a:t>
            </a:r>
          </a:p>
          <a:p>
            <a:pPr marL="1030288" lvl="1" indent="0">
              <a:buNone/>
              <a:defRPr sz="2000"/>
            </a:pPr>
            <a:r>
              <a:rPr dirty="0"/>
              <a:t>console.log(counter);  // 1</a:t>
            </a:r>
          </a:p>
          <a:p>
            <a:pPr>
              <a:defRPr sz="2000"/>
            </a:pPr>
            <a:r>
              <a:rPr dirty="0" err="1"/>
              <a:t>appName</a:t>
            </a:r>
            <a:r>
              <a:rPr dirty="0"/>
              <a:t> is a constant.</a:t>
            </a:r>
          </a:p>
          <a:p>
            <a:pPr>
              <a:defRPr sz="2000"/>
            </a:pPr>
            <a:r>
              <a:rPr dirty="0"/>
              <a:t>counter can change over time.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idea</a:t>
            </a:r>
          </a:p>
        </p:txBody>
      </p:sp>
      <p:sp>
        <p:nvSpPr>
          <p:cNvPr id="3" name="Content Placeholder 2"/>
          <p:cNvSpPr>
            <a:spLocks noGrp="1"/>
          </p:cNvSpPr>
          <p:nvPr>
            <p:ph idx="1"/>
          </p:nvPr>
        </p:nvSpPr>
        <p:spPr/>
        <p:txBody>
          <a:bodyPr/>
          <a:lstStyle/>
          <a:p>
            <a:pPr lvl="1">
              <a:defRPr sz="2000"/>
            </a:pPr>
            <a:r>
              <a:rPr dirty="0"/>
              <a:t>var = old, function-scoped, avoid in modern code.</a:t>
            </a:r>
          </a:p>
          <a:p>
            <a:pPr lvl="1">
              <a:defRPr sz="2000"/>
            </a:pPr>
            <a:r>
              <a:rPr dirty="0"/>
              <a:t>let = changeable, block-scoped.</a:t>
            </a:r>
          </a:p>
          <a:p>
            <a:pPr lvl="1">
              <a:defRPr sz="2000"/>
            </a:pPr>
            <a:r>
              <a:rPr dirty="0"/>
              <a:t>const = not </a:t>
            </a:r>
            <a:r>
              <a:rPr dirty="0" err="1"/>
              <a:t>reassignable</a:t>
            </a:r>
            <a:r>
              <a:rPr dirty="0"/>
              <a:t>, block-scoped.</a:t>
            </a:r>
          </a:p>
          <a:p>
            <a:pPr>
              <a:defRPr sz="2000"/>
            </a:pPr>
            <a:r>
              <a:rPr dirty="0"/>
              <a:t>A good rule is: use const unless you know the value must change, then use let.</a:t>
            </a:r>
          </a:p>
          <a:p>
            <a:pPr>
              <a:defRPr sz="2000"/>
            </a:pPr>
            <a:r>
              <a:rPr dirty="0"/>
              <a:t>JavaScript data types define the kind of value a variable can hold. They are grouped into primitive types and non-primitive types.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Primitive data types</a:t>
            </a:r>
          </a:p>
        </p:txBody>
      </p:sp>
      <p:sp>
        <p:nvSpPr>
          <p:cNvPr id="3" name="Content Placeholder 2"/>
          <p:cNvSpPr>
            <a:spLocks noGrp="1"/>
          </p:cNvSpPr>
          <p:nvPr>
            <p:ph idx="1"/>
          </p:nvPr>
        </p:nvSpPr>
        <p:spPr/>
        <p:txBody>
          <a:bodyPr/>
          <a:lstStyle/>
          <a:p>
            <a:pPr>
              <a:defRPr sz="2000"/>
            </a:pPr>
            <a:r>
              <a:rPr dirty="0"/>
              <a:t>Primitive values are simple, single values. They are stored by value.</a:t>
            </a:r>
          </a:p>
          <a:p>
            <a:pPr marL="573088" indent="0">
              <a:buNone/>
              <a:defRPr sz="2000"/>
            </a:pPr>
            <a:r>
              <a:rPr dirty="0"/>
              <a:t>1. String</a:t>
            </a:r>
          </a:p>
          <a:p>
            <a:pPr>
              <a:defRPr sz="2000"/>
            </a:pPr>
            <a:r>
              <a:rPr dirty="0"/>
              <a:t>Used for text.</a:t>
            </a:r>
          </a:p>
          <a:p>
            <a:pPr lvl="1">
              <a:defRPr sz="2000"/>
            </a:pPr>
            <a:r>
              <a:rPr dirty="0"/>
              <a:t>let name = "Asha";</a:t>
            </a:r>
          </a:p>
          <a:p>
            <a:pPr lvl="1">
              <a:defRPr sz="2000"/>
            </a:pPr>
            <a:r>
              <a:rPr dirty="0"/>
              <a:t>let city = 'Delhi';</a:t>
            </a:r>
          </a:p>
          <a:p>
            <a:pPr>
              <a:defRPr sz="2000"/>
            </a:pPr>
            <a:r>
              <a:rPr dirty="0"/>
              <a:t>Strings can use single quotes, double quotes, or backticks.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Number</a:t>
            </a:r>
          </a:p>
        </p:txBody>
      </p:sp>
      <p:sp>
        <p:nvSpPr>
          <p:cNvPr id="3" name="Content Placeholder 2"/>
          <p:cNvSpPr>
            <a:spLocks noGrp="1"/>
          </p:cNvSpPr>
          <p:nvPr>
            <p:ph idx="1"/>
          </p:nvPr>
        </p:nvSpPr>
        <p:spPr/>
        <p:txBody>
          <a:bodyPr/>
          <a:lstStyle/>
          <a:p>
            <a:pPr>
              <a:defRPr sz="2000"/>
            </a:pPr>
            <a:r>
              <a:rPr dirty="0"/>
              <a:t>Used for integers and decimals.</a:t>
            </a:r>
          </a:p>
          <a:p>
            <a:pPr lvl="1">
              <a:defRPr sz="2000"/>
            </a:pPr>
            <a:r>
              <a:rPr dirty="0"/>
              <a:t>let age = 25;</a:t>
            </a:r>
          </a:p>
          <a:p>
            <a:pPr lvl="1">
              <a:defRPr sz="2000"/>
            </a:pPr>
            <a:r>
              <a:rPr dirty="0"/>
              <a:t>let price = 99.99;</a:t>
            </a:r>
          </a:p>
          <a:p>
            <a:pPr>
              <a:defRPr sz="2000"/>
            </a:pPr>
            <a:r>
              <a:rPr dirty="0"/>
              <a:t>JavaScript has only one number type for both whole numbers and decimals.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BigInt</a:t>
            </a:r>
          </a:p>
        </p:txBody>
      </p:sp>
      <p:sp>
        <p:nvSpPr>
          <p:cNvPr id="3" name="Content Placeholder 2"/>
          <p:cNvSpPr>
            <a:spLocks noGrp="1"/>
          </p:cNvSpPr>
          <p:nvPr>
            <p:ph idx="1"/>
          </p:nvPr>
        </p:nvSpPr>
        <p:spPr/>
        <p:txBody>
          <a:bodyPr/>
          <a:lstStyle/>
          <a:p>
            <a:pPr>
              <a:defRPr sz="2000"/>
            </a:pPr>
            <a:r>
              <a:rPr dirty="0"/>
              <a:t>Used for very large integers.</a:t>
            </a:r>
          </a:p>
          <a:p>
            <a:pPr lvl="1">
              <a:defRPr sz="2000"/>
            </a:pPr>
            <a:r>
              <a:rPr dirty="0"/>
              <a:t>let </a:t>
            </a:r>
            <a:r>
              <a:rPr dirty="0" err="1"/>
              <a:t>bigNumber</a:t>
            </a:r>
            <a:r>
              <a:rPr dirty="0"/>
              <a:t> = 123456789012345678901234567890n;</a:t>
            </a:r>
          </a:p>
          <a:p>
            <a:pPr>
              <a:defRPr sz="2000"/>
            </a:pPr>
            <a:r>
              <a:rPr dirty="0"/>
              <a:t>The n at the end makes it a </a:t>
            </a:r>
            <a:r>
              <a:rPr dirty="0" err="1"/>
              <a:t>BigInt</a:t>
            </a:r>
            <a:r>
              <a:rPr dirty="0"/>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 Boolean</a:t>
            </a:r>
          </a:p>
        </p:txBody>
      </p:sp>
      <p:sp>
        <p:nvSpPr>
          <p:cNvPr id="3" name="Content Placeholder 2"/>
          <p:cNvSpPr>
            <a:spLocks noGrp="1"/>
          </p:cNvSpPr>
          <p:nvPr>
            <p:ph idx="1"/>
          </p:nvPr>
        </p:nvSpPr>
        <p:spPr/>
        <p:txBody>
          <a:bodyPr/>
          <a:lstStyle/>
          <a:p>
            <a:pPr>
              <a:defRPr sz="2000"/>
            </a:pPr>
            <a:r>
              <a:rPr dirty="0"/>
              <a:t>Represents true or false.</a:t>
            </a:r>
          </a:p>
          <a:p>
            <a:pPr lvl="1">
              <a:defRPr sz="2000"/>
            </a:pPr>
            <a:r>
              <a:rPr dirty="0"/>
              <a:t>let </a:t>
            </a:r>
            <a:r>
              <a:rPr dirty="0" err="1"/>
              <a:t>isLoggedIn</a:t>
            </a:r>
            <a:r>
              <a:rPr dirty="0"/>
              <a:t> = true;</a:t>
            </a:r>
          </a:p>
          <a:p>
            <a:pPr lvl="1">
              <a:defRPr sz="2000"/>
            </a:pPr>
            <a:r>
              <a:rPr dirty="0"/>
              <a:t>let </a:t>
            </a:r>
            <a:r>
              <a:rPr dirty="0" err="1"/>
              <a:t>isActive</a:t>
            </a:r>
            <a:r>
              <a:rPr dirty="0"/>
              <a:t> = false;</a:t>
            </a:r>
          </a:p>
          <a:p>
            <a:pPr>
              <a:defRPr sz="2000"/>
            </a:pPr>
            <a:r>
              <a:rPr dirty="0"/>
              <a:t>Used in conditions and comparisons.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 Undefined</a:t>
            </a:r>
          </a:p>
        </p:txBody>
      </p:sp>
      <p:sp>
        <p:nvSpPr>
          <p:cNvPr id="3" name="Content Placeholder 2"/>
          <p:cNvSpPr>
            <a:spLocks noGrp="1"/>
          </p:cNvSpPr>
          <p:nvPr>
            <p:ph idx="1"/>
          </p:nvPr>
        </p:nvSpPr>
        <p:spPr/>
        <p:txBody>
          <a:bodyPr/>
          <a:lstStyle/>
          <a:p>
            <a:pPr>
              <a:defRPr sz="2000"/>
            </a:pPr>
            <a:r>
              <a:rPr dirty="0"/>
              <a:t>A variable that has been declared but not assigned a value.</a:t>
            </a:r>
          </a:p>
          <a:p>
            <a:pPr lvl="1">
              <a:defRPr sz="2000"/>
            </a:pPr>
            <a:r>
              <a:rPr dirty="0"/>
              <a:t>let value;</a:t>
            </a:r>
          </a:p>
          <a:p>
            <a:pPr>
              <a:defRPr sz="2000"/>
            </a:pPr>
            <a:r>
              <a:rPr dirty="0"/>
              <a:t>console.log(value); // undefined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6. Null</a:t>
            </a:r>
          </a:p>
        </p:txBody>
      </p:sp>
      <p:sp>
        <p:nvSpPr>
          <p:cNvPr id="3" name="Content Placeholder 2"/>
          <p:cNvSpPr>
            <a:spLocks noGrp="1"/>
          </p:cNvSpPr>
          <p:nvPr>
            <p:ph idx="1"/>
          </p:nvPr>
        </p:nvSpPr>
        <p:spPr/>
        <p:txBody>
          <a:bodyPr/>
          <a:lstStyle/>
          <a:p>
            <a:pPr>
              <a:defRPr sz="2000"/>
            </a:pPr>
            <a:r>
              <a:rPr dirty="0"/>
              <a:t>Represents an intentional empty value.</a:t>
            </a:r>
          </a:p>
          <a:p>
            <a:pPr lvl="1">
              <a:defRPr sz="2000"/>
            </a:pPr>
            <a:r>
              <a:rPr dirty="0"/>
              <a:t>let result = null;</a:t>
            </a:r>
          </a:p>
          <a:p>
            <a:pPr>
              <a:defRPr sz="2000"/>
            </a:pPr>
            <a:r>
              <a:rPr dirty="0"/>
              <a:t>null means “nothing” or “no value on purpose.”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7. Symbol</a:t>
            </a:r>
          </a:p>
        </p:txBody>
      </p:sp>
      <p:sp>
        <p:nvSpPr>
          <p:cNvPr id="3" name="Content Placeholder 2"/>
          <p:cNvSpPr>
            <a:spLocks noGrp="1"/>
          </p:cNvSpPr>
          <p:nvPr>
            <p:ph idx="1"/>
          </p:nvPr>
        </p:nvSpPr>
        <p:spPr/>
        <p:txBody>
          <a:bodyPr/>
          <a:lstStyle/>
          <a:p>
            <a:pPr>
              <a:defRPr sz="2000"/>
            </a:pPr>
            <a:r>
              <a:rPr dirty="0"/>
              <a:t>Used to create unique identifiers.</a:t>
            </a:r>
          </a:p>
          <a:p>
            <a:pPr lvl="1">
              <a:defRPr sz="2000"/>
            </a:pPr>
            <a:r>
              <a:rPr dirty="0"/>
              <a:t>let id = Symbol("id");</a:t>
            </a:r>
          </a:p>
          <a:p>
            <a:pPr>
              <a:defRPr sz="2000"/>
            </a:pPr>
            <a:r>
              <a:rPr dirty="0"/>
              <a:t>Symbols are less common for beginners but useful in advanced JavaScript.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Non-primitive data types</a:t>
            </a:r>
          </a:p>
        </p:txBody>
      </p:sp>
      <p:sp>
        <p:nvSpPr>
          <p:cNvPr id="3" name="Content Placeholder 2"/>
          <p:cNvSpPr>
            <a:spLocks noGrp="1"/>
          </p:cNvSpPr>
          <p:nvPr>
            <p:ph idx="1"/>
          </p:nvPr>
        </p:nvSpPr>
        <p:spPr/>
        <p:txBody>
          <a:bodyPr>
            <a:normAutofit lnSpcReduction="10000"/>
          </a:bodyPr>
          <a:lstStyle/>
          <a:p>
            <a:pPr>
              <a:defRPr sz="2000"/>
            </a:pPr>
            <a:r>
              <a:rPr dirty="0"/>
              <a:t>These are more complex and are stored by reference.</a:t>
            </a:r>
          </a:p>
          <a:p>
            <a:pPr marL="573088" indent="0">
              <a:buNone/>
              <a:defRPr sz="2000"/>
            </a:pPr>
            <a:r>
              <a:rPr dirty="0"/>
              <a:t>1. Object</a:t>
            </a:r>
          </a:p>
          <a:p>
            <a:pPr>
              <a:defRPr sz="2000"/>
            </a:pPr>
            <a:r>
              <a:rPr dirty="0"/>
              <a:t>Used to store collections of key-value pairs.</a:t>
            </a:r>
          </a:p>
          <a:p>
            <a:pPr marL="1030288" lvl="1" indent="0">
              <a:buNone/>
              <a:defRPr sz="2000"/>
            </a:pPr>
            <a:r>
              <a:rPr dirty="0"/>
              <a:t>let person = {</a:t>
            </a:r>
          </a:p>
          <a:p>
            <a:pPr marL="1030288" lvl="1" indent="0">
              <a:buNone/>
              <a:defRPr sz="2000"/>
            </a:pPr>
            <a:r>
              <a:rPr dirty="0"/>
              <a:t>name: "Asha",</a:t>
            </a:r>
          </a:p>
          <a:p>
            <a:pPr marL="1030288" lvl="1" indent="0">
              <a:buNone/>
              <a:defRPr sz="2000"/>
            </a:pPr>
            <a:r>
              <a:rPr dirty="0"/>
              <a:t>age: 22</a:t>
            </a:r>
          </a:p>
          <a:p>
            <a:pPr marL="1030288" lvl="1" indent="0">
              <a:buNone/>
              <a:defRPr sz="2000"/>
            </a:pPr>
            <a:r>
              <a:rPr dirty="0"/>
              <a:t>};</a:t>
            </a:r>
          </a:p>
          <a:p>
            <a:pPr>
              <a:defRPr sz="2000"/>
            </a:pPr>
            <a:r>
              <a:rPr dirty="0"/>
              <a:t>Objects are very important in JavaScript.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Array</a:t>
            </a:r>
          </a:p>
        </p:txBody>
      </p:sp>
      <p:sp>
        <p:nvSpPr>
          <p:cNvPr id="3" name="Content Placeholder 2"/>
          <p:cNvSpPr>
            <a:spLocks noGrp="1"/>
          </p:cNvSpPr>
          <p:nvPr>
            <p:ph idx="1"/>
          </p:nvPr>
        </p:nvSpPr>
        <p:spPr/>
        <p:txBody>
          <a:bodyPr/>
          <a:lstStyle/>
          <a:p>
            <a:pPr>
              <a:defRPr sz="2000"/>
            </a:pPr>
            <a:r>
              <a:rPr dirty="0"/>
              <a:t>A special type of object used for ordered lists.</a:t>
            </a:r>
          </a:p>
          <a:p>
            <a:pPr marL="1030288" lvl="1" indent="0">
              <a:buNone/>
              <a:defRPr sz="2000"/>
            </a:pPr>
            <a:r>
              <a:rPr dirty="0"/>
              <a:t>let fruits = ["apple", "banana", "mango"];</a:t>
            </a:r>
          </a:p>
          <a:p>
            <a:pPr>
              <a:defRPr sz="2000"/>
            </a:pPr>
            <a:r>
              <a:rPr dirty="0"/>
              <a:t>Arrays store multiple values in a single variable.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Function</a:t>
            </a:r>
          </a:p>
        </p:txBody>
      </p:sp>
      <p:sp>
        <p:nvSpPr>
          <p:cNvPr id="3" name="Content Placeholder 2"/>
          <p:cNvSpPr>
            <a:spLocks noGrp="1"/>
          </p:cNvSpPr>
          <p:nvPr>
            <p:ph idx="1"/>
          </p:nvPr>
        </p:nvSpPr>
        <p:spPr/>
        <p:txBody>
          <a:bodyPr/>
          <a:lstStyle/>
          <a:p>
            <a:pPr>
              <a:defRPr sz="2000"/>
            </a:pPr>
            <a:r>
              <a:rPr dirty="0"/>
              <a:t>Functions are also objects in JavaScript.</a:t>
            </a:r>
          </a:p>
          <a:p>
            <a:pPr marL="1030288" lvl="1" indent="0">
              <a:buNone/>
              <a:defRPr sz="2000"/>
            </a:pPr>
            <a:r>
              <a:rPr dirty="0"/>
              <a:t>function greet() {</a:t>
            </a:r>
          </a:p>
          <a:p>
            <a:pPr marL="1030288" lvl="1" indent="0">
              <a:buNone/>
              <a:defRPr sz="2000"/>
            </a:pPr>
            <a:r>
              <a:rPr dirty="0"/>
              <a:t>return "Hello";</a:t>
            </a:r>
          </a:p>
          <a:p>
            <a:pPr marL="1030288" lvl="1" indent="0">
              <a:buNone/>
              <a:defRPr sz="2000"/>
            </a:pPr>
            <a:r>
              <a:rPr dirty="0"/>
              <a:t>}</a:t>
            </a:r>
          </a:p>
          <a:p>
            <a:pPr>
              <a:defRPr sz="2000"/>
            </a:pPr>
            <a:r>
              <a:rPr dirty="0"/>
              <a:t>Functions are used to group reusable logic.</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 checking</a:t>
            </a:r>
          </a:p>
        </p:txBody>
      </p:sp>
      <p:sp>
        <p:nvSpPr>
          <p:cNvPr id="3" name="Content Placeholder 2"/>
          <p:cNvSpPr>
            <a:spLocks noGrp="1"/>
          </p:cNvSpPr>
          <p:nvPr>
            <p:ph idx="1"/>
          </p:nvPr>
        </p:nvSpPr>
        <p:spPr/>
        <p:txBody>
          <a:bodyPr>
            <a:normAutofit fontScale="92500" lnSpcReduction="10000"/>
          </a:bodyPr>
          <a:lstStyle/>
          <a:p>
            <a:pPr>
              <a:defRPr sz="2000"/>
            </a:pPr>
            <a:r>
              <a:rPr dirty="0"/>
              <a:t>You can check the type of a value using </a:t>
            </a:r>
            <a:r>
              <a:rPr dirty="0" err="1"/>
              <a:t>typeof</a:t>
            </a:r>
            <a:r>
              <a:rPr dirty="0"/>
              <a:t>.</a:t>
            </a:r>
          </a:p>
          <a:p>
            <a:pPr lvl="1">
              <a:buFont typeface="Wingdings" panose="05000000000000000000" pitchFamily="2" charset="2"/>
              <a:buChar char="§"/>
              <a:defRPr sz="2000"/>
            </a:pPr>
            <a:r>
              <a:rPr dirty="0" err="1"/>
              <a:t>typeof</a:t>
            </a:r>
            <a:r>
              <a:rPr dirty="0"/>
              <a:t> "hello";     // "string"</a:t>
            </a:r>
          </a:p>
          <a:p>
            <a:pPr lvl="1">
              <a:buFont typeface="Wingdings" panose="05000000000000000000" pitchFamily="2" charset="2"/>
              <a:buChar char="§"/>
              <a:defRPr sz="2000"/>
            </a:pPr>
            <a:r>
              <a:rPr dirty="0" err="1"/>
              <a:t>typeof</a:t>
            </a:r>
            <a:r>
              <a:rPr dirty="0"/>
              <a:t> 42;          // "number"</a:t>
            </a:r>
          </a:p>
          <a:p>
            <a:pPr lvl="1">
              <a:buFont typeface="Wingdings" panose="05000000000000000000" pitchFamily="2" charset="2"/>
              <a:buChar char="§"/>
              <a:defRPr sz="2000"/>
            </a:pPr>
            <a:r>
              <a:rPr dirty="0" err="1"/>
              <a:t>typeof</a:t>
            </a:r>
            <a:r>
              <a:rPr dirty="0"/>
              <a:t> true;        // "</a:t>
            </a:r>
            <a:r>
              <a:rPr dirty="0" err="1"/>
              <a:t>boolean</a:t>
            </a:r>
            <a:r>
              <a:rPr dirty="0"/>
              <a:t>"</a:t>
            </a:r>
          </a:p>
          <a:p>
            <a:pPr lvl="1">
              <a:buFont typeface="Wingdings" panose="05000000000000000000" pitchFamily="2" charset="2"/>
              <a:buChar char="§"/>
              <a:defRPr sz="2000"/>
            </a:pPr>
            <a:r>
              <a:rPr dirty="0" err="1"/>
              <a:t>typeof</a:t>
            </a:r>
            <a:r>
              <a:rPr dirty="0"/>
              <a:t> undefined;   // "undefined"</a:t>
            </a:r>
          </a:p>
          <a:p>
            <a:pPr lvl="1">
              <a:buFont typeface="Wingdings" panose="05000000000000000000" pitchFamily="2" charset="2"/>
              <a:buChar char="§"/>
              <a:defRPr sz="2000"/>
            </a:pPr>
            <a:r>
              <a:rPr dirty="0" err="1"/>
              <a:t>typeof</a:t>
            </a:r>
            <a:r>
              <a:rPr dirty="0"/>
              <a:t> null;        // "object"</a:t>
            </a:r>
          </a:p>
          <a:p>
            <a:pPr lvl="1">
              <a:buFont typeface="Wingdings" panose="05000000000000000000" pitchFamily="2" charset="2"/>
              <a:buChar char="§"/>
              <a:defRPr sz="2000"/>
            </a:pPr>
            <a:r>
              <a:rPr dirty="0" err="1"/>
              <a:t>typeof</a:t>
            </a:r>
            <a:r>
              <a:rPr dirty="0"/>
              <a:t> {};          // "object"</a:t>
            </a:r>
          </a:p>
          <a:p>
            <a:pPr lvl="1">
              <a:buFont typeface="Wingdings" panose="05000000000000000000" pitchFamily="2" charset="2"/>
              <a:buChar char="§"/>
              <a:defRPr sz="2000"/>
            </a:pPr>
            <a:r>
              <a:rPr dirty="0" err="1"/>
              <a:t>typeof</a:t>
            </a:r>
            <a:r>
              <a:rPr dirty="0"/>
              <a:t> [];          // "object"</a:t>
            </a:r>
          </a:p>
          <a:p>
            <a:pPr lvl="1">
              <a:buFont typeface="Wingdings" panose="05000000000000000000" pitchFamily="2" charset="2"/>
              <a:buChar char="§"/>
              <a:defRPr sz="2000"/>
            </a:pPr>
            <a:r>
              <a:rPr dirty="0" err="1"/>
              <a:t>typeof</a:t>
            </a:r>
            <a:r>
              <a:rPr dirty="0"/>
              <a:t> function(){}; // "function"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 checking (cont.)</a:t>
            </a:r>
          </a:p>
        </p:txBody>
      </p:sp>
      <p:sp>
        <p:nvSpPr>
          <p:cNvPr id="3" name="Content Placeholder 2"/>
          <p:cNvSpPr>
            <a:spLocks noGrp="1"/>
          </p:cNvSpPr>
          <p:nvPr>
            <p:ph idx="1"/>
          </p:nvPr>
        </p:nvSpPr>
        <p:spPr/>
        <p:txBody>
          <a:bodyPr/>
          <a:lstStyle/>
          <a:p>
            <a:pPr>
              <a:defRPr sz="2000"/>
            </a:pPr>
            <a:r>
              <a:t>Important note about null</a:t>
            </a:r>
          </a:p>
          <a:p>
            <a:pPr>
              <a:defRPr sz="2000"/>
            </a:pPr>
            <a:r>
              <a:t>typeof null returns "object" because of a long-standing JavaScript quirk.</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Primitive vs reference behavior</a:t>
            </a:r>
          </a:p>
        </p:txBody>
      </p:sp>
      <p:sp>
        <p:nvSpPr>
          <p:cNvPr id="3" name="Content Placeholder 2"/>
          <p:cNvSpPr>
            <a:spLocks noGrp="1"/>
          </p:cNvSpPr>
          <p:nvPr>
            <p:ph idx="1"/>
          </p:nvPr>
        </p:nvSpPr>
        <p:spPr/>
        <p:txBody>
          <a:bodyPr>
            <a:normAutofit fontScale="92500" lnSpcReduction="20000"/>
          </a:bodyPr>
          <a:lstStyle/>
          <a:p>
            <a:pPr>
              <a:defRPr sz="2000"/>
            </a:pPr>
            <a:r>
              <a:rPr dirty="0"/>
              <a:t>Primitive values</a:t>
            </a:r>
          </a:p>
          <a:p>
            <a:pPr>
              <a:defRPr sz="2000"/>
            </a:pPr>
            <a:r>
              <a:rPr dirty="0"/>
              <a:t>Copied by value. </a:t>
            </a:r>
            <a:endParaRPr lang="en-US" dirty="0"/>
          </a:p>
          <a:p>
            <a:pPr lvl="1">
              <a:buFont typeface="Wingdings" panose="05000000000000000000" pitchFamily="2" charset="2"/>
              <a:buChar char="§"/>
              <a:defRPr sz="2000"/>
            </a:pPr>
            <a:r>
              <a:rPr dirty="0"/>
              <a:t>let a = 10;</a:t>
            </a:r>
          </a:p>
          <a:p>
            <a:pPr lvl="1">
              <a:buFont typeface="Wingdings" panose="05000000000000000000" pitchFamily="2" charset="2"/>
              <a:buChar char="§"/>
              <a:defRPr sz="2000"/>
            </a:pPr>
            <a:r>
              <a:rPr dirty="0"/>
              <a:t>let b = a;</a:t>
            </a:r>
          </a:p>
          <a:p>
            <a:pPr lvl="1">
              <a:buFont typeface="Wingdings" panose="05000000000000000000" pitchFamily="2" charset="2"/>
              <a:buChar char="§"/>
              <a:defRPr sz="2000"/>
            </a:pPr>
            <a:r>
              <a:rPr dirty="0"/>
              <a:t>b = 20;</a:t>
            </a:r>
          </a:p>
          <a:p>
            <a:pPr lvl="1">
              <a:buFont typeface="Wingdings" panose="05000000000000000000" pitchFamily="2" charset="2"/>
              <a:buChar char="§"/>
              <a:defRPr sz="2000"/>
            </a:pPr>
            <a:r>
              <a:rPr dirty="0"/>
              <a:t>console.log(a); // 10</a:t>
            </a:r>
          </a:p>
          <a:p>
            <a:pPr lvl="1">
              <a:buFont typeface="Wingdings" panose="05000000000000000000" pitchFamily="2" charset="2"/>
              <a:buChar char="§"/>
              <a:defRPr sz="2000"/>
            </a:pPr>
            <a:r>
              <a:rPr dirty="0"/>
              <a:t>console.log(b); // 20</a:t>
            </a:r>
          </a:p>
          <a:p>
            <a:pPr lvl="1">
              <a:buFont typeface="Wingdings" panose="05000000000000000000" pitchFamily="2" charset="2"/>
              <a:buChar char="§"/>
              <a:defRPr sz="2000"/>
            </a:pPr>
            <a:r>
              <a:rPr dirty="0"/>
              <a:t>Changing b does not affect a.</a:t>
            </a:r>
          </a:p>
          <a:p>
            <a:pPr>
              <a:defRPr sz="2000"/>
            </a:pPr>
            <a:r>
              <a:rPr dirty="0"/>
              <a:t>Objects and arrays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Primitive vs reference behavior (cont.)</a:t>
            </a:r>
          </a:p>
        </p:txBody>
      </p:sp>
      <p:sp>
        <p:nvSpPr>
          <p:cNvPr id="3" name="Content Placeholder 2"/>
          <p:cNvSpPr>
            <a:spLocks noGrp="1"/>
          </p:cNvSpPr>
          <p:nvPr>
            <p:ph idx="1"/>
          </p:nvPr>
        </p:nvSpPr>
        <p:spPr/>
        <p:txBody>
          <a:bodyPr>
            <a:normAutofit/>
          </a:bodyPr>
          <a:lstStyle/>
          <a:p>
            <a:pPr>
              <a:defRPr sz="2000"/>
            </a:pPr>
            <a:r>
              <a:rPr dirty="0"/>
              <a:t>Copied by reference.</a:t>
            </a:r>
          </a:p>
          <a:p>
            <a:pPr marL="1030288" lvl="1" indent="0">
              <a:buNone/>
              <a:defRPr sz="2000"/>
            </a:pPr>
            <a:r>
              <a:rPr dirty="0"/>
              <a:t>let obj1 = { name: "Asha" };</a:t>
            </a:r>
          </a:p>
          <a:p>
            <a:pPr marL="1030288" lvl="1" indent="0">
              <a:buNone/>
              <a:defRPr sz="2000"/>
            </a:pPr>
            <a:r>
              <a:rPr dirty="0"/>
              <a:t>let obj2 = obj1;</a:t>
            </a:r>
          </a:p>
          <a:p>
            <a:pPr marL="1030288" lvl="1" indent="0">
              <a:buNone/>
              <a:defRPr sz="2000"/>
            </a:pPr>
            <a:r>
              <a:rPr dirty="0"/>
              <a:t>obj2.name = "Riya";</a:t>
            </a:r>
          </a:p>
          <a:p>
            <a:pPr marL="1030288" lvl="1" indent="0">
              <a:buNone/>
              <a:defRPr sz="2000"/>
            </a:pPr>
            <a:r>
              <a:rPr dirty="0"/>
              <a:t>console.log(obj1.name); // Riya</a:t>
            </a:r>
          </a:p>
          <a:p>
            <a:pPr marL="1030288" lvl="1" indent="0">
              <a:buNone/>
              <a:defRPr sz="2000"/>
            </a:pPr>
            <a:r>
              <a:rPr dirty="0"/>
              <a:t>console.log(obj2.name); // Riya</a:t>
            </a:r>
          </a:p>
          <a:p>
            <a:pPr>
              <a:defRPr sz="2000"/>
            </a:pPr>
            <a:r>
              <a:rPr dirty="0"/>
              <a:t>Both variables point to the same object.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Commonly used data types</a:t>
            </a:r>
          </a:p>
        </p:txBody>
      </p:sp>
      <p:sp>
        <p:nvSpPr>
          <p:cNvPr id="3" name="Content Placeholder 2"/>
          <p:cNvSpPr>
            <a:spLocks noGrp="1"/>
          </p:cNvSpPr>
          <p:nvPr>
            <p:ph idx="1"/>
          </p:nvPr>
        </p:nvSpPr>
        <p:spPr/>
        <p:txBody>
          <a:bodyPr>
            <a:normAutofit fontScale="92500" lnSpcReduction="20000"/>
          </a:bodyPr>
          <a:lstStyle/>
          <a:p>
            <a:pPr>
              <a:defRPr sz="2000"/>
            </a:pPr>
            <a:r>
              <a:rPr dirty="0"/>
              <a:t>For beginners, the most important ones are:</a:t>
            </a:r>
          </a:p>
          <a:p>
            <a:pPr lvl="1">
              <a:defRPr sz="2000"/>
            </a:pPr>
            <a:r>
              <a:rPr dirty="0"/>
              <a:t>String</a:t>
            </a:r>
          </a:p>
          <a:p>
            <a:pPr lvl="1">
              <a:defRPr sz="2000"/>
            </a:pPr>
            <a:r>
              <a:rPr dirty="0"/>
              <a:t>Number</a:t>
            </a:r>
          </a:p>
          <a:p>
            <a:pPr lvl="1">
              <a:defRPr sz="2000"/>
            </a:pPr>
            <a:r>
              <a:rPr dirty="0"/>
              <a:t>Boolean</a:t>
            </a:r>
          </a:p>
          <a:p>
            <a:pPr lvl="1">
              <a:defRPr sz="2000"/>
            </a:pPr>
            <a:r>
              <a:rPr dirty="0"/>
              <a:t>Undefined</a:t>
            </a:r>
          </a:p>
          <a:p>
            <a:pPr lvl="1">
              <a:defRPr sz="2000"/>
            </a:pPr>
            <a:r>
              <a:rPr dirty="0"/>
              <a:t>Null</a:t>
            </a:r>
          </a:p>
          <a:p>
            <a:pPr lvl="1">
              <a:defRPr sz="2000"/>
            </a:pPr>
            <a:r>
              <a:rPr dirty="0"/>
              <a:t>Object</a:t>
            </a:r>
          </a:p>
          <a:p>
            <a:pPr lvl="1">
              <a:defRPr sz="2000"/>
            </a:pPr>
            <a:r>
              <a:rPr dirty="0"/>
              <a:t>Array</a:t>
            </a:r>
          </a:p>
          <a:p>
            <a:pPr>
              <a:defRPr sz="2000"/>
            </a:pPr>
            <a:r>
              <a:rPr dirty="0"/>
              <a:t>These cover most everyday JavaScript work.</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example</a:t>
            </a:r>
          </a:p>
        </p:txBody>
      </p:sp>
      <p:sp>
        <p:nvSpPr>
          <p:cNvPr id="3" name="Content Placeholder 2"/>
          <p:cNvSpPr>
            <a:spLocks noGrp="1"/>
          </p:cNvSpPr>
          <p:nvPr>
            <p:ph idx="1"/>
          </p:nvPr>
        </p:nvSpPr>
        <p:spPr/>
        <p:txBody>
          <a:bodyPr>
            <a:normAutofit fontScale="92500" lnSpcReduction="10000"/>
          </a:bodyPr>
          <a:lstStyle/>
          <a:p>
            <a:pPr lvl="1">
              <a:buFont typeface="Wingdings" panose="05000000000000000000" pitchFamily="2" charset="2"/>
              <a:buChar char="§"/>
              <a:defRPr sz="2000"/>
            </a:pPr>
            <a:r>
              <a:rPr dirty="0"/>
              <a:t>let name = "Asha";          // string</a:t>
            </a:r>
          </a:p>
          <a:p>
            <a:pPr lvl="1">
              <a:buFont typeface="Wingdings" panose="05000000000000000000" pitchFamily="2" charset="2"/>
              <a:buChar char="§"/>
              <a:defRPr sz="2000"/>
            </a:pPr>
            <a:r>
              <a:rPr dirty="0"/>
              <a:t>let age = 22;               // number</a:t>
            </a:r>
          </a:p>
          <a:p>
            <a:pPr lvl="1">
              <a:buFont typeface="Wingdings" panose="05000000000000000000" pitchFamily="2" charset="2"/>
              <a:buChar char="§"/>
              <a:defRPr sz="2000"/>
            </a:pPr>
            <a:r>
              <a:rPr dirty="0"/>
              <a:t>let </a:t>
            </a:r>
            <a:r>
              <a:rPr dirty="0" err="1"/>
              <a:t>isStudent</a:t>
            </a:r>
            <a:r>
              <a:rPr dirty="0"/>
              <a:t> = true;       // </a:t>
            </a:r>
            <a:r>
              <a:rPr dirty="0" err="1"/>
              <a:t>boolean</a:t>
            </a:r>
            <a:endParaRPr dirty="0"/>
          </a:p>
          <a:p>
            <a:pPr lvl="1">
              <a:buFont typeface="Wingdings" panose="05000000000000000000" pitchFamily="2" charset="2"/>
              <a:buChar char="§"/>
              <a:defRPr sz="2000"/>
            </a:pPr>
            <a:r>
              <a:rPr dirty="0"/>
              <a:t>let marks;                  // undefined</a:t>
            </a:r>
          </a:p>
          <a:p>
            <a:pPr lvl="1">
              <a:buFont typeface="Wingdings" panose="05000000000000000000" pitchFamily="2" charset="2"/>
              <a:buChar char="§"/>
              <a:defRPr sz="2000"/>
            </a:pPr>
            <a:r>
              <a:rPr dirty="0"/>
              <a:t>let result = null;          // null</a:t>
            </a:r>
          </a:p>
          <a:p>
            <a:pPr lvl="1">
              <a:buFont typeface="Wingdings" panose="05000000000000000000" pitchFamily="2" charset="2"/>
              <a:buChar char="§"/>
              <a:defRPr sz="2000"/>
            </a:pPr>
            <a:r>
              <a:rPr dirty="0"/>
              <a:t>let user = { city: "Delhi" };// object</a:t>
            </a:r>
          </a:p>
          <a:p>
            <a:pPr lvl="1">
              <a:buFont typeface="Wingdings" panose="05000000000000000000" pitchFamily="2" charset="2"/>
              <a:buChar char="§"/>
              <a:defRPr sz="2000"/>
            </a:pPr>
            <a:r>
              <a:rPr dirty="0"/>
              <a:t>let colors = ["red", "blue"];// array</a:t>
            </a:r>
          </a:p>
          <a:p>
            <a:pPr lvl="1">
              <a:buFont typeface="Wingdings" panose="05000000000000000000" pitchFamily="2" charset="2"/>
              <a:buChar char="§"/>
              <a:defRPr sz="2000"/>
            </a:pPr>
            <a:r>
              <a:rPr dirty="0"/>
              <a:t>console.log(</a:t>
            </a:r>
            <a:r>
              <a:rPr dirty="0" err="1"/>
              <a:t>typeof</a:t>
            </a:r>
            <a:r>
              <a:rPr dirty="0"/>
              <a:t> name);</a:t>
            </a:r>
          </a:p>
          <a:p>
            <a:pPr lvl="1">
              <a:buFont typeface="Wingdings" panose="05000000000000000000" pitchFamily="2" charset="2"/>
              <a:buChar char="§"/>
              <a:defRPr sz="2000"/>
            </a:pPr>
            <a:r>
              <a:rPr dirty="0"/>
              <a:t>console.log(</a:t>
            </a:r>
            <a:r>
              <a:rPr dirty="0" err="1"/>
              <a:t>typeof</a:t>
            </a:r>
            <a:r>
              <a:rPr dirty="0"/>
              <a:t> age);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example (cont.)</a:t>
            </a:r>
          </a:p>
        </p:txBody>
      </p:sp>
      <p:sp>
        <p:nvSpPr>
          <p:cNvPr id="3" name="Content Placeholder 2"/>
          <p:cNvSpPr>
            <a:spLocks noGrp="1"/>
          </p:cNvSpPr>
          <p:nvPr>
            <p:ph idx="1"/>
          </p:nvPr>
        </p:nvSpPr>
        <p:spPr/>
        <p:txBody>
          <a:bodyPr/>
          <a:lstStyle/>
          <a:p>
            <a:pPr lvl="1">
              <a:buFont typeface="Wingdings" panose="05000000000000000000" pitchFamily="2" charset="2"/>
              <a:buChar char="§"/>
              <a:defRPr sz="2000"/>
            </a:pPr>
            <a:r>
              <a:rPr dirty="0"/>
              <a:t>console.log(</a:t>
            </a:r>
            <a:r>
              <a:rPr dirty="0" err="1"/>
              <a:t>typeof</a:t>
            </a:r>
            <a:r>
              <a:rPr dirty="0"/>
              <a:t> </a:t>
            </a:r>
            <a:r>
              <a:rPr dirty="0" err="1"/>
              <a:t>isStudent</a:t>
            </a:r>
            <a:r>
              <a:rPr dirty="0"/>
              <a:t>);</a:t>
            </a:r>
          </a:p>
          <a:p>
            <a:pPr lvl="1">
              <a:buFont typeface="Wingdings" panose="05000000000000000000" pitchFamily="2" charset="2"/>
              <a:buChar char="§"/>
              <a:defRPr sz="2000"/>
            </a:pPr>
            <a:r>
              <a:rPr dirty="0"/>
              <a:t>console.log(</a:t>
            </a:r>
            <a:r>
              <a:rPr dirty="0" err="1"/>
              <a:t>typeof</a:t>
            </a:r>
            <a:r>
              <a:rPr dirty="0"/>
              <a:t> marks);</a:t>
            </a:r>
          </a:p>
          <a:p>
            <a:pPr lvl="1">
              <a:buFont typeface="Wingdings" panose="05000000000000000000" pitchFamily="2" charset="2"/>
              <a:buChar char="§"/>
              <a:defRPr sz="2000"/>
            </a:pPr>
            <a:r>
              <a:rPr dirty="0"/>
              <a:t>console.log(</a:t>
            </a:r>
            <a:r>
              <a:rPr dirty="0" err="1"/>
              <a:t>typeof</a:t>
            </a:r>
            <a:r>
              <a:rPr dirty="0"/>
              <a:t> result);</a:t>
            </a:r>
          </a:p>
          <a:p>
            <a:pPr lvl="1">
              <a:buFont typeface="Wingdings" panose="05000000000000000000" pitchFamily="2" charset="2"/>
              <a:buChar char="§"/>
              <a:defRPr sz="2000"/>
            </a:pPr>
            <a:r>
              <a:rPr dirty="0"/>
              <a:t>console.log(</a:t>
            </a:r>
            <a:r>
              <a:rPr dirty="0" err="1"/>
              <a:t>typeof</a:t>
            </a:r>
            <a:r>
              <a:rPr dirty="0"/>
              <a:t> user);</a:t>
            </a:r>
          </a:p>
          <a:p>
            <a:pPr lvl="1">
              <a:buFont typeface="Wingdings" panose="05000000000000000000" pitchFamily="2" charset="2"/>
              <a:buChar char="§"/>
              <a:defRPr sz="2000"/>
            </a:pPr>
            <a:r>
              <a:rPr dirty="0"/>
              <a:t>console.log(</a:t>
            </a:r>
            <a:r>
              <a:rPr dirty="0" err="1"/>
              <a:t>typeof</a:t>
            </a:r>
            <a:r>
              <a:rPr dirty="0"/>
              <a:t> colors);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Easy way to remember</a:t>
            </a:r>
          </a:p>
        </p:txBody>
      </p:sp>
      <p:sp>
        <p:nvSpPr>
          <p:cNvPr id="3" name="Content Placeholder 2"/>
          <p:cNvSpPr>
            <a:spLocks noGrp="1"/>
          </p:cNvSpPr>
          <p:nvPr>
            <p:ph idx="1"/>
          </p:nvPr>
        </p:nvSpPr>
        <p:spPr/>
        <p:txBody>
          <a:bodyPr>
            <a:normAutofit fontScale="85000" lnSpcReduction="20000"/>
          </a:bodyPr>
          <a:lstStyle/>
          <a:p>
            <a:pPr lvl="1">
              <a:buFont typeface="Wingdings" panose="05000000000000000000" pitchFamily="2" charset="2"/>
              <a:buChar char="§"/>
              <a:defRPr sz="2000"/>
            </a:pPr>
            <a:r>
              <a:rPr dirty="0"/>
              <a:t>String = text</a:t>
            </a:r>
          </a:p>
          <a:p>
            <a:pPr lvl="1">
              <a:buFont typeface="Wingdings" panose="05000000000000000000" pitchFamily="2" charset="2"/>
              <a:buChar char="§"/>
              <a:defRPr sz="2000"/>
            </a:pPr>
            <a:r>
              <a:rPr dirty="0"/>
              <a:t>Number = numeric value</a:t>
            </a:r>
          </a:p>
          <a:p>
            <a:pPr lvl="1">
              <a:buFont typeface="Wingdings" panose="05000000000000000000" pitchFamily="2" charset="2"/>
              <a:buChar char="§"/>
              <a:defRPr sz="2000"/>
            </a:pPr>
            <a:r>
              <a:rPr dirty="0"/>
              <a:t>Boolean = true/false</a:t>
            </a:r>
          </a:p>
          <a:p>
            <a:pPr lvl="1">
              <a:buFont typeface="Wingdings" panose="05000000000000000000" pitchFamily="2" charset="2"/>
              <a:buChar char="§"/>
              <a:defRPr sz="2000"/>
            </a:pPr>
            <a:r>
              <a:rPr dirty="0"/>
              <a:t>Undefined = not assigned yet</a:t>
            </a:r>
          </a:p>
          <a:p>
            <a:pPr lvl="1">
              <a:buFont typeface="Wingdings" panose="05000000000000000000" pitchFamily="2" charset="2"/>
              <a:buChar char="§"/>
              <a:defRPr sz="2000"/>
            </a:pPr>
            <a:r>
              <a:rPr dirty="0"/>
              <a:t>Null = intentionally empty</a:t>
            </a:r>
          </a:p>
          <a:p>
            <a:pPr lvl="1">
              <a:buFont typeface="Wingdings" panose="05000000000000000000" pitchFamily="2" charset="2"/>
              <a:buChar char="§"/>
              <a:defRPr sz="2000"/>
            </a:pPr>
            <a:r>
              <a:rPr dirty="0"/>
              <a:t>Object = grouped data</a:t>
            </a:r>
          </a:p>
          <a:p>
            <a:pPr lvl="1">
              <a:buFont typeface="Wingdings" panose="05000000000000000000" pitchFamily="2" charset="2"/>
              <a:buChar char="§"/>
              <a:defRPr sz="2000"/>
            </a:pPr>
            <a:r>
              <a:rPr dirty="0"/>
              <a:t>Array = ordered list</a:t>
            </a:r>
          </a:p>
          <a:p>
            <a:pPr lvl="1">
              <a:buFont typeface="Wingdings" panose="05000000000000000000" pitchFamily="2" charset="2"/>
              <a:buChar char="§"/>
              <a:defRPr sz="2000"/>
            </a:pPr>
            <a:r>
              <a:rPr dirty="0"/>
              <a:t>Function = reusable logic</a:t>
            </a:r>
          </a:p>
          <a:p>
            <a:pPr>
              <a:defRPr sz="2000"/>
            </a:pPr>
            <a:r>
              <a:rPr dirty="0"/>
              <a:t>JavaScript operators are symbols used to perform operations on values and variables. They help you do calculations, compare values, assign values, and combine conditions.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Arithmetic operators</a:t>
            </a:r>
          </a:p>
        </p:txBody>
      </p:sp>
      <p:sp>
        <p:nvSpPr>
          <p:cNvPr id="3" name="Content Placeholder 2"/>
          <p:cNvSpPr>
            <a:spLocks noGrp="1"/>
          </p:cNvSpPr>
          <p:nvPr>
            <p:ph idx="1"/>
          </p:nvPr>
        </p:nvSpPr>
        <p:spPr/>
        <p:txBody>
          <a:bodyPr>
            <a:normAutofit fontScale="92500" lnSpcReduction="10000"/>
          </a:bodyPr>
          <a:lstStyle/>
          <a:p>
            <a:pPr>
              <a:defRPr sz="2000"/>
            </a:pPr>
            <a:r>
              <a:rPr dirty="0"/>
              <a:t>Used for mathematical calculations.</a:t>
            </a:r>
          </a:p>
          <a:p>
            <a:pPr lvl="1">
              <a:buFont typeface="Wingdings" panose="05000000000000000000" pitchFamily="2" charset="2"/>
              <a:buChar char="§"/>
              <a:defRPr sz="2000"/>
            </a:pPr>
            <a:r>
              <a:rPr dirty="0"/>
              <a:t>let a = 10;</a:t>
            </a:r>
          </a:p>
          <a:p>
            <a:pPr lvl="1">
              <a:buFont typeface="Wingdings" panose="05000000000000000000" pitchFamily="2" charset="2"/>
              <a:buChar char="§"/>
              <a:defRPr sz="2000"/>
            </a:pPr>
            <a:r>
              <a:rPr dirty="0"/>
              <a:t>let b = 3;</a:t>
            </a:r>
          </a:p>
          <a:p>
            <a:pPr lvl="1">
              <a:buFont typeface="Wingdings" panose="05000000000000000000" pitchFamily="2" charset="2"/>
              <a:buChar char="§"/>
              <a:defRPr sz="2000"/>
            </a:pPr>
            <a:r>
              <a:rPr dirty="0"/>
              <a:t>console.log(a + b); // 13</a:t>
            </a:r>
          </a:p>
          <a:p>
            <a:pPr lvl="1">
              <a:buFont typeface="Wingdings" panose="05000000000000000000" pitchFamily="2" charset="2"/>
              <a:buChar char="§"/>
              <a:defRPr sz="2000"/>
            </a:pPr>
            <a:r>
              <a:rPr dirty="0"/>
              <a:t>console.log(a - b); // 7</a:t>
            </a:r>
          </a:p>
          <a:p>
            <a:pPr lvl="1">
              <a:buFont typeface="Wingdings" panose="05000000000000000000" pitchFamily="2" charset="2"/>
              <a:buChar char="§"/>
              <a:defRPr sz="2000"/>
            </a:pPr>
            <a:r>
              <a:rPr dirty="0"/>
              <a:t>console.log(a * b); // 30</a:t>
            </a:r>
          </a:p>
          <a:p>
            <a:pPr lvl="1">
              <a:buFont typeface="Wingdings" panose="05000000000000000000" pitchFamily="2" charset="2"/>
              <a:buChar char="§"/>
              <a:defRPr sz="2000"/>
            </a:pPr>
            <a:r>
              <a:rPr dirty="0"/>
              <a:t>console.log(a / b); // 3.333...</a:t>
            </a:r>
          </a:p>
          <a:p>
            <a:pPr lvl="1">
              <a:buFont typeface="Wingdings" panose="05000000000000000000" pitchFamily="2" charset="2"/>
              <a:buChar char="§"/>
              <a:defRPr sz="2000"/>
            </a:pPr>
            <a:r>
              <a:rPr dirty="0"/>
              <a:t>console.log(a % b); // 1</a:t>
            </a:r>
          </a:p>
          <a:p>
            <a:pPr lvl="1">
              <a:buFont typeface="Wingdings" panose="05000000000000000000" pitchFamily="2" charset="2"/>
              <a:buChar char="§"/>
              <a:defRPr sz="2000"/>
            </a:pPr>
            <a:r>
              <a:rPr dirty="0"/>
              <a:t>console.log(a ** b); // 1000</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Arithmetic operators (cont.)</a:t>
            </a:r>
          </a:p>
        </p:txBody>
      </p:sp>
      <p:sp>
        <p:nvSpPr>
          <p:cNvPr id="3" name="Content Placeholder 2"/>
          <p:cNvSpPr>
            <a:spLocks noGrp="1"/>
          </p:cNvSpPr>
          <p:nvPr>
            <p:ph idx="1"/>
          </p:nvPr>
        </p:nvSpPr>
        <p:spPr/>
        <p:txBody>
          <a:bodyPr/>
          <a:lstStyle/>
          <a:p>
            <a:pPr>
              <a:defRPr sz="2000"/>
            </a:pPr>
            <a:r>
              <a:rPr dirty="0"/>
              <a:t>Common arithmetic operators</a:t>
            </a:r>
          </a:p>
          <a:p>
            <a:pPr lvl="1">
              <a:buFont typeface="Wingdings" panose="05000000000000000000" pitchFamily="2" charset="2"/>
              <a:buChar char="§"/>
              <a:defRPr sz="2000"/>
            </a:pPr>
            <a:r>
              <a:rPr dirty="0"/>
              <a:t>+ addition</a:t>
            </a:r>
          </a:p>
          <a:p>
            <a:pPr lvl="1">
              <a:buFont typeface="Wingdings" panose="05000000000000000000" pitchFamily="2" charset="2"/>
              <a:buChar char="§"/>
              <a:defRPr sz="2000"/>
            </a:pPr>
            <a:r>
              <a:rPr dirty="0"/>
              <a:t>- subtraction</a:t>
            </a:r>
          </a:p>
          <a:p>
            <a:pPr lvl="1">
              <a:buFont typeface="Wingdings" panose="05000000000000000000" pitchFamily="2" charset="2"/>
              <a:buChar char="§"/>
              <a:defRPr sz="2000"/>
            </a:pPr>
            <a:r>
              <a:rPr dirty="0"/>
              <a:t>* multiplication</a:t>
            </a:r>
          </a:p>
          <a:p>
            <a:pPr lvl="1">
              <a:buFont typeface="Wingdings" panose="05000000000000000000" pitchFamily="2" charset="2"/>
              <a:buChar char="§"/>
              <a:defRPr sz="2000"/>
            </a:pPr>
            <a:r>
              <a:rPr dirty="0"/>
              <a:t>/ division</a:t>
            </a:r>
          </a:p>
          <a:p>
            <a:pPr lvl="1">
              <a:buFont typeface="Wingdings" panose="05000000000000000000" pitchFamily="2" charset="2"/>
              <a:buChar char="§"/>
              <a:defRPr sz="2000"/>
            </a:pPr>
            <a:r>
              <a:rPr dirty="0"/>
              <a:t>% remainder</a:t>
            </a:r>
          </a:p>
          <a:p>
            <a:pPr lvl="1">
              <a:buFont typeface="Wingdings" panose="05000000000000000000" pitchFamily="2" charset="2"/>
              <a:buChar char="§"/>
              <a:defRPr sz="2000"/>
            </a:pPr>
            <a:r>
              <a:rPr dirty="0"/>
              <a:t>** exponentiation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2. Assignment operators</a:t>
            </a:r>
          </a:p>
        </p:txBody>
      </p:sp>
      <p:sp>
        <p:nvSpPr>
          <p:cNvPr id="3" name="Content Placeholder 2"/>
          <p:cNvSpPr>
            <a:spLocks noGrp="1"/>
          </p:cNvSpPr>
          <p:nvPr>
            <p:ph idx="1"/>
          </p:nvPr>
        </p:nvSpPr>
        <p:spPr/>
        <p:txBody>
          <a:bodyPr>
            <a:normAutofit fontScale="92500" lnSpcReduction="20000"/>
          </a:bodyPr>
          <a:lstStyle/>
          <a:p>
            <a:pPr>
              <a:defRPr sz="2000"/>
            </a:pPr>
            <a:r>
              <a:rPr dirty="0"/>
              <a:t>Used to assign or update values.</a:t>
            </a:r>
          </a:p>
          <a:p>
            <a:pPr lvl="1">
              <a:defRPr sz="2000"/>
            </a:pPr>
            <a:r>
              <a:rPr dirty="0"/>
              <a:t>let x = 5;</a:t>
            </a:r>
          </a:p>
          <a:p>
            <a:pPr lvl="1">
              <a:defRPr sz="2000"/>
            </a:pPr>
            <a:r>
              <a:rPr dirty="0"/>
              <a:t>x += 2; // x = x + 2</a:t>
            </a:r>
          </a:p>
          <a:p>
            <a:pPr lvl="1">
              <a:defRPr sz="2000"/>
            </a:pPr>
            <a:r>
              <a:rPr dirty="0"/>
              <a:t>x -= 1; // x = x - 1</a:t>
            </a:r>
          </a:p>
          <a:p>
            <a:pPr lvl="1">
              <a:defRPr sz="2000"/>
            </a:pPr>
            <a:r>
              <a:rPr dirty="0"/>
              <a:t>x *= 3; // x = x * 3</a:t>
            </a:r>
          </a:p>
          <a:p>
            <a:pPr lvl="1">
              <a:defRPr sz="2000"/>
            </a:pPr>
            <a:r>
              <a:rPr dirty="0"/>
              <a:t>x /= 2; // x = x / 2</a:t>
            </a:r>
          </a:p>
          <a:p>
            <a:pPr lvl="1">
              <a:defRPr sz="2000"/>
            </a:pPr>
            <a:r>
              <a:rPr dirty="0"/>
              <a:t>x %= 2; // x = x % 2</a:t>
            </a:r>
          </a:p>
          <a:p>
            <a:pPr>
              <a:defRPr sz="2000"/>
            </a:pPr>
            <a:r>
              <a:rPr dirty="0"/>
              <a:t>Common assignment operators</a:t>
            </a:r>
          </a:p>
          <a:p>
            <a:pPr lvl="1">
              <a:defRPr sz="2000"/>
            </a:pPr>
            <a:r>
              <a:rPr dirty="0"/>
              <a:t>= assign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Assignment operators (cont.)</a:t>
            </a:r>
          </a:p>
        </p:txBody>
      </p:sp>
      <p:sp>
        <p:nvSpPr>
          <p:cNvPr id="3" name="Content Placeholder 2"/>
          <p:cNvSpPr>
            <a:spLocks noGrp="1"/>
          </p:cNvSpPr>
          <p:nvPr>
            <p:ph idx="1"/>
          </p:nvPr>
        </p:nvSpPr>
        <p:spPr/>
        <p:txBody>
          <a:bodyPr/>
          <a:lstStyle/>
          <a:p>
            <a:pPr lvl="1">
              <a:buFont typeface="Wingdings" panose="05000000000000000000" pitchFamily="2" charset="2"/>
              <a:buChar char="§"/>
              <a:defRPr sz="2000"/>
            </a:pPr>
            <a:r>
              <a:rPr dirty="0"/>
              <a:t>+= add and assign</a:t>
            </a:r>
          </a:p>
          <a:p>
            <a:pPr lvl="1">
              <a:buFont typeface="Wingdings" panose="05000000000000000000" pitchFamily="2" charset="2"/>
              <a:buChar char="§"/>
              <a:defRPr sz="2000"/>
            </a:pPr>
            <a:r>
              <a:rPr dirty="0"/>
              <a:t>-= subtract and assign</a:t>
            </a:r>
          </a:p>
          <a:p>
            <a:pPr lvl="1">
              <a:buFont typeface="Wingdings" panose="05000000000000000000" pitchFamily="2" charset="2"/>
              <a:buChar char="§"/>
              <a:defRPr sz="2000"/>
            </a:pPr>
            <a:r>
              <a:rPr dirty="0"/>
              <a:t>*= multiply and assign</a:t>
            </a:r>
          </a:p>
          <a:p>
            <a:pPr lvl="1">
              <a:buFont typeface="Wingdings" panose="05000000000000000000" pitchFamily="2" charset="2"/>
              <a:buChar char="§"/>
              <a:defRPr sz="2000"/>
            </a:pPr>
            <a:r>
              <a:rPr dirty="0"/>
              <a:t>/= divide and assign</a:t>
            </a:r>
          </a:p>
          <a:p>
            <a:pPr lvl="1">
              <a:buFont typeface="Wingdings" panose="05000000000000000000" pitchFamily="2" charset="2"/>
              <a:buChar char="§"/>
              <a:defRPr sz="2000"/>
            </a:pPr>
            <a:r>
              <a:rPr dirty="0"/>
              <a:t>%= remainder and assign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Comparison operators</a:t>
            </a:r>
          </a:p>
        </p:txBody>
      </p:sp>
      <p:sp>
        <p:nvSpPr>
          <p:cNvPr id="3" name="Content Placeholder 2"/>
          <p:cNvSpPr>
            <a:spLocks noGrp="1"/>
          </p:cNvSpPr>
          <p:nvPr>
            <p:ph idx="1"/>
          </p:nvPr>
        </p:nvSpPr>
        <p:spPr/>
        <p:txBody>
          <a:bodyPr>
            <a:normAutofit fontScale="92500" lnSpcReduction="10000"/>
          </a:bodyPr>
          <a:lstStyle/>
          <a:p>
            <a:pPr>
              <a:defRPr sz="2000"/>
            </a:pPr>
            <a:r>
              <a:rPr dirty="0"/>
              <a:t>Used to compare values. They return true or false.</a:t>
            </a:r>
          </a:p>
          <a:p>
            <a:pPr lvl="1">
              <a:buFont typeface="Wingdings" panose="05000000000000000000" pitchFamily="2" charset="2"/>
              <a:buChar char="§"/>
              <a:defRPr sz="2000"/>
            </a:pPr>
            <a:r>
              <a:rPr dirty="0"/>
              <a:t>console.log(5 == "5");   // true</a:t>
            </a:r>
          </a:p>
          <a:p>
            <a:pPr lvl="1">
              <a:buFont typeface="Wingdings" panose="05000000000000000000" pitchFamily="2" charset="2"/>
              <a:buChar char="§"/>
              <a:defRPr sz="2000"/>
            </a:pPr>
            <a:r>
              <a:rPr dirty="0"/>
              <a:t>console.log(5 === "5");  // false</a:t>
            </a:r>
          </a:p>
          <a:p>
            <a:pPr lvl="1">
              <a:buFont typeface="Wingdings" panose="05000000000000000000" pitchFamily="2" charset="2"/>
              <a:buChar char="§"/>
              <a:defRPr sz="2000"/>
            </a:pPr>
            <a:r>
              <a:rPr dirty="0"/>
              <a:t>console.log(10 &gt; 5);     // true</a:t>
            </a:r>
          </a:p>
          <a:p>
            <a:pPr lvl="1">
              <a:buFont typeface="Wingdings" panose="05000000000000000000" pitchFamily="2" charset="2"/>
              <a:buChar char="§"/>
              <a:defRPr sz="2000"/>
            </a:pPr>
            <a:r>
              <a:rPr dirty="0"/>
              <a:t>console.log(10 &lt; 5);     // false</a:t>
            </a:r>
          </a:p>
          <a:p>
            <a:pPr lvl="1">
              <a:buFont typeface="Wingdings" panose="05000000000000000000" pitchFamily="2" charset="2"/>
              <a:buChar char="§"/>
              <a:defRPr sz="2000"/>
            </a:pPr>
            <a:r>
              <a:rPr dirty="0"/>
              <a:t>console.log(10 &gt;= 10);   // true</a:t>
            </a:r>
          </a:p>
          <a:p>
            <a:pPr lvl="1">
              <a:buFont typeface="Wingdings" panose="05000000000000000000" pitchFamily="2" charset="2"/>
              <a:buChar char="§"/>
              <a:defRPr sz="2000"/>
            </a:pPr>
            <a:r>
              <a:rPr dirty="0"/>
              <a:t>console.log(8 &lt;= 7);     // false</a:t>
            </a:r>
          </a:p>
          <a:p>
            <a:pPr lvl="1">
              <a:buFont typeface="Wingdings" panose="05000000000000000000" pitchFamily="2" charset="2"/>
              <a:buChar char="§"/>
              <a:defRPr sz="2000"/>
            </a:pPr>
            <a:r>
              <a:rPr dirty="0"/>
              <a:t>console.log(5 != "5");   // false</a:t>
            </a:r>
          </a:p>
          <a:p>
            <a:pPr lvl="1">
              <a:buFont typeface="Wingdings" panose="05000000000000000000" pitchFamily="2" charset="2"/>
              <a:buChar char="§"/>
              <a:defRPr sz="2000"/>
            </a:pPr>
            <a:r>
              <a:rPr dirty="0"/>
              <a:t>console.log(5 !== "5");  // true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Comparison operators (cont.)</a:t>
            </a:r>
          </a:p>
        </p:txBody>
      </p:sp>
      <p:sp>
        <p:nvSpPr>
          <p:cNvPr id="3" name="Content Placeholder 2"/>
          <p:cNvSpPr>
            <a:spLocks noGrp="1"/>
          </p:cNvSpPr>
          <p:nvPr>
            <p:ph idx="1"/>
          </p:nvPr>
        </p:nvSpPr>
        <p:spPr/>
        <p:txBody>
          <a:bodyPr>
            <a:normAutofit lnSpcReduction="10000"/>
          </a:bodyPr>
          <a:lstStyle/>
          <a:p>
            <a:pPr>
              <a:defRPr sz="2000"/>
            </a:pPr>
            <a:r>
              <a:rPr dirty="0"/>
              <a:t>Important comparison operators</a:t>
            </a:r>
          </a:p>
          <a:p>
            <a:pPr lvl="1">
              <a:defRPr sz="2000"/>
            </a:pPr>
            <a:r>
              <a:rPr dirty="0"/>
              <a:t>== equal to, with type conversion</a:t>
            </a:r>
          </a:p>
          <a:p>
            <a:pPr lvl="1">
              <a:defRPr sz="2000"/>
            </a:pPr>
            <a:r>
              <a:rPr dirty="0"/>
              <a:t>=== strictly equal, no type conversion</a:t>
            </a:r>
          </a:p>
          <a:p>
            <a:pPr lvl="1">
              <a:defRPr sz="2000"/>
            </a:pPr>
            <a:r>
              <a:rPr dirty="0"/>
              <a:t>!= not equal, with type conversion</a:t>
            </a:r>
          </a:p>
          <a:p>
            <a:pPr lvl="1">
              <a:defRPr sz="2000"/>
            </a:pPr>
            <a:r>
              <a:rPr dirty="0"/>
              <a:t>!== strictly not equal</a:t>
            </a:r>
          </a:p>
          <a:p>
            <a:pPr lvl="1">
              <a:defRPr sz="2000"/>
            </a:pPr>
            <a:r>
              <a:rPr dirty="0"/>
              <a:t>&gt;, &lt;, &gt;=, &lt;=</a:t>
            </a:r>
          </a:p>
          <a:p>
            <a:pPr>
              <a:defRPr sz="2000"/>
            </a:pPr>
            <a:r>
              <a:rPr dirty="0"/>
              <a:t>Best practice</a:t>
            </a:r>
          </a:p>
          <a:p>
            <a:pPr>
              <a:defRPr sz="2000"/>
            </a:pPr>
            <a:r>
              <a:rPr dirty="0"/>
              <a:t>Use === and !== most of the time because they are more predictable.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4. Logical operators</a:t>
            </a:r>
          </a:p>
        </p:txBody>
      </p:sp>
      <p:sp>
        <p:nvSpPr>
          <p:cNvPr id="3" name="Content Placeholder 2"/>
          <p:cNvSpPr>
            <a:spLocks noGrp="1"/>
          </p:cNvSpPr>
          <p:nvPr>
            <p:ph idx="1"/>
          </p:nvPr>
        </p:nvSpPr>
        <p:spPr/>
        <p:txBody>
          <a:bodyPr>
            <a:normAutofit fontScale="92500" lnSpcReduction="20000"/>
          </a:bodyPr>
          <a:lstStyle/>
          <a:p>
            <a:pPr>
              <a:defRPr sz="2000"/>
            </a:pPr>
            <a:r>
              <a:rPr dirty="0"/>
              <a:t>Used to combine conditions.</a:t>
            </a:r>
          </a:p>
          <a:p>
            <a:pPr lvl="1">
              <a:defRPr sz="2000"/>
            </a:pPr>
            <a:r>
              <a:rPr dirty="0"/>
              <a:t>let age = 20;</a:t>
            </a:r>
          </a:p>
          <a:p>
            <a:pPr lvl="1">
              <a:defRPr sz="2000"/>
            </a:pPr>
            <a:r>
              <a:rPr dirty="0"/>
              <a:t>let </a:t>
            </a:r>
            <a:r>
              <a:rPr dirty="0" err="1"/>
              <a:t>hasID</a:t>
            </a:r>
            <a:r>
              <a:rPr dirty="0"/>
              <a:t> = true;</a:t>
            </a:r>
          </a:p>
          <a:p>
            <a:pPr lvl="1">
              <a:defRPr sz="2000"/>
            </a:pPr>
            <a:r>
              <a:rPr dirty="0"/>
              <a:t>console.log(age &gt;= 18 &amp;&amp; </a:t>
            </a:r>
            <a:r>
              <a:rPr dirty="0" err="1"/>
              <a:t>hasID</a:t>
            </a:r>
            <a:r>
              <a:rPr dirty="0"/>
              <a:t>); // true</a:t>
            </a:r>
          </a:p>
          <a:p>
            <a:pPr lvl="1">
              <a:defRPr sz="2000"/>
            </a:pPr>
            <a:r>
              <a:rPr dirty="0"/>
              <a:t>console.log(age &lt; 18 || </a:t>
            </a:r>
            <a:r>
              <a:rPr dirty="0" err="1"/>
              <a:t>hasID</a:t>
            </a:r>
            <a:r>
              <a:rPr dirty="0"/>
              <a:t>);   // true</a:t>
            </a:r>
          </a:p>
          <a:p>
            <a:pPr lvl="1">
              <a:defRPr sz="2000"/>
            </a:pPr>
            <a:r>
              <a:rPr dirty="0"/>
              <a:t>console.log(!</a:t>
            </a:r>
            <a:r>
              <a:rPr dirty="0" err="1"/>
              <a:t>hasID</a:t>
            </a:r>
            <a:r>
              <a:rPr dirty="0"/>
              <a:t>);             // false</a:t>
            </a:r>
          </a:p>
          <a:p>
            <a:pPr>
              <a:defRPr sz="2000"/>
            </a:pPr>
            <a:r>
              <a:rPr dirty="0"/>
              <a:t>Logical operators</a:t>
            </a:r>
          </a:p>
          <a:p>
            <a:pPr lvl="1">
              <a:defRPr sz="2000"/>
            </a:pPr>
            <a:r>
              <a:rPr dirty="0"/>
              <a:t>&amp;&amp; and</a:t>
            </a:r>
          </a:p>
          <a:p>
            <a:pPr lvl="1">
              <a:defRPr sz="2000"/>
            </a:pPr>
            <a:r>
              <a:rPr dirty="0"/>
              <a:t>|| or</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 Logical operators (cont.)</a:t>
            </a:r>
          </a:p>
        </p:txBody>
      </p:sp>
      <p:sp>
        <p:nvSpPr>
          <p:cNvPr id="3" name="Content Placeholder 2"/>
          <p:cNvSpPr>
            <a:spLocks noGrp="1"/>
          </p:cNvSpPr>
          <p:nvPr>
            <p:ph idx="1"/>
          </p:nvPr>
        </p:nvSpPr>
        <p:spPr/>
        <p:txBody>
          <a:bodyPr/>
          <a:lstStyle/>
          <a:p>
            <a:pPr lvl="1">
              <a:defRPr sz="2000"/>
            </a:pPr>
            <a:r>
              <a:rPr dirty="0"/>
              <a:t>! not</a:t>
            </a:r>
          </a:p>
          <a:p>
            <a:pPr>
              <a:defRPr sz="2000"/>
            </a:pPr>
            <a:r>
              <a:rPr dirty="0"/>
              <a:t>Meaning</a:t>
            </a:r>
          </a:p>
          <a:p>
            <a:pPr lvl="1">
              <a:defRPr sz="2000"/>
            </a:pPr>
            <a:r>
              <a:rPr dirty="0"/>
              <a:t>&amp;&amp; returns true only if both conditions are true.</a:t>
            </a:r>
          </a:p>
          <a:p>
            <a:pPr lvl="1">
              <a:defRPr sz="2000"/>
            </a:pPr>
            <a:r>
              <a:rPr dirty="0"/>
              <a:t>|| returns true if at least one condition is true.</a:t>
            </a:r>
          </a:p>
          <a:p>
            <a:pPr lvl="1">
              <a:defRPr sz="2000"/>
            </a:pPr>
            <a:r>
              <a:rPr dirty="0"/>
              <a:t>! reverses the </a:t>
            </a:r>
            <a:r>
              <a:rPr dirty="0" err="1"/>
              <a:t>boolean</a:t>
            </a:r>
            <a:r>
              <a:rPr dirty="0"/>
              <a:t> value.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5. Unary operators</a:t>
            </a:r>
          </a:p>
        </p:txBody>
      </p:sp>
      <p:sp>
        <p:nvSpPr>
          <p:cNvPr id="3" name="Content Placeholder 2"/>
          <p:cNvSpPr>
            <a:spLocks noGrp="1"/>
          </p:cNvSpPr>
          <p:nvPr>
            <p:ph idx="1"/>
          </p:nvPr>
        </p:nvSpPr>
        <p:spPr/>
        <p:txBody>
          <a:bodyPr>
            <a:normAutofit/>
          </a:bodyPr>
          <a:lstStyle/>
          <a:p>
            <a:pPr>
              <a:defRPr sz="2000"/>
            </a:pPr>
            <a:r>
              <a:rPr dirty="0"/>
              <a:t>Used on a single value.</a:t>
            </a:r>
          </a:p>
          <a:p>
            <a:pPr lvl="1">
              <a:defRPr sz="2000"/>
            </a:pPr>
            <a:r>
              <a:rPr dirty="0"/>
              <a:t>let n = 5;</a:t>
            </a:r>
          </a:p>
          <a:p>
            <a:pPr lvl="1">
              <a:defRPr sz="2000"/>
            </a:pPr>
            <a:r>
              <a:rPr dirty="0"/>
              <a:t>console.log(+n); // 5</a:t>
            </a:r>
          </a:p>
          <a:p>
            <a:pPr lvl="1">
              <a:defRPr sz="2000"/>
            </a:pPr>
            <a:r>
              <a:rPr dirty="0"/>
              <a:t>console.log(-n); // -5</a:t>
            </a:r>
          </a:p>
          <a:p>
            <a:pPr>
              <a:defRPr sz="2000"/>
            </a:pPr>
            <a:r>
              <a:rPr dirty="0"/>
              <a:t>Also includes increment and decrement:</a:t>
            </a:r>
          </a:p>
          <a:p>
            <a:pPr lvl="1">
              <a:defRPr sz="2000"/>
            </a:pPr>
            <a:r>
              <a:rPr dirty="0"/>
              <a:t>let count = 1;</a:t>
            </a:r>
          </a:p>
          <a:p>
            <a:pPr lvl="1">
              <a:defRPr sz="2000"/>
            </a:pPr>
            <a:r>
              <a:rPr dirty="0"/>
              <a:t>count++;</a:t>
            </a:r>
          </a:p>
          <a:p>
            <a:pPr lvl="1">
              <a:defRPr sz="2000"/>
            </a:pPr>
            <a:r>
              <a:rPr dirty="0"/>
              <a:t>count--;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 Unary operators (cont.)</a:t>
            </a:r>
          </a:p>
        </p:txBody>
      </p:sp>
      <p:sp>
        <p:nvSpPr>
          <p:cNvPr id="3" name="Content Placeholder 2"/>
          <p:cNvSpPr>
            <a:spLocks noGrp="1"/>
          </p:cNvSpPr>
          <p:nvPr>
            <p:ph idx="1"/>
          </p:nvPr>
        </p:nvSpPr>
        <p:spPr/>
        <p:txBody>
          <a:bodyPr/>
          <a:lstStyle/>
          <a:p>
            <a:pPr>
              <a:defRPr sz="2000"/>
            </a:pPr>
            <a:r>
              <a:rPr dirty="0"/>
              <a:t>Increment and decrement</a:t>
            </a:r>
          </a:p>
          <a:p>
            <a:pPr lvl="1">
              <a:defRPr sz="2000"/>
            </a:pPr>
            <a:r>
              <a:rPr dirty="0"/>
              <a:t>++ increases by 1</a:t>
            </a:r>
          </a:p>
          <a:p>
            <a:pPr lvl="1">
              <a:defRPr sz="2000"/>
            </a:pPr>
            <a:r>
              <a:rPr dirty="0"/>
              <a:t>-- decreases by 1</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6. String operators</a:t>
            </a:r>
          </a:p>
        </p:txBody>
      </p:sp>
      <p:sp>
        <p:nvSpPr>
          <p:cNvPr id="3" name="Content Placeholder 2"/>
          <p:cNvSpPr>
            <a:spLocks noGrp="1"/>
          </p:cNvSpPr>
          <p:nvPr>
            <p:ph idx="1"/>
          </p:nvPr>
        </p:nvSpPr>
        <p:spPr/>
        <p:txBody>
          <a:bodyPr>
            <a:normAutofit/>
          </a:bodyPr>
          <a:lstStyle/>
          <a:p>
            <a:pPr>
              <a:defRPr sz="2000"/>
            </a:pPr>
            <a:r>
              <a:rPr dirty="0"/>
              <a:t>The most common string operator is concatenation using +.</a:t>
            </a:r>
          </a:p>
          <a:p>
            <a:pPr lvl="1">
              <a:defRPr sz="2000"/>
            </a:pPr>
            <a:r>
              <a:rPr dirty="0"/>
              <a:t>let </a:t>
            </a:r>
            <a:r>
              <a:rPr dirty="0" err="1"/>
              <a:t>firstName</a:t>
            </a:r>
            <a:r>
              <a:rPr dirty="0"/>
              <a:t> = "John";</a:t>
            </a:r>
          </a:p>
          <a:p>
            <a:pPr lvl="1">
              <a:defRPr sz="2000"/>
            </a:pPr>
            <a:r>
              <a:rPr dirty="0"/>
              <a:t>let </a:t>
            </a:r>
            <a:r>
              <a:rPr dirty="0" err="1"/>
              <a:t>lastName</a:t>
            </a:r>
            <a:r>
              <a:rPr dirty="0"/>
              <a:t> = "Doe";</a:t>
            </a:r>
          </a:p>
          <a:p>
            <a:pPr lvl="1">
              <a:defRPr sz="2000"/>
            </a:pPr>
            <a:r>
              <a:rPr dirty="0"/>
              <a:t>console.log(</a:t>
            </a:r>
            <a:r>
              <a:rPr dirty="0" err="1"/>
              <a:t>firstName</a:t>
            </a:r>
            <a:r>
              <a:rPr dirty="0"/>
              <a:t> + " " + </a:t>
            </a:r>
            <a:r>
              <a:rPr dirty="0" err="1"/>
              <a:t>lastName</a:t>
            </a:r>
            <a:r>
              <a:rPr dirty="0"/>
              <a:t>); // John Doe</a:t>
            </a:r>
          </a:p>
          <a:p>
            <a:pPr>
              <a:defRPr sz="2000"/>
            </a:pPr>
            <a:r>
              <a:rPr dirty="0"/>
              <a:t>With template literals, this becomes easier:</a:t>
            </a:r>
          </a:p>
          <a:p>
            <a:pPr lvl="1">
              <a:defRPr sz="2000"/>
            </a:pPr>
            <a:r>
              <a:rPr dirty="0"/>
              <a:t>console.log(`${</a:t>
            </a:r>
            <a:r>
              <a:rPr dirty="0" err="1"/>
              <a:t>firstName</a:t>
            </a:r>
            <a:r>
              <a:rPr dirty="0"/>
              <a:t>} ${</a:t>
            </a:r>
            <a:r>
              <a:rPr dirty="0" err="1"/>
              <a:t>lastName</a:t>
            </a:r>
            <a:r>
              <a:rPr dirty="0"/>
              <a: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7. Ternary operator</a:t>
            </a:r>
          </a:p>
        </p:txBody>
      </p:sp>
      <p:sp>
        <p:nvSpPr>
          <p:cNvPr id="3" name="Content Placeholder 2"/>
          <p:cNvSpPr>
            <a:spLocks noGrp="1"/>
          </p:cNvSpPr>
          <p:nvPr>
            <p:ph idx="1"/>
          </p:nvPr>
        </p:nvSpPr>
        <p:spPr/>
        <p:txBody>
          <a:bodyPr>
            <a:normAutofit/>
          </a:bodyPr>
          <a:lstStyle/>
          <a:p>
            <a:pPr>
              <a:defRPr sz="2000"/>
            </a:pPr>
            <a:r>
              <a:rPr dirty="0"/>
              <a:t>A short form of if...else.</a:t>
            </a:r>
          </a:p>
          <a:p>
            <a:pPr lvl="1">
              <a:defRPr sz="2000"/>
            </a:pPr>
            <a:r>
              <a:rPr dirty="0"/>
              <a:t>let age = 18;</a:t>
            </a:r>
          </a:p>
          <a:p>
            <a:pPr lvl="1">
              <a:defRPr sz="2000"/>
            </a:pPr>
            <a:r>
              <a:rPr dirty="0"/>
              <a:t>let result = age &gt;= 18 ? "Adult" : "Minor";</a:t>
            </a:r>
          </a:p>
          <a:p>
            <a:pPr lvl="1">
              <a:defRPr sz="2000"/>
            </a:pPr>
            <a:r>
              <a:rPr dirty="0"/>
              <a:t>console.log(result);</a:t>
            </a:r>
          </a:p>
          <a:p>
            <a:pPr>
              <a:defRPr sz="2000"/>
            </a:pPr>
            <a:r>
              <a:rPr dirty="0"/>
              <a:t>Structure</a:t>
            </a:r>
          </a:p>
          <a:p>
            <a:pPr lvl="1">
              <a:defRPr sz="2000"/>
            </a:pPr>
            <a:r>
              <a:rPr dirty="0"/>
              <a:t>condition ? </a:t>
            </a:r>
            <a:r>
              <a:rPr dirty="0" err="1"/>
              <a:t>valueIfTrue</a:t>
            </a:r>
            <a:r>
              <a:rPr dirty="0"/>
              <a:t> : </a:t>
            </a:r>
            <a:r>
              <a:rPr dirty="0" err="1"/>
              <a:t>valueIfFalse</a:t>
            </a:r>
            <a:endParaRPr dirty="0"/>
          </a:p>
          <a:p>
            <a:pPr>
              <a:defRPr sz="2000"/>
            </a:pPr>
            <a:r>
              <a:rPr dirty="0"/>
              <a:t>It is useful for simple conditions.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8. Type operators</a:t>
            </a:r>
          </a:p>
        </p:txBody>
      </p:sp>
      <p:sp>
        <p:nvSpPr>
          <p:cNvPr id="3" name="Content Placeholder 2"/>
          <p:cNvSpPr>
            <a:spLocks noGrp="1"/>
          </p:cNvSpPr>
          <p:nvPr>
            <p:ph idx="1"/>
          </p:nvPr>
        </p:nvSpPr>
        <p:spPr/>
        <p:txBody>
          <a:bodyPr>
            <a:normAutofit fontScale="92500" lnSpcReduction="20000"/>
          </a:bodyPr>
          <a:lstStyle/>
          <a:p>
            <a:pPr>
              <a:defRPr sz="2000"/>
            </a:pPr>
            <a:r>
              <a:rPr dirty="0"/>
              <a:t>Used to check or work with types.</a:t>
            </a:r>
          </a:p>
          <a:p>
            <a:pPr>
              <a:defRPr sz="2000"/>
            </a:pPr>
            <a:r>
              <a:rPr dirty="0" err="1"/>
              <a:t>typeof</a:t>
            </a:r>
            <a:endParaRPr dirty="0"/>
          </a:p>
          <a:p>
            <a:pPr lvl="1">
              <a:defRPr sz="2000"/>
            </a:pPr>
            <a:r>
              <a:rPr dirty="0"/>
              <a:t>console.log(</a:t>
            </a:r>
            <a:r>
              <a:rPr dirty="0" err="1"/>
              <a:t>typeof</a:t>
            </a:r>
            <a:r>
              <a:rPr dirty="0"/>
              <a:t> "hello"); // string</a:t>
            </a:r>
          </a:p>
          <a:p>
            <a:pPr lvl="1">
              <a:defRPr sz="2000"/>
            </a:pPr>
            <a:r>
              <a:rPr dirty="0"/>
              <a:t>console.log(</a:t>
            </a:r>
            <a:r>
              <a:rPr dirty="0" err="1"/>
              <a:t>typeof</a:t>
            </a:r>
            <a:r>
              <a:rPr dirty="0"/>
              <a:t> 42);      // number</a:t>
            </a:r>
          </a:p>
          <a:p>
            <a:pPr lvl="1">
              <a:defRPr sz="2000"/>
            </a:pPr>
            <a:r>
              <a:rPr dirty="0"/>
              <a:t>console.log(</a:t>
            </a:r>
            <a:r>
              <a:rPr dirty="0" err="1"/>
              <a:t>typeof</a:t>
            </a:r>
            <a:r>
              <a:rPr dirty="0"/>
              <a:t> true);    // </a:t>
            </a:r>
            <a:r>
              <a:rPr dirty="0" err="1"/>
              <a:t>boolean</a:t>
            </a:r>
            <a:endParaRPr dirty="0"/>
          </a:p>
          <a:p>
            <a:pPr>
              <a:defRPr sz="2000"/>
            </a:pPr>
            <a:r>
              <a:rPr dirty="0" err="1"/>
              <a:t>instanceof</a:t>
            </a:r>
            <a:endParaRPr dirty="0"/>
          </a:p>
          <a:p>
            <a:pPr>
              <a:defRPr sz="2000"/>
            </a:pPr>
            <a:r>
              <a:rPr dirty="0"/>
              <a:t>Checks whether an object is an instance of a constructor.</a:t>
            </a:r>
          </a:p>
          <a:p>
            <a:pPr lvl="1">
              <a:defRPr sz="2000"/>
            </a:pPr>
            <a:r>
              <a:rPr dirty="0"/>
              <a:t>let date = new Date();</a:t>
            </a:r>
            <a:endParaRPr lang="en-US" dirty="0"/>
          </a:p>
          <a:p>
            <a:pPr lvl="1">
              <a:defRPr sz="2000"/>
            </a:pPr>
            <a:r>
              <a:rPr lang="en-IN" dirty="0"/>
              <a:t>console.log(date </a:t>
            </a:r>
            <a:r>
              <a:rPr lang="en-IN" dirty="0" err="1"/>
              <a:t>instanceof</a:t>
            </a:r>
            <a:r>
              <a:rPr lang="en-IN" dirty="0"/>
              <a:t> Date); // true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9. </a:t>
            </a:r>
            <a:r>
              <a:rPr dirty="0" err="1"/>
              <a:t>Nullish</a:t>
            </a:r>
            <a:r>
              <a:rPr dirty="0"/>
              <a:t> coalescing operator</a:t>
            </a:r>
          </a:p>
        </p:txBody>
      </p:sp>
      <p:sp>
        <p:nvSpPr>
          <p:cNvPr id="3" name="Content Placeholder 2"/>
          <p:cNvSpPr>
            <a:spLocks noGrp="1"/>
          </p:cNvSpPr>
          <p:nvPr>
            <p:ph idx="1"/>
          </p:nvPr>
        </p:nvSpPr>
        <p:spPr/>
        <p:txBody>
          <a:bodyPr/>
          <a:lstStyle/>
          <a:p>
            <a:pPr>
              <a:defRPr sz="2000"/>
            </a:pPr>
            <a:r>
              <a:rPr dirty="0"/>
              <a:t>Used to provide a default value only when the left side is null or undefined.</a:t>
            </a:r>
          </a:p>
          <a:p>
            <a:pPr lvl="1">
              <a:defRPr sz="2000"/>
            </a:pPr>
            <a:r>
              <a:rPr dirty="0"/>
              <a:t>let username = null;</a:t>
            </a:r>
          </a:p>
          <a:p>
            <a:pPr lvl="1">
              <a:defRPr sz="2000"/>
            </a:pPr>
            <a:r>
              <a:rPr dirty="0"/>
              <a:t>let </a:t>
            </a:r>
            <a:r>
              <a:rPr dirty="0" err="1"/>
              <a:t>displayName</a:t>
            </a:r>
            <a:r>
              <a:rPr dirty="0"/>
              <a:t> = username ?? "Guest";</a:t>
            </a:r>
          </a:p>
          <a:p>
            <a:pPr lvl="1">
              <a:defRPr sz="2000"/>
            </a:pPr>
            <a:r>
              <a:rPr dirty="0"/>
              <a:t>console.log(</a:t>
            </a:r>
            <a:r>
              <a:rPr dirty="0" err="1"/>
              <a:t>displayName</a:t>
            </a:r>
            <a:r>
              <a:rPr dirty="0"/>
              <a:t>); // Guest</a:t>
            </a:r>
          </a:p>
          <a:p>
            <a:pPr>
              <a:defRPr sz="2000"/>
            </a:pPr>
            <a:r>
              <a:rPr dirty="0"/>
              <a:t>This is different from ||, because || treats other </a:t>
            </a:r>
            <a:r>
              <a:rPr dirty="0" err="1"/>
              <a:t>falsy</a:t>
            </a:r>
            <a:r>
              <a:rPr dirty="0"/>
              <a:t> values like 0 or "" as false too.</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10. Optional chaining operator</a:t>
            </a:r>
          </a:p>
        </p:txBody>
      </p:sp>
      <p:sp>
        <p:nvSpPr>
          <p:cNvPr id="3" name="Content Placeholder 2"/>
          <p:cNvSpPr>
            <a:spLocks noGrp="1"/>
          </p:cNvSpPr>
          <p:nvPr>
            <p:ph idx="1"/>
          </p:nvPr>
        </p:nvSpPr>
        <p:spPr/>
        <p:txBody>
          <a:bodyPr>
            <a:normAutofit fontScale="92500" lnSpcReduction="20000"/>
          </a:bodyPr>
          <a:lstStyle/>
          <a:p>
            <a:pPr>
              <a:defRPr sz="2000"/>
            </a:pPr>
            <a:r>
              <a:rPr dirty="0"/>
              <a:t>Used to safely access nested properties.</a:t>
            </a:r>
          </a:p>
          <a:p>
            <a:pPr lvl="1">
              <a:defRPr sz="2000"/>
            </a:pPr>
            <a:r>
              <a:rPr dirty="0"/>
              <a:t>let user = {</a:t>
            </a:r>
          </a:p>
          <a:p>
            <a:pPr lvl="1">
              <a:defRPr sz="2000"/>
            </a:pPr>
            <a:r>
              <a:rPr dirty="0"/>
              <a:t>profile: {</a:t>
            </a:r>
          </a:p>
          <a:p>
            <a:pPr lvl="1">
              <a:defRPr sz="2000"/>
            </a:pPr>
            <a:r>
              <a:rPr dirty="0"/>
              <a:t>name: "Asha"</a:t>
            </a:r>
          </a:p>
          <a:p>
            <a:pPr lvl="1">
              <a:defRPr sz="2000"/>
            </a:pPr>
            <a:r>
              <a:rPr dirty="0"/>
              <a:t>}</a:t>
            </a:r>
          </a:p>
          <a:p>
            <a:pPr lvl="1">
              <a:defRPr sz="2000"/>
            </a:pPr>
            <a:r>
              <a:rPr dirty="0"/>
              <a:t>};</a:t>
            </a:r>
          </a:p>
          <a:p>
            <a:pPr lvl="1">
              <a:defRPr sz="2000"/>
            </a:pPr>
            <a:r>
              <a:rPr dirty="0"/>
              <a:t>console.log(user?.profile?.name); // Asha</a:t>
            </a:r>
          </a:p>
          <a:p>
            <a:pPr lvl="1">
              <a:defRPr sz="2000"/>
            </a:pPr>
            <a:r>
              <a:rPr dirty="0"/>
              <a:t>console.log(</a:t>
            </a:r>
            <a:r>
              <a:rPr dirty="0" err="1"/>
              <a:t>user?.address?.city</a:t>
            </a:r>
            <a:r>
              <a:rPr dirty="0"/>
              <a:t>);  // undefined</a:t>
            </a:r>
          </a:p>
          <a:p>
            <a:pPr>
              <a:defRPr sz="2000"/>
            </a:pPr>
            <a:r>
              <a:rPr dirty="0"/>
              <a:t>It prevents errors when a property does not exist.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11. Bitwise operators</a:t>
            </a:r>
          </a:p>
        </p:txBody>
      </p:sp>
      <p:sp>
        <p:nvSpPr>
          <p:cNvPr id="3" name="Content Placeholder 2"/>
          <p:cNvSpPr>
            <a:spLocks noGrp="1"/>
          </p:cNvSpPr>
          <p:nvPr>
            <p:ph idx="1"/>
          </p:nvPr>
        </p:nvSpPr>
        <p:spPr/>
        <p:txBody>
          <a:bodyPr>
            <a:normAutofit fontScale="85000" lnSpcReduction="10000"/>
          </a:bodyPr>
          <a:lstStyle/>
          <a:p>
            <a:pPr>
              <a:defRPr sz="2000"/>
            </a:pPr>
            <a:r>
              <a:rPr dirty="0"/>
              <a:t>These work on binary representations of numbers. They are less common for beginners.</a:t>
            </a:r>
          </a:p>
          <a:p>
            <a:pPr lvl="1">
              <a:defRPr sz="2000"/>
            </a:pPr>
            <a:r>
              <a:rPr dirty="0"/>
              <a:t>console.log(5 &amp; 1); // 1</a:t>
            </a:r>
          </a:p>
          <a:p>
            <a:pPr lvl="1">
              <a:defRPr sz="2000"/>
            </a:pPr>
            <a:r>
              <a:rPr dirty="0"/>
              <a:t>console.log(5 | 1); // 5</a:t>
            </a:r>
          </a:p>
          <a:p>
            <a:pPr lvl="1">
              <a:defRPr sz="2000"/>
            </a:pPr>
            <a:r>
              <a:rPr dirty="0"/>
              <a:t>console.log(5 ^ 1); // 4</a:t>
            </a:r>
          </a:p>
          <a:p>
            <a:pPr lvl="1">
              <a:defRPr sz="2000"/>
            </a:pPr>
            <a:r>
              <a:rPr dirty="0"/>
              <a:t>console.log(~5);    // -6</a:t>
            </a:r>
          </a:p>
          <a:p>
            <a:pPr>
              <a:defRPr sz="2000"/>
            </a:pPr>
            <a:r>
              <a:rPr dirty="0"/>
              <a:t>Common bitwise operators:</a:t>
            </a:r>
          </a:p>
          <a:p>
            <a:pPr lvl="1">
              <a:defRPr sz="2000"/>
            </a:pPr>
            <a:r>
              <a:rPr dirty="0"/>
              <a:t>&amp; AND</a:t>
            </a:r>
          </a:p>
          <a:p>
            <a:pPr lvl="1">
              <a:defRPr sz="2000"/>
            </a:pPr>
            <a:r>
              <a:rPr dirty="0"/>
              <a:t>| OR</a:t>
            </a:r>
          </a:p>
          <a:p>
            <a:pPr lvl="1">
              <a:defRPr sz="2000"/>
            </a:pPr>
            <a:r>
              <a:rPr dirty="0"/>
              <a:t>^ XOR</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11. Bitwise operators (cont.)</a:t>
            </a:r>
          </a:p>
        </p:txBody>
      </p:sp>
      <p:sp>
        <p:nvSpPr>
          <p:cNvPr id="3" name="Content Placeholder 2"/>
          <p:cNvSpPr>
            <a:spLocks noGrp="1"/>
          </p:cNvSpPr>
          <p:nvPr>
            <p:ph idx="1"/>
          </p:nvPr>
        </p:nvSpPr>
        <p:spPr/>
        <p:txBody>
          <a:bodyPr/>
          <a:lstStyle/>
          <a:p>
            <a:pPr lvl="1">
              <a:defRPr sz="2000"/>
            </a:pPr>
            <a:r>
              <a:rPr dirty="0"/>
              <a:t>~ NOT</a:t>
            </a:r>
          </a:p>
          <a:p>
            <a:pPr lvl="1">
              <a:defRPr sz="2000"/>
            </a:pPr>
            <a:r>
              <a:rPr dirty="0"/>
              <a:t>&lt;&lt; left shift</a:t>
            </a:r>
          </a:p>
          <a:p>
            <a:pPr lvl="1">
              <a:defRPr sz="2000"/>
            </a:pPr>
            <a:r>
              <a:rPr dirty="0"/>
              <a:t>&gt;&gt; right shift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12. Spread and rest operator usage</a:t>
            </a:r>
          </a:p>
        </p:txBody>
      </p:sp>
      <p:sp>
        <p:nvSpPr>
          <p:cNvPr id="3" name="Content Placeholder 2"/>
          <p:cNvSpPr>
            <a:spLocks noGrp="1"/>
          </p:cNvSpPr>
          <p:nvPr>
            <p:ph idx="1"/>
          </p:nvPr>
        </p:nvSpPr>
        <p:spPr/>
        <p:txBody>
          <a:bodyPr>
            <a:normAutofit lnSpcReduction="10000"/>
          </a:bodyPr>
          <a:lstStyle/>
          <a:p>
            <a:pPr>
              <a:defRPr sz="2000"/>
            </a:pPr>
            <a:r>
              <a:rPr dirty="0"/>
              <a:t>Although often taught separately, ... is also used in expressions.</a:t>
            </a:r>
          </a:p>
          <a:p>
            <a:pPr>
              <a:defRPr sz="2000"/>
            </a:pPr>
            <a:r>
              <a:rPr dirty="0"/>
              <a:t>Spread</a:t>
            </a:r>
          </a:p>
          <a:p>
            <a:pPr>
              <a:defRPr sz="2000"/>
            </a:pPr>
            <a:r>
              <a:rPr dirty="0"/>
              <a:t>Expands values.</a:t>
            </a:r>
          </a:p>
          <a:p>
            <a:pPr lvl="1">
              <a:defRPr sz="2000"/>
            </a:pPr>
            <a:r>
              <a:rPr dirty="0"/>
              <a:t>let arr1 = [1, 2];</a:t>
            </a:r>
          </a:p>
          <a:p>
            <a:pPr lvl="1">
              <a:defRPr sz="2000"/>
            </a:pPr>
            <a:r>
              <a:rPr dirty="0"/>
              <a:t>let arr2 = [...arr1, 3, 4];</a:t>
            </a:r>
          </a:p>
          <a:p>
            <a:pPr lvl="1">
              <a:defRPr sz="2000"/>
            </a:pPr>
            <a:r>
              <a:rPr dirty="0"/>
              <a:t>console.log(arr2); // [1, 2, 3, 4]</a:t>
            </a:r>
          </a:p>
          <a:p>
            <a:pPr>
              <a:defRPr sz="2000"/>
            </a:pPr>
            <a:r>
              <a:rPr dirty="0"/>
              <a:t>Rest</a:t>
            </a:r>
          </a:p>
          <a:p>
            <a:pPr>
              <a:defRPr sz="2000"/>
            </a:pPr>
            <a:r>
              <a:rPr dirty="0"/>
              <a:t>Collects remaining values.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12. Spread and rest operator usage (cont.)</a:t>
            </a:r>
          </a:p>
        </p:txBody>
      </p:sp>
      <p:sp>
        <p:nvSpPr>
          <p:cNvPr id="3" name="Content Placeholder 2"/>
          <p:cNvSpPr>
            <a:spLocks noGrp="1"/>
          </p:cNvSpPr>
          <p:nvPr>
            <p:ph idx="1"/>
          </p:nvPr>
        </p:nvSpPr>
        <p:spPr/>
        <p:txBody>
          <a:bodyPr/>
          <a:lstStyle/>
          <a:p>
            <a:pPr lvl="1">
              <a:defRPr sz="2000"/>
            </a:pPr>
            <a:r>
              <a:rPr dirty="0"/>
              <a:t>function sum(...numbers) {</a:t>
            </a:r>
          </a:p>
          <a:p>
            <a:pPr lvl="1">
              <a:defRPr sz="2000"/>
            </a:pPr>
            <a:r>
              <a:rPr dirty="0"/>
              <a:t>console.log(numbers);</a:t>
            </a:r>
          </a:p>
          <a:p>
            <a:pPr lvl="1">
              <a:defRPr sz="2000"/>
            </a:pPr>
            <a:r>
              <a:rPr dirty="0"/>
              <a:t>}</a:t>
            </a:r>
          </a:p>
          <a:p>
            <a:pPr lvl="1">
              <a:defRPr sz="2000"/>
            </a:pPr>
            <a:r>
              <a:rPr dirty="0"/>
              <a:t>sum(1, 2, 3);</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operator groups summary</a:t>
            </a:r>
          </a:p>
        </p:txBody>
      </p:sp>
      <p:sp>
        <p:nvSpPr>
          <p:cNvPr id="3" name="Content Placeholder 2"/>
          <p:cNvSpPr>
            <a:spLocks noGrp="1"/>
          </p:cNvSpPr>
          <p:nvPr>
            <p:ph idx="1"/>
          </p:nvPr>
        </p:nvSpPr>
        <p:spPr/>
        <p:txBody>
          <a:bodyPr>
            <a:normAutofit fontScale="92500" lnSpcReduction="10000"/>
          </a:bodyPr>
          <a:lstStyle/>
          <a:p>
            <a:pPr>
              <a:defRPr sz="2000"/>
            </a:pPr>
            <a:r>
              <a:rPr dirty="0"/>
              <a:t>Arithmetic: calculations</a:t>
            </a:r>
          </a:p>
          <a:p>
            <a:pPr>
              <a:defRPr sz="2000"/>
            </a:pPr>
            <a:r>
              <a:rPr dirty="0"/>
              <a:t>Assignment: storing values</a:t>
            </a:r>
          </a:p>
          <a:p>
            <a:pPr>
              <a:defRPr sz="2000"/>
            </a:pPr>
            <a:r>
              <a:rPr dirty="0"/>
              <a:t>Comparison: comparing values</a:t>
            </a:r>
          </a:p>
          <a:p>
            <a:pPr>
              <a:defRPr sz="2000"/>
            </a:pPr>
            <a:r>
              <a:rPr dirty="0"/>
              <a:t>Logical: combining conditions</a:t>
            </a:r>
          </a:p>
          <a:p>
            <a:pPr>
              <a:defRPr sz="2000"/>
            </a:pPr>
            <a:r>
              <a:rPr dirty="0"/>
              <a:t>Unary: one-value operations</a:t>
            </a:r>
          </a:p>
          <a:p>
            <a:pPr>
              <a:defRPr sz="2000"/>
            </a:pPr>
            <a:r>
              <a:rPr dirty="0"/>
              <a:t>Ternary: short conditional</a:t>
            </a:r>
          </a:p>
          <a:p>
            <a:pPr>
              <a:defRPr sz="2000"/>
            </a:pPr>
            <a:r>
              <a:rPr dirty="0"/>
              <a:t>Type: checking types</a:t>
            </a:r>
          </a:p>
          <a:p>
            <a:pPr>
              <a:defRPr sz="2000"/>
            </a:pPr>
            <a:r>
              <a:rPr dirty="0" err="1"/>
              <a:t>Nullish</a:t>
            </a:r>
            <a:r>
              <a:rPr dirty="0"/>
              <a:t> / Optional chaining: safer access and defaults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example</a:t>
            </a:r>
          </a:p>
        </p:txBody>
      </p:sp>
      <p:sp>
        <p:nvSpPr>
          <p:cNvPr id="3" name="Content Placeholder 2"/>
          <p:cNvSpPr>
            <a:spLocks noGrp="1"/>
          </p:cNvSpPr>
          <p:nvPr>
            <p:ph idx="1"/>
          </p:nvPr>
        </p:nvSpPr>
        <p:spPr/>
        <p:txBody>
          <a:bodyPr>
            <a:normAutofit fontScale="92500" lnSpcReduction="20000"/>
          </a:bodyPr>
          <a:lstStyle/>
          <a:p>
            <a:pPr lvl="1">
              <a:defRPr sz="2000"/>
            </a:pPr>
            <a:r>
              <a:rPr dirty="0"/>
              <a:t>let score = 85;</a:t>
            </a:r>
          </a:p>
          <a:p>
            <a:pPr lvl="1">
              <a:defRPr sz="2000"/>
            </a:pPr>
            <a:r>
              <a:rPr dirty="0"/>
              <a:t>let </a:t>
            </a:r>
            <a:r>
              <a:rPr dirty="0" err="1"/>
              <a:t>hasCertificate</a:t>
            </a:r>
            <a:r>
              <a:rPr dirty="0"/>
              <a:t> = true;</a:t>
            </a:r>
          </a:p>
          <a:p>
            <a:pPr lvl="1">
              <a:defRPr sz="2000"/>
            </a:pPr>
            <a:r>
              <a:rPr dirty="0"/>
              <a:t>let passed = score &gt;= 50 &amp;&amp; </a:t>
            </a:r>
            <a:r>
              <a:rPr dirty="0" err="1"/>
              <a:t>hasCertificate</a:t>
            </a:r>
            <a:r>
              <a:rPr dirty="0"/>
              <a:t>;</a:t>
            </a:r>
          </a:p>
          <a:p>
            <a:pPr lvl="1">
              <a:defRPr sz="2000"/>
            </a:pPr>
            <a:r>
              <a:rPr dirty="0"/>
              <a:t>let message = passed ? "Passed" : "Failed";</a:t>
            </a:r>
          </a:p>
          <a:p>
            <a:pPr lvl="1">
              <a:defRPr sz="2000"/>
            </a:pPr>
            <a:r>
              <a:rPr dirty="0"/>
              <a:t>console.log(message);</a:t>
            </a:r>
          </a:p>
          <a:p>
            <a:pPr>
              <a:defRPr sz="2000"/>
            </a:pPr>
            <a:r>
              <a:rPr dirty="0"/>
              <a:t>Here:</a:t>
            </a:r>
          </a:p>
          <a:p>
            <a:pPr lvl="1">
              <a:defRPr sz="2000"/>
            </a:pPr>
            <a:r>
              <a:rPr dirty="0"/>
              <a:t>&gt;= compares values</a:t>
            </a:r>
          </a:p>
          <a:p>
            <a:pPr lvl="1">
              <a:defRPr sz="2000"/>
            </a:pPr>
            <a:r>
              <a:rPr dirty="0"/>
              <a:t>&amp;&amp; combines conditions</a:t>
            </a:r>
          </a:p>
          <a:p>
            <a:pPr lvl="1">
              <a:defRPr sz="2000"/>
            </a:pPr>
            <a:r>
              <a:rPr dirty="0"/>
              <a:t>? : chooses between two outputs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Best practice</a:t>
            </a:r>
          </a:p>
        </p:txBody>
      </p:sp>
      <p:sp>
        <p:nvSpPr>
          <p:cNvPr id="3" name="Content Placeholder 2"/>
          <p:cNvSpPr>
            <a:spLocks noGrp="1"/>
          </p:cNvSpPr>
          <p:nvPr>
            <p:ph idx="1"/>
          </p:nvPr>
        </p:nvSpPr>
        <p:spPr/>
        <p:txBody>
          <a:bodyPr>
            <a:normAutofit fontScale="85000" lnSpcReduction="20000"/>
          </a:bodyPr>
          <a:lstStyle/>
          <a:p>
            <a:pPr lvl="1">
              <a:defRPr sz="2000"/>
            </a:pPr>
            <a:r>
              <a:rPr dirty="0"/>
              <a:t>Use === instead of ==.</a:t>
            </a:r>
          </a:p>
          <a:p>
            <a:pPr lvl="1">
              <a:defRPr sz="2000"/>
            </a:pPr>
            <a:r>
              <a:rPr dirty="0"/>
              <a:t>Use const and let with operators in modern code.</a:t>
            </a:r>
          </a:p>
          <a:p>
            <a:pPr lvl="1">
              <a:defRPr sz="2000"/>
            </a:pPr>
            <a:r>
              <a:rPr dirty="0"/>
              <a:t>Use ?? when you want to allow values like 0 or "".</a:t>
            </a:r>
          </a:p>
          <a:p>
            <a:pPr lvl="1">
              <a:defRPr sz="2000"/>
            </a:pPr>
            <a:r>
              <a:rPr dirty="0"/>
              <a:t>Use ?. when accessing nested properties that may not exist.</a:t>
            </a:r>
          </a:p>
          <a:p>
            <a:pPr>
              <a:defRPr sz="2000"/>
            </a:pPr>
            <a:r>
              <a:rPr dirty="0"/>
              <a:t>JavaScript Strings</a:t>
            </a:r>
          </a:p>
          <a:p>
            <a:pPr>
              <a:defRPr sz="2000"/>
            </a:pPr>
            <a:r>
              <a:rPr dirty="0"/>
              <a:t>A string is used to store text in JavaScript. Strings can be written with single quotes, double quotes, or backticks.</a:t>
            </a:r>
          </a:p>
          <a:p>
            <a:pPr lvl="1">
              <a:defRPr sz="2000"/>
            </a:pPr>
            <a:r>
              <a:rPr dirty="0"/>
              <a:t>let </a:t>
            </a:r>
            <a:r>
              <a:rPr dirty="0" err="1"/>
              <a:t>firstName</a:t>
            </a:r>
            <a:r>
              <a:rPr dirty="0"/>
              <a:t> = "Asha";</a:t>
            </a:r>
          </a:p>
          <a:p>
            <a:pPr lvl="1">
              <a:defRPr sz="2000"/>
            </a:pPr>
            <a:r>
              <a:rPr dirty="0"/>
              <a:t>let city = 'Delhi';</a:t>
            </a:r>
          </a:p>
          <a:p>
            <a:pPr lvl="1">
              <a:defRPr sz="2000"/>
            </a:pPr>
            <a:r>
              <a:rPr dirty="0"/>
              <a:t>let msg = `Hello`;</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Best practice (cont.)</a:t>
            </a:r>
          </a:p>
        </p:txBody>
      </p:sp>
      <p:sp>
        <p:nvSpPr>
          <p:cNvPr id="3" name="Content Placeholder 2"/>
          <p:cNvSpPr>
            <a:spLocks noGrp="1"/>
          </p:cNvSpPr>
          <p:nvPr>
            <p:ph idx="1"/>
          </p:nvPr>
        </p:nvSpPr>
        <p:spPr/>
        <p:txBody>
          <a:bodyPr>
            <a:normAutofit fontScale="85000" lnSpcReduction="20000"/>
          </a:bodyPr>
          <a:lstStyle/>
          <a:p>
            <a:pPr>
              <a:defRPr sz="2000"/>
            </a:pPr>
            <a:r>
              <a:rPr dirty="0"/>
              <a:t>Strings are one of the most common data types because they are used for names, messages, labels, and user input.</a:t>
            </a:r>
          </a:p>
          <a:p>
            <a:pPr>
              <a:defRPr sz="2000"/>
            </a:pPr>
            <a:r>
              <a:rPr dirty="0"/>
              <a:t>Basic string operations</a:t>
            </a:r>
          </a:p>
          <a:p>
            <a:pPr lvl="1">
              <a:defRPr sz="2000"/>
            </a:pPr>
            <a:r>
              <a:rPr dirty="0"/>
              <a:t>let text = "JavaScript";</a:t>
            </a:r>
          </a:p>
          <a:p>
            <a:pPr lvl="1">
              <a:defRPr sz="2000"/>
            </a:pPr>
            <a:r>
              <a:rPr dirty="0"/>
              <a:t>console.log(</a:t>
            </a:r>
            <a:r>
              <a:rPr dirty="0" err="1"/>
              <a:t>text.length</a:t>
            </a:r>
            <a:r>
              <a:rPr dirty="0"/>
              <a:t>);      // 10</a:t>
            </a:r>
          </a:p>
          <a:p>
            <a:pPr lvl="1">
              <a:defRPr sz="2000"/>
            </a:pPr>
            <a:r>
              <a:rPr dirty="0"/>
              <a:t>console.log(text[0]);          // J</a:t>
            </a:r>
          </a:p>
          <a:p>
            <a:pPr lvl="1">
              <a:defRPr sz="2000"/>
            </a:pPr>
            <a:r>
              <a:rPr dirty="0"/>
              <a:t>console.log(</a:t>
            </a:r>
            <a:r>
              <a:rPr dirty="0" err="1"/>
              <a:t>text.toUpperCase</a:t>
            </a:r>
            <a:r>
              <a:rPr dirty="0"/>
              <a:t>()); // JAVASCRIPT</a:t>
            </a:r>
          </a:p>
          <a:p>
            <a:pPr lvl="1">
              <a:defRPr sz="2000"/>
            </a:pPr>
            <a:r>
              <a:rPr dirty="0"/>
              <a:t>console.log(</a:t>
            </a:r>
            <a:r>
              <a:rPr dirty="0" err="1"/>
              <a:t>text.toLowerCase</a:t>
            </a:r>
            <a:r>
              <a:rPr dirty="0"/>
              <a:t>()); // </a:t>
            </a:r>
            <a:r>
              <a:rPr dirty="0" err="1"/>
              <a:t>javascript</a:t>
            </a:r>
            <a:endParaRPr dirty="0"/>
          </a:p>
          <a:p>
            <a:pPr>
              <a:defRPr sz="2000"/>
            </a:pPr>
            <a:r>
              <a:rPr dirty="0"/>
              <a:t>Common string methods:</a:t>
            </a:r>
          </a:p>
          <a:p>
            <a:pPr>
              <a:defRPr sz="2000"/>
            </a:pPr>
            <a:r>
              <a:rPr dirty="0"/>
              <a:t>length gives the number of characters.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Best practice (cont.)</a:t>
            </a:r>
          </a:p>
        </p:txBody>
      </p:sp>
      <p:sp>
        <p:nvSpPr>
          <p:cNvPr id="3" name="Content Placeholder 2"/>
          <p:cNvSpPr>
            <a:spLocks noGrp="1"/>
          </p:cNvSpPr>
          <p:nvPr>
            <p:ph idx="1"/>
          </p:nvPr>
        </p:nvSpPr>
        <p:spPr/>
        <p:txBody>
          <a:bodyPr>
            <a:normAutofit fontScale="85000" lnSpcReduction="20000"/>
          </a:bodyPr>
          <a:lstStyle/>
          <a:p>
            <a:pPr>
              <a:defRPr sz="2000"/>
            </a:pPr>
            <a:r>
              <a:rPr dirty="0" err="1"/>
              <a:t>toUpperCase</a:t>
            </a:r>
            <a:r>
              <a:rPr dirty="0"/>
              <a:t>() converts to uppercase.</a:t>
            </a:r>
          </a:p>
          <a:p>
            <a:pPr>
              <a:defRPr sz="2000"/>
            </a:pPr>
            <a:r>
              <a:rPr dirty="0" err="1"/>
              <a:t>toLowerCase</a:t>
            </a:r>
            <a:r>
              <a:rPr dirty="0"/>
              <a:t>() converts to lowercase.</a:t>
            </a:r>
          </a:p>
          <a:p>
            <a:pPr>
              <a:defRPr sz="2000"/>
            </a:pPr>
            <a:r>
              <a:rPr dirty="0"/>
              <a:t>trim() removes spaces from both ends.</a:t>
            </a:r>
          </a:p>
          <a:p>
            <a:pPr>
              <a:defRPr sz="2000"/>
            </a:pPr>
            <a:r>
              <a:rPr dirty="0"/>
              <a:t>slice() extracts part of a string.</a:t>
            </a:r>
          </a:p>
          <a:p>
            <a:pPr>
              <a:defRPr sz="2000"/>
            </a:pPr>
            <a:r>
              <a:rPr dirty="0"/>
              <a:t>replace() replaces text.</a:t>
            </a:r>
          </a:p>
          <a:p>
            <a:pPr>
              <a:defRPr sz="2000"/>
            </a:pPr>
            <a:r>
              <a:rPr dirty="0"/>
              <a:t>let name = "  Asha  ";</a:t>
            </a:r>
          </a:p>
          <a:p>
            <a:pPr>
              <a:defRPr sz="2000"/>
            </a:pPr>
            <a:r>
              <a:rPr dirty="0"/>
              <a:t>console.log(</a:t>
            </a:r>
            <a:r>
              <a:rPr dirty="0" err="1"/>
              <a:t>name.trim</a:t>
            </a:r>
            <a:r>
              <a:rPr dirty="0"/>
              <a:t>()); // "Asha"</a:t>
            </a:r>
          </a:p>
          <a:p>
            <a:pPr>
              <a:defRPr sz="2000"/>
            </a:pPr>
            <a:r>
              <a:rPr dirty="0"/>
              <a:t>Concatenation</a:t>
            </a:r>
          </a:p>
          <a:p>
            <a:pPr>
              <a:defRPr sz="2000"/>
            </a:pPr>
            <a:r>
              <a:rPr dirty="0"/>
              <a:t>You can join strings using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Best practice (cont.)</a:t>
            </a:r>
          </a:p>
        </p:txBody>
      </p:sp>
      <p:sp>
        <p:nvSpPr>
          <p:cNvPr id="3" name="Content Placeholder 2"/>
          <p:cNvSpPr>
            <a:spLocks noGrp="1"/>
          </p:cNvSpPr>
          <p:nvPr>
            <p:ph idx="1"/>
          </p:nvPr>
        </p:nvSpPr>
        <p:spPr/>
        <p:txBody>
          <a:bodyPr/>
          <a:lstStyle/>
          <a:p>
            <a:pPr>
              <a:defRPr sz="2000"/>
            </a:pPr>
            <a:r>
              <a:t>javascript</a:t>
            </a:r>
          </a:p>
          <a:p>
            <a:pPr>
              <a:defRPr sz="2000"/>
            </a:pPr>
            <a:r>
              <a:t>let first = "John";</a:t>
            </a:r>
          </a:p>
          <a:p>
            <a:pPr>
              <a:defRPr sz="2000"/>
            </a:pPr>
            <a:r>
              <a:t>let last = "Doe";</a:t>
            </a:r>
          </a:p>
          <a:p>
            <a:pPr>
              <a:defRPr sz="2000"/>
            </a:pPr>
            <a:r>
              <a:t>let full = first + " " + last;</a:t>
            </a:r>
          </a:p>
          <a:p>
            <a:pPr>
              <a:defRPr sz="2000"/>
            </a:pPr>
            <a:r>
              <a:t>console.log(full); // John Doe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Template Literals</a:t>
            </a:r>
          </a:p>
        </p:txBody>
      </p:sp>
      <p:sp>
        <p:nvSpPr>
          <p:cNvPr id="3" name="Content Placeholder 2"/>
          <p:cNvSpPr>
            <a:spLocks noGrp="1"/>
          </p:cNvSpPr>
          <p:nvPr>
            <p:ph idx="1"/>
          </p:nvPr>
        </p:nvSpPr>
        <p:spPr/>
        <p:txBody>
          <a:bodyPr>
            <a:normAutofit fontScale="70000" lnSpcReduction="20000"/>
          </a:bodyPr>
          <a:lstStyle/>
          <a:p>
            <a:pPr>
              <a:defRPr sz="2000"/>
            </a:pPr>
            <a:r>
              <a:rPr dirty="0"/>
              <a:t>Template literals are strings written using backticks ` . They are useful because they support:</a:t>
            </a:r>
          </a:p>
          <a:p>
            <a:pPr>
              <a:defRPr sz="2000"/>
            </a:pPr>
            <a:r>
              <a:rPr dirty="0"/>
              <a:t>Variable insertion</a:t>
            </a:r>
          </a:p>
          <a:p>
            <a:pPr>
              <a:defRPr sz="2000"/>
            </a:pPr>
            <a:r>
              <a:rPr dirty="0"/>
              <a:t>Multi-line strings</a:t>
            </a:r>
          </a:p>
          <a:p>
            <a:pPr>
              <a:defRPr sz="2000"/>
            </a:pPr>
            <a:r>
              <a:rPr dirty="0"/>
              <a:t>Cleaner text formatting</a:t>
            </a:r>
          </a:p>
          <a:p>
            <a:pPr>
              <a:defRPr sz="2000"/>
            </a:pPr>
            <a:r>
              <a:rPr dirty="0"/>
              <a:t>Variable interpolation</a:t>
            </a:r>
          </a:p>
          <a:p>
            <a:pPr>
              <a:defRPr sz="2000"/>
            </a:pPr>
            <a:r>
              <a:rPr dirty="0" err="1"/>
              <a:t>javascript</a:t>
            </a:r>
            <a:endParaRPr dirty="0"/>
          </a:p>
          <a:p>
            <a:pPr>
              <a:defRPr sz="2000"/>
            </a:pPr>
            <a:r>
              <a:rPr dirty="0"/>
              <a:t>let name = "Asha";</a:t>
            </a:r>
          </a:p>
          <a:p>
            <a:pPr>
              <a:defRPr sz="2000"/>
            </a:pPr>
            <a:r>
              <a:rPr dirty="0"/>
              <a:t>let age = 22;</a:t>
            </a:r>
          </a:p>
          <a:p>
            <a:pPr>
              <a:defRPr sz="2000"/>
            </a:pPr>
            <a:r>
              <a:rPr dirty="0"/>
              <a:t>let message = `My name is ${name} and I am ${age} years old.`;</a:t>
            </a:r>
          </a:p>
          <a:p>
            <a:pPr>
              <a:defRPr sz="2000"/>
            </a:pPr>
            <a:r>
              <a:rPr dirty="0"/>
              <a:t>console.log(message);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Template Literals (cont.)</a:t>
            </a:r>
          </a:p>
        </p:txBody>
      </p:sp>
      <p:sp>
        <p:nvSpPr>
          <p:cNvPr id="3" name="Content Placeholder 2"/>
          <p:cNvSpPr>
            <a:spLocks noGrp="1"/>
          </p:cNvSpPr>
          <p:nvPr>
            <p:ph idx="1"/>
          </p:nvPr>
        </p:nvSpPr>
        <p:spPr/>
        <p:txBody>
          <a:bodyPr>
            <a:normAutofit fontScale="70000" lnSpcReduction="20000"/>
          </a:bodyPr>
          <a:lstStyle/>
          <a:p>
            <a:pPr>
              <a:defRPr sz="2000"/>
            </a:pPr>
            <a:r>
              <a:t>The ${} syntax inserts values directly into the string.</a:t>
            </a:r>
          </a:p>
          <a:p>
            <a:pPr>
              <a:defRPr sz="2000"/>
            </a:pPr>
            <a:r>
              <a:t>Multi-line strings</a:t>
            </a:r>
          </a:p>
          <a:p>
            <a:pPr>
              <a:defRPr sz="2000"/>
            </a:pPr>
            <a:r>
              <a:t>javascript</a:t>
            </a:r>
          </a:p>
          <a:p>
            <a:pPr>
              <a:defRPr sz="2000"/>
            </a:pPr>
            <a:r>
              <a:t>let text = `Hello,</a:t>
            </a:r>
          </a:p>
          <a:p>
            <a:pPr>
              <a:defRPr sz="2000"/>
            </a:pPr>
            <a:r>
              <a:t>Welcome to JavaScript,</a:t>
            </a:r>
          </a:p>
          <a:p>
            <a:pPr>
              <a:defRPr sz="2000"/>
            </a:pPr>
            <a:r>
              <a:t>Have a nice day!`;</a:t>
            </a:r>
          </a:p>
          <a:p>
            <a:pPr>
              <a:defRPr sz="2000"/>
            </a:pPr>
            <a:r>
              <a:t>This is easier than using \n for line breaks.</a:t>
            </a:r>
          </a:p>
          <a:p>
            <a:pPr>
              <a:defRPr sz="2000"/>
            </a:pPr>
            <a:r>
              <a:t>Why use template literals?</a:t>
            </a:r>
          </a:p>
          <a:p>
            <a:pPr>
              <a:defRPr sz="2000"/>
            </a:pPr>
            <a:r>
              <a:t>They are easier to read than string concatenation when building longer text.</a:t>
            </a:r>
          </a:p>
          <a:p>
            <a:pPr>
              <a:defRPr sz="2000"/>
            </a:pPr>
            <a:r>
              <a:t>javascript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Template Literals (cont.)</a:t>
            </a:r>
          </a:p>
        </p:txBody>
      </p:sp>
      <p:sp>
        <p:nvSpPr>
          <p:cNvPr id="3" name="Content Placeholder 2"/>
          <p:cNvSpPr>
            <a:spLocks noGrp="1"/>
          </p:cNvSpPr>
          <p:nvPr>
            <p:ph idx="1"/>
          </p:nvPr>
        </p:nvSpPr>
        <p:spPr/>
        <p:txBody>
          <a:bodyPr/>
          <a:lstStyle/>
          <a:p>
            <a:pPr>
              <a:defRPr sz="2000"/>
            </a:pPr>
            <a:r>
              <a:t>let product = "Laptop";</a:t>
            </a:r>
          </a:p>
          <a:p>
            <a:pPr>
              <a:defRPr sz="2000"/>
            </a:pPr>
            <a:r>
              <a:t>let price = 50000;</a:t>
            </a:r>
          </a:p>
          <a:p>
            <a:pPr>
              <a:defRPr sz="2000"/>
            </a:pPr>
            <a:r>
              <a:t>console.log(`The ${product} costs ${price} rupees.`);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Arrays</a:t>
            </a:r>
          </a:p>
        </p:txBody>
      </p:sp>
      <p:sp>
        <p:nvSpPr>
          <p:cNvPr id="3" name="Content Placeholder 2"/>
          <p:cNvSpPr>
            <a:spLocks noGrp="1"/>
          </p:cNvSpPr>
          <p:nvPr>
            <p:ph idx="1"/>
          </p:nvPr>
        </p:nvSpPr>
        <p:spPr/>
        <p:txBody>
          <a:bodyPr>
            <a:normAutofit fontScale="70000" lnSpcReduction="20000"/>
          </a:bodyPr>
          <a:lstStyle/>
          <a:p>
            <a:pPr>
              <a:defRPr sz="2000"/>
            </a:pPr>
            <a:r>
              <a:t>An array is used to store multiple values in a single variable. Arrays keep values in order.</a:t>
            </a:r>
          </a:p>
          <a:p>
            <a:pPr>
              <a:defRPr sz="2000"/>
            </a:pPr>
            <a:r>
              <a:t>javascript</a:t>
            </a:r>
          </a:p>
          <a:p>
            <a:pPr>
              <a:defRPr sz="2000"/>
            </a:pPr>
            <a:r>
              <a:t>let fruits = ["apple", "banana", "mango"];</a:t>
            </a:r>
          </a:p>
          <a:p>
            <a:pPr>
              <a:defRPr sz="2000"/>
            </a:pPr>
            <a:r>
              <a:t>Arrays are very important when working with lists, collections, and repeated data.</a:t>
            </a:r>
          </a:p>
          <a:p>
            <a:pPr>
              <a:defRPr sz="2000"/>
            </a:pPr>
            <a:r>
              <a:t>Accessing array elements</a:t>
            </a:r>
          </a:p>
          <a:p>
            <a:pPr>
              <a:defRPr sz="2000"/>
            </a:pPr>
            <a:r>
              <a:t>Array positions start at 0.</a:t>
            </a:r>
          </a:p>
          <a:p>
            <a:pPr>
              <a:defRPr sz="2000"/>
            </a:pPr>
            <a:r>
              <a:t>javascript</a:t>
            </a:r>
          </a:p>
          <a:p>
            <a:pPr>
              <a:defRPr sz="2000"/>
            </a:pPr>
            <a:r>
              <a:t>let colors = ["red", "green", "blue"];</a:t>
            </a:r>
          </a:p>
          <a:p>
            <a:pPr>
              <a:defRPr sz="2000"/>
            </a:pPr>
            <a:r>
              <a:t>console.log(colors[0]); // red</a:t>
            </a:r>
          </a:p>
          <a:p>
            <a:pPr>
              <a:defRPr sz="2000"/>
            </a:pPr>
            <a:r>
              <a:t>console.log(colors[1]); // green</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Arrays (cont.)</a:t>
            </a:r>
          </a:p>
        </p:txBody>
      </p:sp>
      <p:sp>
        <p:nvSpPr>
          <p:cNvPr id="3" name="Content Placeholder 2"/>
          <p:cNvSpPr>
            <a:spLocks noGrp="1"/>
          </p:cNvSpPr>
          <p:nvPr>
            <p:ph idx="1"/>
          </p:nvPr>
        </p:nvSpPr>
        <p:spPr/>
        <p:txBody>
          <a:bodyPr>
            <a:normAutofit fontScale="70000" lnSpcReduction="20000"/>
          </a:bodyPr>
          <a:lstStyle/>
          <a:p>
            <a:pPr>
              <a:defRPr sz="2000"/>
            </a:pPr>
            <a:r>
              <a:t>console.log(colors[2]); // blue</a:t>
            </a:r>
          </a:p>
          <a:p>
            <a:pPr>
              <a:defRPr sz="2000"/>
            </a:pPr>
            <a:r>
              <a:t>Changing array elements</a:t>
            </a:r>
          </a:p>
          <a:p>
            <a:pPr>
              <a:defRPr sz="2000"/>
            </a:pPr>
            <a:r>
              <a:t>javascript</a:t>
            </a:r>
          </a:p>
          <a:p>
            <a:pPr>
              <a:defRPr sz="2000"/>
            </a:pPr>
            <a:r>
              <a:t>let numbers = [10, 20, 30];</a:t>
            </a:r>
          </a:p>
          <a:p>
            <a:pPr>
              <a:defRPr sz="2000"/>
            </a:pPr>
            <a:r>
              <a:t>numbers[1] = 25;</a:t>
            </a:r>
          </a:p>
          <a:p>
            <a:pPr>
              <a:defRPr sz="2000"/>
            </a:pPr>
            <a:r>
              <a:t>console.log(numbers); // [10, 25, 30]</a:t>
            </a:r>
          </a:p>
          <a:p>
            <a:pPr>
              <a:defRPr sz="2000"/>
            </a:pPr>
            <a:r>
              <a:t>Array length</a:t>
            </a:r>
          </a:p>
          <a:p>
            <a:pPr>
              <a:defRPr sz="2000"/>
            </a:pPr>
            <a:r>
              <a:t>javascript</a:t>
            </a:r>
          </a:p>
          <a:p>
            <a:pPr>
              <a:defRPr sz="2000"/>
            </a:pPr>
            <a:r>
              <a:t>let items = ["pen", "book", "bag"];</a:t>
            </a:r>
          </a:p>
          <a:p>
            <a:pPr>
              <a:defRPr sz="2000"/>
            </a:pPr>
            <a:r>
              <a:t>console.log(items.length); // 3</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array methods</a:t>
            </a:r>
          </a:p>
        </p:txBody>
      </p:sp>
      <p:sp>
        <p:nvSpPr>
          <p:cNvPr id="3" name="Content Placeholder 2"/>
          <p:cNvSpPr>
            <a:spLocks noGrp="1"/>
          </p:cNvSpPr>
          <p:nvPr>
            <p:ph idx="1"/>
          </p:nvPr>
        </p:nvSpPr>
        <p:spPr/>
        <p:txBody>
          <a:bodyPr>
            <a:normAutofit fontScale="70000" lnSpcReduction="20000"/>
          </a:bodyPr>
          <a:lstStyle/>
          <a:p>
            <a:pPr>
              <a:defRPr sz="2000"/>
            </a:pPr>
            <a:r>
              <a:t>push()</a:t>
            </a:r>
          </a:p>
          <a:p>
            <a:pPr>
              <a:defRPr sz="2000"/>
            </a:pPr>
            <a:r>
              <a:t>Adds an item to the end.</a:t>
            </a:r>
          </a:p>
          <a:p>
            <a:pPr>
              <a:defRPr sz="2000"/>
            </a:pPr>
            <a:r>
              <a:t>javascript</a:t>
            </a:r>
          </a:p>
          <a:p>
            <a:pPr>
              <a:defRPr sz="2000"/>
            </a:pPr>
            <a:r>
              <a:t>let fruits = ["apple", "banana"];</a:t>
            </a:r>
          </a:p>
          <a:p>
            <a:pPr>
              <a:defRPr sz="2000"/>
            </a:pPr>
            <a:r>
              <a:t>fruits.push("mango");</a:t>
            </a:r>
          </a:p>
          <a:p>
            <a:pPr>
              <a:defRPr sz="2000"/>
            </a:pPr>
            <a:r>
              <a:t>console.log(fruits); // ["apple", "banana", "mango"]</a:t>
            </a:r>
          </a:p>
          <a:p>
            <a:pPr>
              <a:defRPr sz="2000"/>
            </a:pPr>
            <a:r>
              <a:t>pop()</a:t>
            </a:r>
          </a:p>
          <a:p>
            <a:pPr>
              <a:defRPr sz="2000"/>
            </a:pPr>
            <a:r>
              <a:t>Removes the last item.</a:t>
            </a:r>
          </a:p>
          <a:p>
            <a:pPr>
              <a:defRPr sz="2000"/>
            </a:pPr>
            <a:r>
              <a:t>javascript</a:t>
            </a:r>
          </a:p>
          <a:p>
            <a:pPr>
              <a:defRPr sz="2000"/>
            </a:pPr>
            <a:r>
              <a:t>let fruits = ["apple", "banana", "mango"];</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array methods (cont.)</a:t>
            </a:r>
          </a:p>
        </p:txBody>
      </p:sp>
      <p:sp>
        <p:nvSpPr>
          <p:cNvPr id="3" name="Content Placeholder 2"/>
          <p:cNvSpPr>
            <a:spLocks noGrp="1"/>
          </p:cNvSpPr>
          <p:nvPr>
            <p:ph idx="1"/>
          </p:nvPr>
        </p:nvSpPr>
        <p:spPr/>
        <p:txBody>
          <a:bodyPr>
            <a:normAutofit fontScale="70000" lnSpcReduction="20000"/>
          </a:bodyPr>
          <a:lstStyle/>
          <a:p>
            <a:pPr>
              <a:defRPr sz="2000"/>
            </a:pPr>
            <a:r>
              <a:t>fruits.pop();</a:t>
            </a:r>
          </a:p>
          <a:p>
            <a:pPr>
              <a:defRPr sz="2000"/>
            </a:pPr>
            <a:r>
              <a:t>console.log(fruits); // ["apple", "banana"]</a:t>
            </a:r>
          </a:p>
          <a:p>
            <a:pPr>
              <a:defRPr sz="2000"/>
            </a:pPr>
            <a:r>
              <a:t>unshift()</a:t>
            </a:r>
          </a:p>
          <a:p>
            <a:pPr>
              <a:defRPr sz="2000"/>
            </a:pPr>
            <a:r>
              <a:t>Adds an item to the beginning.</a:t>
            </a:r>
          </a:p>
          <a:p>
            <a:pPr>
              <a:defRPr sz="2000"/>
            </a:pPr>
            <a:r>
              <a:t>javascript</a:t>
            </a:r>
          </a:p>
          <a:p>
            <a:pPr>
              <a:defRPr sz="2000"/>
            </a:pPr>
            <a:r>
              <a:t>let fruits = ["banana"];</a:t>
            </a:r>
          </a:p>
          <a:p>
            <a:pPr>
              <a:defRPr sz="2000"/>
            </a:pPr>
            <a:r>
              <a:t>fruits.unshift("apple");</a:t>
            </a:r>
          </a:p>
          <a:p>
            <a:pPr>
              <a:defRPr sz="2000"/>
            </a:pPr>
            <a:r>
              <a:t>console.log(fruits); // ["apple", "banana"]</a:t>
            </a:r>
          </a:p>
          <a:p>
            <a:pPr>
              <a:defRPr sz="2000"/>
            </a:pPr>
            <a:r>
              <a:t>shift()</a:t>
            </a:r>
          </a:p>
          <a:p>
            <a:pPr>
              <a:defRPr sz="2000"/>
            </a:pPr>
            <a:r>
              <a:t>Removes the first item.</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array methods (cont.)</a:t>
            </a:r>
          </a:p>
        </p:txBody>
      </p:sp>
      <p:sp>
        <p:nvSpPr>
          <p:cNvPr id="3" name="Content Placeholder 2"/>
          <p:cNvSpPr>
            <a:spLocks noGrp="1"/>
          </p:cNvSpPr>
          <p:nvPr>
            <p:ph idx="1"/>
          </p:nvPr>
        </p:nvSpPr>
        <p:spPr/>
        <p:txBody>
          <a:bodyPr>
            <a:normAutofit fontScale="70000" lnSpcReduction="20000"/>
          </a:bodyPr>
          <a:lstStyle/>
          <a:p>
            <a:pPr>
              <a:defRPr sz="2000"/>
            </a:pPr>
            <a:r>
              <a:t>javascript</a:t>
            </a:r>
          </a:p>
          <a:p>
            <a:pPr>
              <a:defRPr sz="2000"/>
            </a:pPr>
            <a:r>
              <a:t>let fruits = ["apple", "banana"];</a:t>
            </a:r>
          </a:p>
          <a:p>
            <a:pPr>
              <a:defRPr sz="2000"/>
            </a:pPr>
            <a:r>
              <a:t>fruits.shift();</a:t>
            </a:r>
          </a:p>
          <a:p>
            <a:pPr>
              <a:defRPr sz="2000"/>
            </a:pPr>
            <a:r>
              <a:t>console.log(fruits); // ["banana"]</a:t>
            </a:r>
          </a:p>
          <a:p>
            <a:pPr>
              <a:defRPr sz="2000"/>
            </a:pPr>
            <a:r>
              <a:t>indexOf()</a:t>
            </a:r>
          </a:p>
          <a:p>
            <a:pPr>
              <a:defRPr sz="2000"/>
            </a:pPr>
            <a:r>
              <a:t>Finds the position of an item.</a:t>
            </a:r>
          </a:p>
          <a:p>
            <a:pPr>
              <a:defRPr sz="2000"/>
            </a:pPr>
            <a:r>
              <a:t>javascript</a:t>
            </a:r>
          </a:p>
          <a:p>
            <a:pPr>
              <a:defRPr sz="2000"/>
            </a:pPr>
            <a:r>
              <a:t>let fruits = ["apple", "banana", "mango"];</a:t>
            </a:r>
          </a:p>
          <a:p>
            <a:pPr>
              <a:defRPr sz="2000"/>
            </a:pPr>
            <a:r>
              <a:t>console.log(fruits.indexOf("banana")); // 1</a:t>
            </a:r>
          </a:p>
          <a:p>
            <a:pPr>
              <a:defRPr sz="2000"/>
            </a:pPr>
            <a:r>
              <a:t>includes()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array methods (cont.)</a:t>
            </a:r>
          </a:p>
        </p:txBody>
      </p:sp>
      <p:sp>
        <p:nvSpPr>
          <p:cNvPr id="3" name="Content Placeholder 2"/>
          <p:cNvSpPr>
            <a:spLocks noGrp="1"/>
          </p:cNvSpPr>
          <p:nvPr>
            <p:ph idx="1"/>
          </p:nvPr>
        </p:nvSpPr>
        <p:spPr/>
        <p:txBody>
          <a:bodyPr>
            <a:normAutofit fontScale="85000" lnSpcReduction="20000"/>
          </a:bodyPr>
          <a:lstStyle/>
          <a:p>
            <a:pPr>
              <a:defRPr sz="2000"/>
            </a:pPr>
            <a:r>
              <a:t>Checks whether an item exists.</a:t>
            </a:r>
          </a:p>
          <a:p>
            <a:pPr>
              <a:defRPr sz="2000"/>
            </a:pPr>
            <a:r>
              <a:t>javascript</a:t>
            </a:r>
          </a:p>
          <a:p>
            <a:pPr>
              <a:defRPr sz="2000"/>
            </a:pPr>
            <a:r>
              <a:t>let fruits = ["apple", "banana"];</a:t>
            </a:r>
          </a:p>
          <a:p>
            <a:pPr>
              <a:defRPr sz="2000"/>
            </a:pPr>
            <a:r>
              <a:t>console.log(fruits.includes("apple")); // true</a:t>
            </a:r>
          </a:p>
          <a:p>
            <a:pPr>
              <a:defRPr sz="2000"/>
            </a:pPr>
            <a:r>
              <a:t>slice()</a:t>
            </a:r>
          </a:p>
          <a:p>
            <a:pPr>
              <a:defRPr sz="2000"/>
            </a:pPr>
            <a:r>
              <a:t>Returns part of an array without changing the original.</a:t>
            </a:r>
          </a:p>
          <a:p>
            <a:pPr>
              <a:defRPr sz="2000"/>
            </a:pPr>
            <a:r>
              <a:t>javascript</a:t>
            </a:r>
          </a:p>
          <a:p>
            <a:pPr>
              <a:defRPr sz="2000"/>
            </a:pPr>
            <a:r>
              <a:t>let fruits = ["apple", "banana", "mango", "grape"];</a:t>
            </a:r>
          </a:p>
          <a:p>
            <a:pPr>
              <a:defRPr sz="2000"/>
            </a:pPr>
            <a:r>
              <a:t>console.log(fruits.slice(1, 3)); // ["banana", "mango"]</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Looping through arrays</a:t>
            </a:r>
          </a:p>
        </p:txBody>
      </p:sp>
      <p:sp>
        <p:nvSpPr>
          <p:cNvPr id="3" name="Content Placeholder 2"/>
          <p:cNvSpPr>
            <a:spLocks noGrp="1"/>
          </p:cNvSpPr>
          <p:nvPr>
            <p:ph idx="1"/>
          </p:nvPr>
        </p:nvSpPr>
        <p:spPr/>
        <p:txBody>
          <a:bodyPr>
            <a:normAutofit fontScale="70000" lnSpcReduction="20000"/>
          </a:bodyPr>
          <a:lstStyle/>
          <a:p>
            <a:pPr>
              <a:defRPr sz="2000"/>
            </a:pPr>
            <a:r>
              <a:t>javascript</a:t>
            </a:r>
          </a:p>
          <a:p>
            <a:pPr>
              <a:defRPr sz="2000"/>
            </a:pPr>
            <a:r>
              <a:t>let fruits = ["apple", "banana", "mango"];</a:t>
            </a:r>
          </a:p>
          <a:p>
            <a:pPr>
              <a:defRPr sz="2000"/>
            </a:pPr>
            <a:r>
              <a:t>for (let i = 0; i &lt; fruits.length; i++) {</a:t>
            </a:r>
          </a:p>
          <a:p>
            <a:pPr>
              <a:defRPr sz="2000"/>
            </a:pPr>
            <a:r>
              <a:t>console.log(fruits[i]);</a:t>
            </a:r>
          </a:p>
          <a:p>
            <a:pPr>
              <a:defRPr sz="2000"/>
            </a:pPr>
            <a:r>
              <a:t>}</a:t>
            </a:r>
          </a:p>
          <a:p>
            <a:pPr>
              <a:defRPr sz="2000"/>
            </a:pPr>
            <a:r>
              <a:t>You can also use for...of:</a:t>
            </a:r>
          </a:p>
          <a:p>
            <a:pPr>
              <a:defRPr sz="2000"/>
            </a:pPr>
            <a:r>
              <a:t>javascript</a:t>
            </a:r>
          </a:p>
          <a:p>
            <a:pPr>
              <a:defRPr sz="2000"/>
            </a:pPr>
            <a:r>
              <a:t>for (let fruit of fruits) {</a:t>
            </a:r>
          </a:p>
          <a:p>
            <a:pPr>
              <a:defRPr sz="2000"/>
            </a:pPr>
            <a:r>
              <a:t>console.log(fruit);</a:t>
            </a:r>
          </a:p>
          <a:p>
            <a:pPr>
              <a:defRPr sz="2000"/>
            </a:pPr>
            <a:r>
              <a: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Looping through arrays (cont.)</a:t>
            </a:r>
          </a:p>
        </p:txBody>
      </p:sp>
      <p:sp>
        <p:nvSpPr>
          <p:cNvPr id="3" name="Content Placeholder 2"/>
          <p:cNvSpPr>
            <a:spLocks noGrp="1"/>
          </p:cNvSpPr>
          <p:nvPr>
            <p:ph idx="1"/>
          </p:nvPr>
        </p:nvSpPr>
        <p:spPr/>
        <p:txBody>
          <a:bodyPr/>
          <a:lstStyle/>
          <a:p>
            <a:pPr>
              <a:defRPr sz="2000"/>
            </a:pPr>
            <a:r>
              <a:t>This is often simpler and easier to read.</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Arrays vs strings</a:t>
            </a:r>
          </a:p>
        </p:txBody>
      </p:sp>
      <p:sp>
        <p:nvSpPr>
          <p:cNvPr id="3" name="Content Placeholder 2"/>
          <p:cNvSpPr>
            <a:spLocks noGrp="1"/>
          </p:cNvSpPr>
          <p:nvPr>
            <p:ph idx="1"/>
          </p:nvPr>
        </p:nvSpPr>
        <p:spPr/>
        <p:txBody>
          <a:bodyPr>
            <a:normAutofit lnSpcReduction="10000"/>
          </a:bodyPr>
          <a:lstStyle/>
          <a:p>
            <a:pPr>
              <a:defRPr sz="2000"/>
            </a:pPr>
            <a:r>
              <a:rPr dirty="0"/>
              <a:t>A string is text.</a:t>
            </a:r>
          </a:p>
          <a:p>
            <a:pPr>
              <a:defRPr sz="2000"/>
            </a:pPr>
            <a:r>
              <a:rPr dirty="0"/>
              <a:t>An array is a list of values.</a:t>
            </a:r>
          </a:p>
          <a:p>
            <a:pPr>
              <a:defRPr sz="2000"/>
            </a:pPr>
            <a:r>
              <a:rPr dirty="0"/>
              <a:t>Example:</a:t>
            </a:r>
          </a:p>
          <a:p>
            <a:pPr>
              <a:defRPr sz="2000"/>
            </a:pPr>
            <a:r>
              <a:rPr dirty="0" err="1"/>
              <a:t>javascript</a:t>
            </a:r>
            <a:endParaRPr dirty="0"/>
          </a:p>
          <a:p>
            <a:pPr>
              <a:defRPr sz="2000"/>
            </a:pPr>
            <a:r>
              <a:rPr dirty="0"/>
              <a:t>let word = "hello";</a:t>
            </a:r>
          </a:p>
          <a:p>
            <a:pPr>
              <a:defRPr sz="2000"/>
            </a:pPr>
            <a:r>
              <a:rPr dirty="0"/>
              <a:t>let letters = ["h", "e", "l", "l", "o"];</a:t>
            </a:r>
          </a:p>
          <a:p>
            <a:pPr>
              <a:defRPr sz="2000"/>
            </a:pPr>
            <a:r>
              <a:rPr dirty="0"/>
              <a:t>A string is usually treated as one text value, while an array can hold multiple separate items.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example</a:t>
            </a:r>
          </a:p>
        </p:txBody>
      </p:sp>
      <p:sp>
        <p:nvSpPr>
          <p:cNvPr id="3" name="Content Placeholder 2"/>
          <p:cNvSpPr>
            <a:spLocks noGrp="1"/>
          </p:cNvSpPr>
          <p:nvPr>
            <p:ph idx="1"/>
          </p:nvPr>
        </p:nvSpPr>
        <p:spPr/>
        <p:txBody>
          <a:bodyPr>
            <a:normAutofit fontScale="85000" lnSpcReduction="20000"/>
          </a:bodyPr>
          <a:lstStyle/>
          <a:p>
            <a:pPr>
              <a:defRPr sz="2000"/>
            </a:pPr>
            <a:r>
              <a:t>javascript</a:t>
            </a:r>
          </a:p>
          <a:p>
            <a:pPr>
              <a:defRPr sz="2000"/>
            </a:pPr>
            <a:r>
              <a:t>let name = "Asha";</a:t>
            </a:r>
          </a:p>
          <a:p>
            <a:pPr>
              <a:defRPr sz="2000"/>
            </a:pPr>
            <a:r>
              <a:t>let hobbies = ["reading", "music", "coding"];</a:t>
            </a:r>
          </a:p>
          <a:p>
            <a:pPr>
              <a:defRPr sz="2000"/>
            </a:pPr>
            <a:r>
              <a:t>let intro = `My name is ${name}.`;</a:t>
            </a:r>
          </a:p>
          <a:p>
            <a:pPr>
              <a:defRPr sz="2000"/>
            </a:pPr>
            <a:r>
              <a:t>console.log(intro);</a:t>
            </a:r>
          </a:p>
          <a:p>
            <a:pPr>
              <a:defRPr sz="2000"/>
            </a:pPr>
            <a:r>
              <a:t>console.log(hobbies[0]); // reading</a:t>
            </a:r>
          </a:p>
          <a:p>
            <a:pPr>
              <a:defRPr sz="2000"/>
            </a:pPr>
            <a:r>
              <a:t>hobbies.push("traveling");</a:t>
            </a:r>
          </a:p>
          <a:p>
            <a:pPr>
              <a:defRPr sz="2000"/>
            </a:pPr>
            <a:r>
              <a:t>console.log(hobbies);</a:t>
            </a:r>
          </a:p>
          <a:p>
            <a:pPr>
              <a:defRPr sz="2000"/>
            </a:pPr>
            <a:r>
              <a:t>This example shows how strings and arrays are often used together.</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Easy way to remember</a:t>
            </a:r>
          </a:p>
        </p:txBody>
      </p:sp>
      <p:sp>
        <p:nvSpPr>
          <p:cNvPr id="3" name="Content Placeholder 2"/>
          <p:cNvSpPr>
            <a:spLocks noGrp="1"/>
          </p:cNvSpPr>
          <p:nvPr>
            <p:ph idx="1"/>
          </p:nvPr>
        </p:nvSpPr>
        <p:spPr/>
        <p:txBody>
          <a:bodyPr/>
          <a:lstStyle/>
          <a:p>
            <a:pPr>
              <a:defRPr sz="2000"/>
            </a:pPr>
            <a:r>
              <a:rPr dirty="0"/>
              <a:t>Strings store text.</a:t>
            </a:r>
          </a:p>
          <a:p>
            <a:pPr>
              <a:defRPr sz="2000"/>
            </a:pPr>
            <a:r>
              <a:rPr dirty="0"/>
              <a:t>Template literals make strings easier to build.</a:t>
            </a:r>
          </a:p>
          <a:p>
            <a:pPr>
              <a:defRPr sz="2000"/>
            </a:pPr>
            <a:r>
              <a:rPr dirty="0"/>
              <a:t>Arrays store lists of values.</a:t>
            </a:r>
          </a:p>
        </p:txBody>
      </p:sp>
    </p:spTree>
  </p:cSld>
  <p:clrMapOvr>
    <a:masterClrMapping/>
  </p:clrMapOvr>
</p:sld>
</file>

<file path=ppt/theme/theme1.xml><?xml version="1.0" encoding="utf-8"?>
<a:theme xmlns:a="http://schemas.openxmlformats.org/drawingml/2006/main" name="ABC Final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BC Final Theme" id="{671380DE-0F6A-48AA-BCBD-DD1332E66760}" vid="{BFD2BD10-29C3-40AA-8AC4-FE51644B68EC}"/>
    </a:ext>
  </a:extLst>
</a:theme>
</file>

<file path=docProps/app.xml><?xml version="1.0" encoding="utf-8"?>
<Properties xmlns="http://schemas.openxmlformats.org/officeDocument/2006/extended-properties" xmlns:vt="http://schemas.openxmlformats.org/officeDocument/2006/docPropsVTypes">
  <Template>ABC Final Theme</Template>
  <TotalTime>902</TotalTime>
  <Words>4581</Words>
  <Application>Microsoft Office PowerPoint</Application>
  <PresentationFormat>Widescreen</PresentationFormat>
  <Paragraphs>711</Paragraphs>
  <Slides>93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93</vt:i4>
      </vt:variant>
    </vt:vector>
  </HeadingPairs>
  <TitlesOfParts>
    <vt:vector size="99" baseType="lpstr">
      <vt:lpstr>Arial</vt:lpstr>
      <vt:lpstr>Calibri</vt:lpstr>
      <vt:lpstr>IBM Plex Sans</vt:lpstr>
      <vt:lpstr>Quicksand</vt:lpstr>
      <vt:lpstr>Wingdings</vt:lpstr>
      <vt:lpstr>ABC Final Theme</vt:lpstr>
      <vt:lpstr>JavaScript</vt:lpstr>
      <vt:lpstr>What is JavaScript?</vt:lpstr>
      <vt:lpstr>What JavaScript does</vt:lpstr>
      <vt:lpstr>What JavaScript does (cont.)</vt:lpstr>
      <vt:lpstr>Where JavaScript runs</vt:lpstr>
      <vt:lpstr>Basic syntax</vt:lpstr>
      <vt:lpstr>How to add JavaScript to a page</vt:lpstr>
      <vt:lpstr>A simple interaction example</vt:lpstr>
      <vt:lpstr>A simple interaction example (cont.)</vt:lpstr>
      <vt:lpstr>Important features of JavaScript</vt:lpstr>
      <vt:lpstr>JavaScript in the development stack</vt:lpstr>
      <vt:lpstr>JavaScript in the development stack (cont.)</vt:lpstr>
      <vt:lpstr>Common uses</vt:lpstr>
      <vt:lpstr>Console and debugging</vt:lpstr>
      <vt:lpstr>Beginner-friendly idea to remember</vt:lpstr>
      <vt:lpstr>Mini example</vt:lpstr>
      <vt:lpstr>Mini example (cont.)</vt:lpstr>
      <vt:lpstr>What is a variable?</vt:lpstr>
      <vt:lpstr>var</vt:lpstr>
      <vt:lpstr>var (cont.)</vt:lpstr>
      <vt:lpstr>var (cont.)</vt:lpstr>
      <vt:lpstr>let</vt:lpstr>
      <vt:lpstr>let (cont.)</vt:lpstr>
      <vt:lpstr>let (cont.)</vt:lpstr>
      <vt:lpstr>const</vt:lpstr>
      <vt:lpstr>const (cont.)</vt:lpstr>
      <vt:lpstr>const (cont.)</vt:lpstr>
      <vt:lpstr>Important note about objects and arrays with const</vt:lpstr>
      <vt:lpstr>Important note about objects and arrays with const (cont.)</vt:lpstr>
      <vt:lpstr>Scope comparison</vt:lpstr>
      <vt:lpstr>Scope comparison (cont.)</vt:lpstr>
      <vt:lpstr>Hoisting behavior</vt:lpstr>
      <vt:lpstr>Hoisting behavior (cont.)</vt:lpstr>
      <vt:lpstr>Which one should you use?</vt:lpstr>
      <vt:lpstr>Simple example</vt:lpstr>
      <vt:lpstr>Summary idea</vt:lpstr>
      <vt:lpstr>Primitive data types</vt:lpstr>
      <vt:lpstr>2. Number</vt:lpstr>
      <vt:lpstr>3. BigInt</vt:lpstr>
      <vt:lpstr>4. Boolean</vt:lpstr>
      <vt:lpstr>5. Undefined</vt:lpstr>
      <vt:lpstr>6. Null</vt:lpstr>
      <vt:lpstr>7. Symbol</vt:lpstr>
      <vt:lpstr>Non-primitive data types</vt:lpstr>
      <vt:lpstr>2. Array</vt:lpstr>
      <vt:lpstr>3. Function</vt:lpstr>
      <vt:lpstr>Type checking</vt:lpstr>
      <vt:lpstr>Type checking (cont.)</vt:lpstr>
      <vt:lpstr>Primitive vs reference behavior</vt:lpstr>
      <vt:lpstr>Primitive vs reference behavior (cont.)</vt:lpstr>
      <vt:lpstr>Commonly used data types</vt:lpstr>
      <vt:lpstr>Simple example</vt:lpstr>
      <vt:lpstr>Simple example (cont.)</vt:lpstr>
      <vt:lpstr>Easy way to remember</vt:lpstr>
      <vt:lpstr>1. Arithmetic operators</vt:lpstr>
      <vt:lpstr>1. Arithmetic operators (cont.)</vt:lpstr>
      <vt:lpstr>2. Assignment operators</vt:lpstr>
      <vt:lpstr>2. Assignment operators (cont.)</vt:lpstr>
      <vt:lpstr>3. Comparison operators</vt:lpstr>
      <vt:lpstr>3. Comparison operators (cont.)</vt:lpstr>
      <vt:lpstr>4. Logical operators</vt:lpstr>
      <vt:lpstr>4. Logical operators (cont.)</vt:lpstr>
      <vt:lpstr>5. Unary operators</vt:lpstr>
      <vt:lpstr>5. Unary operators (cont.)</vt:lpstr>
      <vt:lpstr>6. String operators</vt:lpstr>
      <vt:lpstr>7. Ternary operator</vt:lpstr>
      <vt:lpstr>8. Type operators</vt:lpstr>
      <vt:lpstr>9. Nullish coalescing operator</vt:lpstr>
      <vt:lpstr>10. Optional chaining operator</vt:lpstr>
      <vt:lpstr>11. Bitwise operators</vt:lpstr>
      <vt:lpstr>11. Bitwise operators (cont.)</vt:lpstr>
      <vt:lpstr>12. Spread and rest operator usage</vt:lpstr>
      <vt:lpstr>12. Spread and rest operator usage (cont.)</vt:lpstr>
      <vt:lpstr>Common operator groups summary</vt:lpstr>
      <vt:lpstr>Simple example</vt:lpstr>
      <vt:lpstr>Best practice</vt:lpstr>
      <vt:lpstr>Best practice (cont.)</vt:lpstr>
      <vt:lpstr>Best practice (cont.)</vt:lpstr>
      <vt:lpstr>Best practice (cont.)</vt:lpstr>
      <vt:lpstr>Template Literals</vt:lpstr>
      <vt:lpstr>Template Literals (cont.)</vt:lpstr>
      <vt:lpstr>Template Literals (cont.)</vt:lpstr>
      <vt:lpstr>Arrays</vt:lpstr>
      <vt:lpstr>Arrays (cont.)</vt:lpstr>
      <vt:lpstr>Common array methods</vt:lpstr>
      <vt:lpstr>Common array methods (cont.)</vt:lpstr>
      <vt:lpstr>Common array methods (cont.)</vt:lpstr>
      <vt:lpstr>Common array methods (cont.)</vt:lpstr>
      <vt:lpstr>Looping through arrays</vt:lpstr>
      <vt:lpstr>Looping through arrays (cont.)</vt:lpstr>
      <vt:lpstr>Arrays vs strings</vt:lpstr>
      <vt:lpstr>Simple example</vt:lpstr>
      <vt:lpstr>Easy way to remember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Rakesh Kr</cp:lastModifiedBy>
  <cp:revision>13</cp:revision>
  <dcterms:created xsi:type="dcterms:W3CDTF">2013-01-27T09:14:16Z</dcterms:created>
  <dcterms:modified xsi:type="dcterms:W3CDTF">2026-08-12T08:00:05Z</dcterms:modified>
  <cp:category/>
</cp:coreProperties>
</file>