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4" r:id="rId17"/>
    <p:sldId id="275" r:id="rId18"/>
    <p:sldId id="276" r:id="rId19"/>
    <p:sldId id="277" r:id="rId20"/>
    <p:sldId id="279" r:id="rId21"/>
    <p:sldId id="280" r:id="rId22"/>
    <p:sldId id="281" r:id="rId23"/>
    <p:sldId id="282" r:id="rId24"/>
    <p:sldId id="283" r:id="rId25"/>
    <p:sldId id="284" r:id="rId26"/>
    <p:sldId id="285" r:id="rId27"/>
    <p:sldId id="286" r:id="rId28"/>
    <p:sldId id="287" r:id="rId29"/>
    <p:sldId id="288" r:id="rId30"/>
    <p:sldId id="289" r:id="rId31"/>
    <p:sldId id="292" r:id="rId32"/>
    <p:sldId id="293" r:id="rId33"/>
    <p:sldId id="294" r:id="rId34"/>
    <p:sldId id="295" r:id="rId35"/>
    <p:sldId id="297" r:id="rId36"/>
    <p:sldId id="299" r:id="rId37"/>
    <p:sldId id="30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8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44E5-7EA9-A00F-222A-D4EFD78DEFF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dirty="0"/>
          </a:p>
        </p:txBody>
      </p:sp>
      <p:sp>
        <p:nvSpPr>
          <p:cNvPr id="3" name="Subtitle 2">
            <a:extLst>
              <a:ext uri="{FF2B5EF4-FFF2-40B4-BE49-F238E27FC236}">
                <a16:creationId xmlns:a16="http://schemas.microsoft.com/office/drawing/2014/main" id="{C4F15C68-2B3F-571A-7DF0-7D84C2B52030}"/>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24CA8-D6DB-E063-9105-674BE4F57875}"/>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A2B9F916-4B1C-3D95-33C8-9363A83D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3C38B-70AE-5980-A3CD-A4ECE0FE48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411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B496-8638-954D-4D09-C97F3AC8E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CEC1-09D0-ABCF-EC32-672B8E2C1C72}"/>
              </a:ext>
            </a:extLst>
          </p:cNvPr>
          <p:cNvSpPr>
            <a:spLocks noGrp="1"/>
          </p:cNvSpPr>
          <p:nvPr>
            <p:ph idx="1"/>
          </p:nvPr>
        </p:nvSpPr>
        <p:spPr>
          <a:xfrm>
            <a:off x="628650" y="1825625"/>
            <a:ext cx="7886700" cy="4351338"/>
          </a:xfrm>
          <a:prstGeom prst="roundRect">
            <a:avLst>
              <a:gd name="adj" fmla="val 4177"/>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72C83-063E-4D70-4E31-94AF42721228}"/>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8531F97A-D64B-7236-A706-E42180251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059C3-F302-3320-7EC0-1110229FD35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56863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03E3-9AC9-6E4D-2CA7-E9B5F60664B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B9BBAA-7735-4006-4526-51F26B538BD3}"/>
              </a:ext>
            </a:extLst>
          </p:cNvPr>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325614-D125-39B8-FA07-FF17A1E77635}"/>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2801BEE3-EE59-8FAC-294A-B32FAE563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334F7-18E4-AD6F-99B3-E81880B243D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670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4CF3-3D4D-C273-8CCD-5EAD909597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A1182B-98E8-AA42-1A59-7EFEA90A808C}"/>
              </a:ext>
            </a:extLst>
          </p:cNvPr>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18EEEB-B32D-8CC9-16A6-554B5027B912}"/>
              </a:ext>
            </a:extLst>
          </p:cNvPr>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0709EF-B791-2EEA-36E2-38104C124C91}"/>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a:extLst>
              <a:ext uri="{FF2B5EF4-FFF2-40B4-BE49-F238E27FC236}">
                <a16:creationId xmlns:a16="http://schemas.microsoft.com/office/drawing/2014/main" id="{5715842E-6F3A-A85B-6D53-65B5AE8C2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AEBD62-29A1-2911-ADF8-F8BCCA8032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4703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5427-74A9-5ED8-7773-0A9D0520D47F}"/>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BD954-6CF1-9CE6-CACF-455F6CC77E8C}"/>
              </a:ext>
            </a:extLst>
          </p:cNvPr>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8FDFA-E79B-681D-21E4-8E6CB44C9968}"/>
              </a:ext>
            </a:extLst>
          </p:cNvPr>
          <p:cNvSpPr>
            <a:spLocks noGrp="1"/>
          </p:cNvSpPr>
          <p:nvPr>
            <p:ph sz="half" idx="2"/>
          </p:nvPr>
        </p:nvSpPr>
        <p:spPr>
          <a:xfrm>
            <a:off x="629842"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421589-80D3-F4DE-2BF3-EF09A5477DAC}"/>
              </a:ext>
            </a:extLst>
          </p:cNvPr>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54D82-8EA7-380F-7522-B00F34C5AA0B}"/>
              </a:ext>
            </a:extLst>
          </p:cNvPr>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AFC3FA-8362-05F0-1E84-C69C84DCA3D7}"/>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a:extLst>
              <a:ext uri="{FF2B5EF4-FFF2-40B4-BE49-F238E27FC236}">
                <a16:creationId xmlns:a16="http://schemas.microsoft.com/office/drawing/2014/main" id="{E0F4058C-EFDC-73FA-7296-F85EE350D7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CFA4C7-97BF-BB6D-558A-3F9C45D2175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1552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3F998-5CFD-9FFA-739A-73D9D616D156}"/>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a:extLst>
              <a:ext uri="{FF2B5EF4-FFF2-40B4-BE49-F238E27FC236}">
                <a16:creationId xmlns:a16="http://schemas.microsoft.com/office/drawing/2014/main" id="{736F2A18-A0A1-3DF4-CA91-995A773C6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E8E93-DC20-D6E7-8A2C-80486A53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2487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D7E1B-3550-3840-CD6B-54BC1D478A7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4AA294-D019-64D6-420D-13887C448172}"/>
              </a:ext>
            </a:extLst>
          </p:cNvPr>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6530B7-90A7-3613-AC11-A4CB41AF5EBB}"/>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B3F1F35-E180-2D84-1260-3DD835132F61}"/>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a:extLst>
              <a:ext uri="{FF2B5EF4-FFF2-40B4-BE49-F238E27FC236}">
                <a16:creationId xmlns:a16="http://schemas.microsoft.com/office/drawing/2014/main" id="{7044B64A-BFA1-F5FA-CA69-5D81434A2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0EBEF-E358-2D3D-A2F9-B6EB3A1BF31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2016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52C4-2991-64A8-3E05-2F2A11D187E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B7D28-C3EE-DA99-F6DF-A1DC180A7EED}"/>
              </a:ext>
            </a:extLst>
          </p:cNvPr>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IN"/>
          </a:p>
        </p:txBody>
      </p:sp>
      <p:sp>
        <p:nvSpPr>
          <p:cNvPr id="4" name="Text Placeholder 3">
            <a:extLst>
              <a:ext uri="{FF2B5EF4-FFF2-40B4-BE49-F238E27FC236}">
                <a16:creationId xmlns:a16="http://schemas.microsoft.com/office/drawing/2014/main" id="{EE57CCCF-DEC8-7499-A7D2-878197E245C1}"/>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E9535CF-242A-22B4-F764-120A3371536C}"/>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a:extLst>
              <a:ext uri="{FF2B5EF4-FFF2-40B4-BE49-F238E27FC236}">
                <a16:creationId xmlns:a16="http://schemas.microsoft.com/office/drawing/2014/main" id="{696783F1-76D6-C1A9-D67F-2FB614073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694F2-6D19-29F7-3336-F3AE37B7757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696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C3A7F-4EF9-67FA-EE14-171F15FA0D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C73FB-80A5-F9CD-8920-45772AC4BF4C}"/>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95C18-2C1E-842B-417A-C5BB0492DE5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6DF08207-1CD2-27A0-E167-60E3A4037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D08D8-2F64-5C6E-959B-A18A7017F48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5176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9B0B3-0B63-BDB9-ED7B-5690C538CD16}"/>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7BFFE-AAD6-8C50-43D9-A990F6256133}"/>
              </a:ext>
            </a:extLst>
          </p:cNvPr>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AC6E2-04DF-6DEE-3397-2F511BB8338B}"/>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EBFD5E37-2472-4004-E51E-65D6D8A00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BAC8-106B-CFB9-8D4B-11A9E7D753F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030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Only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AFC7-5A92-11DE-9403-A24DCCB904E8}"/>
              </a:ext>
            </a:extLst>
          </p:cNvPr>
          <p:cNvSpPr>
            <a:spLocks noGrp="1"/>
          </p:cNvSpPr>
          <p:nvPr>
            <p:ph type="title"/>
          </p:nvPr>
        </p:nvSpPr>
        <p:spPr>
          <a:xfrm>
            <a:off x="739715" y="1443518"/>
            <a:ext cx="7886700" cy="1325563"/>
          </a:xfrm>
        </p:spPr>
        <p:txBody>
          <a:bodyPr/>
          <a:lstStyle>
            <a:lvl1pPr>
              <a:defRPr b="1">
                <a:solidFill>
                  <a:schemeClr val="tx1"/>
                </a:solidFill>
                <a:latin typeface="Quicksand" pitchFamily="2" charset="0"/>
              </a:defRPr>
            </a:lvl1pPr>
          </a:lstStyle>
          <a:p>
            <a:r>
              <a:rPr lang="en-US"/>
              <a:t>Click to edit Master title style</a:t>
            </a:r>
            <a:endParaRPr lang="en-IN" dirty="0"/>
          </a:p>
        </p:txBody>
      </p:sp>
      <p:sp>
        <p:nvSpPr>
          <p:cNvPr id="5" name="Slide Number Placeholder 4">
            <a:extLst>
              <a:ext uri="{FF2B5EF4-FFF2-40B4-BE49-F238E27FC236}">
                <a16:creationId xmlns:a16="http://schemas.microsoft.com/office/drawing/2014/main" id="{7415A780-312C-AC19-25E9-5A8A6C0B7D6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0063766"/>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ct">
            <a:extLst>
              <a:ext uri="{FF2B5EF4-FFF2-40B4-BE49-F238E27FC236}">
                <a16:creationId xmlns:a16="http://schemas.microsoft.com/office/drawing/2014/main" id="{1CEABFB7-0E55-6B42-07AC-811A73351439}"/>
              </a:ext>
            </a:extLst>
          </p:cNvPr>
          <p:cNvPicPr>
            <a:picLocks noChangeAspect="1"/>
          </p:cNvPicPr>
          <p:nvPr/>
        </p:nvPicPr>
        <p:blipFill rotWithShape="1">
          <a:blip r:embed="rId13">
            <a:alphaModFix/>
          </a:blip>
          <a:stretch/>
        </p:blipFill>
        <p:spPr>
          <a:xfrm>
            <a:off x="0" y="1"/>
            <a:ext cx="7950994" cy="1420273"/>
          </a:xfrm>
          <a:prstGeom prst="rect">
            <a:avLst/>
          </a:prstGeom>
        </p:spPr>
      </p:pic>
      <p:sp>
        <p:nvSpPr>
          <p:cNvPr id="2" name="Title Placeholder 1">
            <a:extLst>
              <a:ext uri="{FF2B5EF4-FFF2-40B4-BE49-F238E27FC236}">
                <a16:creationId xmlns:a16="http://schemas.microsoft.com/office/drawing/2014/main" id="{7B3DBBF8-B311-9293-FDF3-4A284D9FB72E}"/>
              </a:ext>
            </a:extLst>
          </p:cNvPr>
          <p:cNvSpPr>
            <a:spLocks noGrp="1"/>
          </p:cNvSpPr>
          <p:nvPr>
            <p:ph type="title"/>
          </p:nvPr>
        </p:nvSpPr>
        <p:spPr>
          <a:xfrm>
            <a:off x="318099" y="94711"/>
            <a:ext cx="78867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0C9F6C6-73A5-0E7A-7077-E131FC32C69A}"/>
              </a:ext>
            </a:extLst>
          </p:cNvPr>
          <p:cNvSpPr>
            <a:spLocks noGrp="1"/>
          </p:cNvSpPr>
          <p:nvPr>
            <p:ph type="body" idx="1"/>
          </p:nvPr>
        </p:nvSpPr>
        <p:spPr>
          <a:xfrm>
            <a:off x="628650" y="1825625"/>
            <a:ext cx="7886700" cy="4351338"/>
          </a:xfrm>
          <a:prstGeom prst="roundRect">
            <a:avLst>
              <a:gd name="adj" fmla="val 4177"/>
            </a:avLst>
          </a:prstGeom>
          <a:solidFill>
            <a:srgbClr val="DDE4F8"/>
          </a:solidFill>
        </p:spPr>
        <p:txBody>
          <a:bodyPr vert="horz" lIns="91440" tIns="45720" rIns="91440" bIns="45720" rtlCol="0" anchor="ctr">
            <a:norm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endParaRPr lang="en-IN" dirty="0"/>
          </a:p>
        </p:txBody>
      </p:sp>
      <p:sp>
        <p:nvSpPr>
          <p:cNvPr id="4" name="Date Placeholder 3">
            <a:extLst>
              <a:ext uri="{FF2B5EF4-FFF2-40B4-BE49-F238E27FC236}">
                <a16:creationId xmlns:a16="http://schemas.microsoft.com/office/drawing/2014/main" id="{20C7E770-D3AD-DCE7-4035-43C1F5E4930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DC1A65FE-6E8B-5A92-BCDE-6641812534D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337AEF-085A-A1E4-5D23-50EC9146D0A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pic>
        <p:nvPicPr>
          <p:cNvPr id="8" name="layoutShapeInnerChild1">
            <a:extLst>
              <a:ext uri="{FF2B5EF4-FFF2-40B4-BE49-F238E27FC236}">
                <a16:creationId xmlns:a16="http://schemas.microsoft.com/office/drawing/2014/main" id="{5DE74BB6-3FFA-3BBE-C247-88A534B93E63}"/>
              </a:ext>
            </a:extLst>
          </p:cNvPr>
          <p:cNvPicPr>
            <a:picLocks noChangeAspect="1"/>
          </p:cNvPicPr>
          <p:nvPr/>
        </p:nvPicPr>
        <p:blipFill rotWithShape="1">
          <a:blip r:embed="rId14">
            <a:alphaModFix/>
            <a:extLst>
              <a:ext uri="{899FBA48-7B2C-474C-B2AE-7FA3B76AA679}">
                <a14:useLocalDpi xmlns:a14="http://schemas.microsoft.com/office/drawing/2010/main" xmlns:p14="http://schemas.microsoft.com/office/powerpoint/2010/main" xmlns:asvg="http://schemas.microsoft.com/office/drawing/2016/SVG/main" xmlns:a16="http://schemas.microsoft.com/office/drawing/2014/main" xmlns="" val="0"/>
              </a:ext>
            </a:extLst>
          </a:blip>
          <a:srcRect t="-261" b="-261"/>
          <a:stretch/>
        </p:blipFill>
        <p:spPr>
          <a:xfrm>
            <a:off x="8807265" y="329184"/>
            <a:ext cx="336736" cy="897007"/>
          </a:xfrm>
          <a:prstGeom prst="rect">
            <a:avLst/>
          </a:prstGeom>
        </p:spPr>
      </p:pic>
    </p:spTree>
    <p:extLst>
      <p:ext uri="{BB962C8B-B14F-4D97-AF65-F5344CB8AC3E}">
        <p14:creationId xmlns:p14="http://schemas.microsoft.com/office/powerpoint/2010/main" val="38084028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bg/>
                                          </p:spTgt>
                                        </p:tgtEl>
                                        <p:attrNameLst>
                                          <p:attrName>style.visibility</p:attrName>
                                        </p:attrNameLst>
                                      </p:cBhvr>
                                      <p:to>
                                        <p:strVal val="visible"/>
                                      </p:to>
                                    </p:set>
                                    <p:animEffect transition="in" filter="fade">
                                      <p:cBhvr>
                                        <p:cTn id="26" dur="1000"/>
                                        <p:tgtEl>
                                          <p:spTgt spid="3">
                                            <p:bg/>
                                          </p:spTgt>
                                        </p:tgtEl>
                                      </p:cBhvr>
                                    </p:animEffect>
                                    <p:anim calcmode="lin" valueType="num">
                                      <p:cBhvr>
                                        <p:cTn id="27" dur="1000" fill="hold"/>
                                        <p:tgtEl>
                                          <p:spTgt spid="3">
                                            <p:bg/>
                                          </p:spTgt>
                                        </p:tgtEl>
                                        <p:attrNameLst>
                                          <p:attrName>ppt_x</p:attrName>
                                        </p:attrNameLst>
                                      </p:cBhvr>
                                      <p:tavLst>
                                        <p:tav tm="0">
                                          <p:val>
                                            <p:strVal val="#ppt_x"/>
                                          </p:val>
                                        </p:tav>
                                        <p:tav tm="100000">
                                          <p:val>
                                            <p:strVal val="#ppt_x"/>
                                          </p:val>
                                        </p:tav>
                                      </p:tavLst>
                                    </p:anim>
                                    <p:anim calcmode="lin" valueType="num">
                                      <p:cBhvr>
                                        <p:cTn id="28"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1000"/>
                                        <p:tgtEl>
                                          <p:spTgt spid="3">
                                            <p:txEl>
                                              <p:pRg st="0" end="0"/>
                                            </p:txEl>
                                          </p:spTgt>
                                        </p:tgtEl>
                                      </p:cBhvr>
                                    </p:animEffect>
                                    <p:anim calcmode="lin" valueType="num">
                                      <p:cBhvr>
                                        <p:cTn id="3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1000"/>
                                        <p:tgtEl>
                                          <p:spTgt spid="3">
                                            <p:txEl>
                                              <p:pRg st="1" end="1"/>
                                            </p:txEl>
                                          </p:spTgt>
                                        </p:tgtEl>
                                      </p:cBhvr>
                                    </p:animEffect>
                                    <p:anim calcmode="lin" valueType="num">
                                      <p:cBhvr>
                                        <p:cTn id="4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1000"/>
                                        <p:tgtEl>
                                          <p:spTgt spid="3">
                                            <p:txEl>
                                              <p:pRg st="2" end="2"/>
                                            </p:txEl>
                                          </p:spTgt>
                                        </p:tgtEl>
                                      </p:cBhvr>
                                    </p:animEffect>
                                    <p:anim calcmode="lin" valueType="num">
                                      <p:cBhvr>
                                        <p:cTn id="4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1000"/>
                                        <p:tgtEl>
                                          <p:spTgt spid="3">
                                            <p:txEl>
                                              <p:pRg st="3" end="3"/>
                                            </p:txEl>
                                          </p:spTgt>
                                        </p:tgtEl>
                                      </p:cBhvr>
                                    </p:animEffect>
                                    <p:anim calcmode="lin" valueType="num">
                                      <p:cBhvr>
                                        <p:cTn id="5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fade">
                                      <p:cBhvr>
                                        <p:cTn id="61" dur="1000"/>
                                        <p:tgtEl>
                                          <p:spTgt spid="3">
                                            <p:txEl>
                                              <p:pRg st="4" end="4"/>
                                            </p:txEl>
                                          </p:spTgt>
                                        </p:tgtEl>
                                      </p:cBhvr>
                                    </p:animEffect>
                                    <p:anim calcmode="lin" valueType="num">
                                      <p:cBhvr>
                                        <p:cTn id="6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uiExpand="1"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8" grpId="0"/>
    </p:bldLst>
  </p:timing>
  <p:txStyles>
    <p:titleStyle>
      <a:lvl1pPr algn="l" defTabSz="685800" rtl="0" eaLnBrk="1" latinLnBrk="0" hangingPunct="1">
        <a:lnSpc>
          <a:spcPct val="90000"/>
        </a:lnSpc>
        <a:spcBef>
          <a:spcPct val="0"/>
        </a:spcBef>
        <a:buNone/>
        <a:defRPr sz="3300" b="1" kern="1200">
          <a:solidFill>
            <a:schemeClr val="bg1"/>
          </a:solidFill>
          <a:latin typeface="Quicksand" pitchFamily="2" charset="0"/>
          <a:ea typeface="+mj-ea"/>
          <a:cs typeface="+mj-cs"/>
        </a:defRPr>
      </a:lvl1pPr>
    </p:titleStyle>
    <p:bodyStyle>
      <a:lvl1pPr marL="601266" indent="-171450" algn="l" defTabSz="685800" rtl="0" eaLnBrk="1" latinLnBrk="0" hangingPunct="1">
        <a:lnSpc>
          <a:spcPct val="150000"/>
        </a:lnSpc>
        <a:spcBef>
          <a:spcPts val="750"/>
        </a:spcBef>
        <a:buClr>
          <a:srgbClr val="204ECF"/>
        </a:buClr>
        <a:buFontTx/>
        <a:buChar char="●"/>
        <a:tabLst>
          <a:tab pos="271463" algn="l"/>
          <a:tab pos="336947" algn="l"/>
        </a:tabLst>
        <a:defRPr sz="1500" b="1" kern="1200">
          <a:solidFill>
            <a:schemeClr val="tx1"/>
          </a:solidFill>
          <a:latin typeface="Quicksand" pitchFamily="2" charset="0"/>
          <a:ea typeface="+mn-ea"/>
          <a:cs typeface="+mn-cs"/>
        </a:defRPr>
      </a:lvl1pPr>
      <a:lvl2pPr marL="944166" indent="-171450" algn="l" defTabSz="685800" rtl="0" eaLnBrk="1" latinLnBrk="0" hangingPunct="1">
        <a:lnSpc>
          <a:spcPct val="150000"/>
        </a:lnSpc>
        <a:spcBef>
          <a:spcPts val="375"/>
        </a:spcBef>
        <a:buClr>
          <a:srgbClr val="204ECF"/>
        </a:buClr>
        <a:buFontTx/>
        <a:buChar char="●"/>
        <a:tabLst>
          <a:tab pos="271463" algn="l"/>
          <a:tab pos="336947" algn="l"/>
        </a:tabLst>
        <a:defRPr sz="1500" kern="1200">
          <a:solidFill>
            <a:schemeClr val="tx1"/>
          </a:solidFill>
          <a:latin typeface="IBM Plex Sans" panose="020B0503050203000203" pitchFamily="34" charset="0"/>
          <a:ea typeface="+mn-ea"/>
          <a:cs typeface="+mn-cs"/>
        </a:defRPr>
      </a:lvl2pPr>
      <a:lvl3pPr marL="1210866" indent="-171450" algn="l" defTabSz="685800" rtl="0" eaLnBrk="1" latinLnBrk="0" hangingPunct="1">
        <a:lnSpc>
          <a:spcPct val="150000"/>
        </a:lnSpc>
        <a:spcBef>
          <a:spcPts val="375"/>
        </a:spcBef>
        <a:buClr>
          <a:srgbClr val="204ECF"/>
        </a:buClr>
        <a:buFontTx/>
        <a:buChar char="●"/>
        <a:tabLst>
          <a:tab pos="271463" algn="l"/>
          <a:tab pos="336947" algn="l"/>
        </a:tabLst>
        <a:defRPr sz="1500" kern="1200">
          <a:solidFill>
            <a:schemeClr val="tx1"/>
          </a:solidFill>
          <a:latin typeface="IBM Plex Sans" panose="020B0503050203000203" pitchFamily="34" charset="0"/>
          <a:ea typeface="+mn-ea"/>
          <a:cs typeface="+mn-cs"/>
        </a:defRPr>
      </a:lvl3pPr>
      <a:lvl4pPr marL="1413272" indent="-171450" algn="l" defTabSz="685800" rtl="0" eaLnBrk="1" latinLnBrk="0" hangingPunct="1">
        <a:lnSpc>
          <a:spcPct val="150000"/>
        </a:lnSpc>
        <a:spcBef>
          <a:spcPts val="375"/>
        </a:spcBef>
        <a:buClr>
          <a:srgbClr val="204ECF"/>
        </a:buClr>
        <a:buFontTx/>
        <a:buChar char="●"/>
        <a:tabLst>
          <a:tab pos="271463" algn="l"/>
          <a:tab pos="336947" algn="l"/>
        </a:tabLst>
        <a:defRPr sz="1500" kern="1200">
          <a:solidFill>
            <a:schemeClr val="tx1"/>
          </a:solidFill>
          <a:latin typeface="IBM Plex Sans" panose="020B0503050203000203" pitchFamily="34" charset="0"/>
          <a:ea typeface="+mn-ea"/>
          <a:cs typeface="+mn-cs"/>
        </a:defRPr>
      </a:lvl4pPr>
      <a:lvl5pPr marL="1616869" indent="-171450" algn="l" defTabSz="685800" rtl="0" eaLnBrk="1" latinLnBrk="0" hangingPunct="1">
        <a:lnSpc>
          <a:spcPct val="150000"/>
        </a:lnSpc>
        <a:spcBef>
          <a:spcPts val="375"/>
        </a:spcBef>
        <a:buClr>
          <a:srgbClr val="204ECF"/>
        </a:buClr>
        <a:buFontTx/>
        <a:buChar char="●"/>
        <a:tabLst>
          <a:tab pos="271463" algn="l"/>
          <a:tab pos="336947" algn="l"/>
        </a:tabLst>
        <a:defRPr sz="1500" kern="1200">
          <a:solidFill>
            <a:schemeClr val="tx1"/>
          </a:solidFill>
          <a:latin typeface="IBM Plex Sans" panose="020B050305020300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tx1"/>
                </a:solidFill>
              </a:rPr>
              <a:t>React Forms</a:t>
            </a:r>
          </a:p>
        </p:txBody>
      </p:sp>
      <p:sp>
        <p:nvSpPr>
          <p:cNvPr id="3" name="Subtitle 2"/>
          <p:cNvSpPr>
            <a:spLocks noGrp="1"/>
          </p:cNvSpPr>
          <p:nvPr>
            <p:ph type="subTitle" idx="1"/>
          </p:nvPr>
        </p:nvSpPr>
        <p:spPr/>
        <p:txBody>
          <a:bodyPr/>
          <a:lstStyle/>
          <a:p>
            <a:r>
              <a:t>Forms, input handling, validation and common patterns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Overview of React Forms</a:t>
            </a:r>
          </a:p>
        </p:txBody>
      </p:sp>
      <p:sp>
        <p:nvSpPr>
          <p:cNvPr id="3" name="Content Placeholder 2"/>
          <p:cNvSpPr>
            <a:spLocks noGrp="1"/>
          </p:cNvSpPr>
          <p:nvPr>
            <p:ph idx="1"/>
          </p:nvPr>
        </p:nvSpPr>
        <p:spPr/>
        <p:txBody>
          <a:bodyPr/>
          <a:lstStyle/>
          <a:p>
            <a:r>
              <a:t>React forms collect user input such as text, selections and files.</a:t>
            </a:r>
          </a:p>
          <a:p>
            <a:r>
              <a:t>Inputs can be controlled by React state so the UI reflects the current state.</a:t>
            </a:r>
          </a:p>
          <a:p>
            <a:r>
              <a:t>This supports validation, conditional logic and dynamic behavior.</a:t>
            </a:r>
          </a:p>
          <a:p>
            <a:r>
              <a:t>React forms can be built using controlled or uncontrolled components.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Overview of React Forms</a:t>
            </a:r>
          </a:p>
        </p:txBody>
      </p:sp>
      <p:sp>
        <p:nvSpPr>
          <p:cNvPr id="3" name="Content Placeholder 2"/>
          <p:cNvSpPr>
            <a:spLocks noGrp="1"/>
          </p:cNvSpPr>
          <p:nvPr>
            <p:ph idx="1"/>
          </p:nvPr>
        </p:nvSpPr>
        <p:spPr/>
        <p:txBody>
          <a:bodyPr/>
          <a:lstStyle/>
          <a:p>
            <a:r>
              <a:rPr dirty="0"/>
              <a:t>In React, forms are used to collect user input (text, selections, files, etc.) and handle submission. The key idea is that form inputs can be controlled by React state, so the UI always reflects the current state and vice versa. This makes validation, conditional logic, and dynamic behavior easier to implement.</a:t>
            </a:r>
          </a:p>
          <a:p>
            <a:r>
              <a:rPr dirty="0"/>
              <a:t>React forms can be built in two main styles:</a:t>
            </a:r>
          </a:p>
          <a:p>
            <a:pPr lvl="1"/>
            <a:r>
              <a:rPr dirty="0"/>
              <a:t>Controlled components (recommended for most cases)</a:t>
            </a:r>
          </a:p>
          <a:p>
            <a:pPr lvl="1"/>
            <a:r>
              <a:rPr dirty="0"/>
              <a:t>Uncontrolled components (closer to traditional HTML forms)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Controlled components</a:t>
            </a:r>
          </a:p>
        </p:txBody>
      </p:sp>
      <p:sp>
        <p:nvSpPr>
          <p:cNvPr id="3" name="Content Placeholder 2"/>
          <p:cNvSpPr>
            <a:spLocks noGrp="1"/>
          </p:cNvSpPr>
          <p:nvPr>
            <p:ph idx="1"/>
          </p:nvPr>
        </p:nvSpPr>
        <p:spPr/>
        <p:txBody>
          <a:bodyPr>
            <a:normAutofit fontScale="92500" lnSpcReduction="20000"/>
          </a:bodyPr>
          <a:lstStyle/>
          <a:p>
            <a:r>
              <a:rPr dirty="0"/>
              <a:t>In a controlled component, the input’s value is driven by React state.</a:t>
            </a:r>
          </a:p>
          <a:p>
            <a:r>
              <a:rPr dirty="0"/>
              <a:t>The value attribute of the input is set from state.</a:t>
            </a:r>
          </a:p>
          <a:p>
            <a:r>
              <a:rPr dirty="0"/>
              <a:t>The </a:t>
            </a:r>
            <a:r>
              <a:rPr dirty="0" err="1"/>
              <a:t>onChange</a:t>
            </a:r>
            <a:r>
              <a:rPr dirty="0"/>
              <a:t> handler updates that state.</a:t>
            </a:r>
          </a:p>
          <a:p>
            <a:r>
              <a:rPr dirty="0"/>
              <a:t>React is the “single source of truth” for the input’s value.</a:t>
            </a:r>
          </a:p>
          <a:p>
            <a:r>
              <a:rPr dirty="0"/>
              <a:t>Advantages:</a:t>
            </a:r>
          </a:p>
          <a:p>
            <a:pPr lvl="1"/>
            <a:r>
              <a:rPr dirty="0"/>
              <a:t>Instant access to the current value in state.</a:t>
            </a:r>
          </a:p>
          <a:p>
            <a:pPr lvl="1"/>
            <a:r>
              <a:rPr dirty="0"/>
              <a:t>Easy to implement validation, conditional enabling/disabling, and dynamic UI.</a:t>
            </a:r>
          </a:p>
          <a:p>
            <a:pPr lvl="1"/>
            <a:r>
              <a:rPr dirty="0"/>
              <a:t>Consistent with how the rest of your React app manages data.</a:t>
            </a:r>
          </a:p>
          <a:p>
            <a:r>
              <a:rPr dirty="0"/>
              <a:t>Disadvantages:</a:t>
            </a:r>
          </a:p>
          <a:p>
            <a:pPr lvl="1"/>
            <a:r>
              <a:rPr dirty="0"/>
              <a:t>Slightly more code for simple forms.</a:t>
            </a:r>
          </a:p>
          <a:p>
            <a:pPr lvl="1"/>
            <a:r>
              <a:rPr dirty="0"/>
              <a:t>Every keystroke triggers a state update and re-render (usually fine, but </a:t>
            </a:r>
            <a:br>
              <a:rPr lang="en-US" dirty="0"/>
            </a:br>
            <a:r>
              <a:rPr dirty="0"/>
              <a:t>can matter for very large forms).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Uncontrolled components</a:t>
            </a:r>
          </a:p>
        </p:txBody>
      </p:sp>
      <p:sp>
        <p:nvSpPr>
          <p:cNvPr id="3" name="Content Placeholder 2"/>
          <p:cNvSpPr>
            <a:spLocks noGrp="1"/>
          </p:cNvSpPr>
          <p:nvPr>
            <p:ph idx="1"/>
          </p:nvPr>
        </p:nvSpPr>
        <p:spPr/>
        <p:txBody>
          <a:bodyPr>
            <a:normAutofit/>
          </a:bodyPr>
          <a:lstStyle/>
          <a:p>
            <a:r>
              <a:rPr dirty="0"/>
              <a:t>In an uncontrolled component, the DOM manages the input’s state, and you read the value when needed (usually on submit) via a ref.</a:t>
            </a:r>
          </a:p>
          <a:p>
            <a:r>
              <a:rPr dirty="0"/>
              <a:t>Advantages:</a:t>
            </a:r>
          </a:p>
          <a:p>
            <a:pPr lvl="1"/>
            <a:r>
              <a:rPr dirty="0"/>
              <a:t>Less code for very simple forms.</a:t>
            </a:r>
          </a:p>
          <a:p>
            <a:pPr lvl="1"/>
            <a:r>
              <a:rPr dirty="0"/>
              <a:t>Closer to how non-React forms work.</a:t>
            </a:r>
          </a:p>
          <a:p>
            <a:r>
              <a:rPr dirty="0"/>
              <a:t>Disadvantages:</a:t>
            </a:r>
          </a:p>
          <a:p>
            <a:pPr lvl="1"/>
            <a:r>
              <a:rPr dirty="0"/>
              <a:t>Harder to validate or react to changes in real time.</a:t>
            </a:r>
          </a:p>
          <a:p>
            <a:pPr lvl="1"/>
            <a:r>
              <a:rPr dirty="0"/>
              <a:t>Mixing React and DOM state can get confusing in larger forms.</a:t>
            </a:r>
          </a:p>
          <a:p>
            <a:pPr lvl="1"/>
            <a:r>
              <a:rPr dirty="0"/>
              <a:t>In most React applications, controlled components are preferred.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Text inputs and </a:t>
            </a:r>
            <a:r>
              <a:rPr dirty="0" err="1"/>
              <a:t>textareas</a:t>
            </a:r>
            <a:endParaRPr dirty="0"/>
          </a:p>
        </p:txBody>
      </p:sp>
      <p:sp>
        <p:nvSpPr>
          <p:cNvPr id="3" name="Content Placeholder 2"/>
          <p:cNvSpPr>
            <a:spLocks noGrp="1"/>
          </p:cNvSpPr>
          <p:nvPr>
            <p:ph idx="1"/>
          </p:nvPr>
        </p:nvSpPr>
        <p:spPr/>
        <p:txBody>
          <a:bodyPr/>
          <a:lstStyle/>
          <a:p>
            <a:r>
              <a:rPr dirty="0"/>
              <a:t>Text inputs and </a:t>
            </a:r>
            <a:r>
              <a:rPr dirty="0" err="1"/>
              <a:t>textareas</a:t>
            </a:r>
            <a:r>
              <a:rPr dirty="0"/>
              <a:t> are handled similarly:</a:t>
            </a:r>
          </a:p>
          <a:p>
            <a:r>
              <a:rPr dirty="0"/>
              <a:t>&lt;input</a:t>
            </a:r>
            <a:r>
              <a:rPr lang="en-US" dirty="0"/>
              <a:t> </a:t>
            </a:r>
            <a:r>
              <a:rPr dirty="0"/>
              <a:t>type="text"</a:t>
            </a:r>
            <a:r>
              <a:rPr lang="en-US" dirty="0"/>
              <a:t> /</a:t>
            </a:r>
            <a:r>
              <a:rPr dirty="0"/>
              <a:t>&gt;</a:t>
            </a:r>
          </a:p>
          <a:p>
            <a:r>
              <a:rPr dirty="0"/>
              <a:t>&lt;</a:t>
            </a:r>
            <a:r>
              <a:rPr dirty="0" err="1"/>
              <a:t>textarea</a:t>
            </a:r>
            <a:r>
              <a:rPr dirty="0"/>
              <a:t>/&gt;</a:t>
            </a:r>
          </a:p>
          <a:p>
            <a:r>
              <a:rPr dirty="0"/>
              <a:t>For multiline text, </a:t>
            </a:r>
            <a:r>
              <a:rPr dirty="0" err="1"/>
              <a:t>textarea</a:t>
            </a:r>
            <a:r>
              <a:rPr dirty="0"/>
              <a:t> uses value (not children) in React.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Checkboxes</a:t>
            </a:r>
          </a:p>
        </p:txBody>
      </p:sp>
      <p:sp>
        <p:nvSpPr>
          <p:cNvPr id="3" name="Content Placeholder 2"/>
          <p:cNvSpPr>
            <a:spLocks noGrp="1"/>
          </p:cNvSpPr>
          <p:nvPr>
            <p:ph idx="1"/>
          </p:nvPr>
        </p:nvSpPr>
        <p:spPr/>
        <p:txBody>
          <a:bodyPr/>
          <a:lstStyle/>
          <a:p>
            <a:r>
              <a:rPr dirty="0"/>
              <a:t>Checkboxes use a </a:t>
            </a:r>
            <a:r>
              <a:rPr dirty="0" err="1"/>
              <a:t>boolean</a:t>
            </a:r>
            <a:r>
              <a:rPr dirty="0"/>
              <a:t> state:</a:t>
            </a:r>
          </a:p>
          <a:p>
            <a:pPr lvl="1"/>
            <a:r>
              <a:rPr dirty="0"/>
              <a:t>&lt;label&gt;</a:t>
            </a:r>
          </a:p>
          <a:p>
            <a:pPr lvl="1"/>
            <a:r>
              <a:rPr dirty="0"/>
              <a:t>&lt;input</a:t>
            </a:r>
          </a:p>
          <a:p>
            <a:pPr lvl="1"/>
            <a:r>
              <a:rPr dirty="0"/>
              <a:t>type="checkbox"</a:t>
            </a:r>
          </a:p>
          <a:p>
            <a:pPr lvl="1"/>
            <a:r>
              <a:rPr dirty="0"/>
              <a:t>/&gt;</a:t>
            </a:r>
          </a:p>
          <a:p>
            <a:pPr lvl="1"/>
            <a:r>
              <a:rPr dirty="0"/>
              <a:t>I agree to the terms</a:t>
            </a:r>
          </a:p>
          <a:p>
            <a:pPr lvl="1"/>
            <a:r>
              <a:rPr dirty="0"/>
              <a:t>&lt;/label&gt;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Radio buttons</a:t>
            </a:r>
          </a:p>
        </p:txBody>
      </p:sp>
      <p:sp>
        <p:nvSpPr>
          <p:cNvPr id="3" name="Content Placeholder 2"/>
          <p:cNvSpPr>
            <a:spLocks noGrp="1"/>
          </p:cNvSpPr>
          <p:nvPr>
            <p:ph idx="1"/>
          </p:nvPr>
        </p:nvSpPr>
        <p:spPr/>
        <p:txBody>
          <a:bodyPr>
            <a:normAutofit fontScale="62500" lnSpcReduction="20000"/>
          </a:bodyPr>
          <a:lstStyle/>
          <a:p>
            <a:r>
              <a:rPr dirty="0"/>
              <a:t>Radio groups share a single state value:</a:t>
            </a:r>
          </a:p>
          <a:p>
            <a:pPr marL="772716" lvl="1" indent="0">
              <a:buNone/>
            </a:pPr>
            <a:r>
              <a:rPr dirty="0"/>
              <a:t>&lt;label&gt;</a:t>
            </a:r>
          </a:p>
          <a:p>
            <a:pPr marL="1039416" lvl="2" indent="0">
              <a:buNone/>
            </a:pPr>
            <a:r>
              <a:rPr dirty="0"/>
              <a:t>&lt;input</a:t>
            </a:r>
          </a:p>
          <a:p>
            <a:pPr marL="1039416" lvl="2" indent="0">
              <a:buNone/>
            </a:pPr>
            <a:r>
              <a:rPr dirty="0"/>
              <a:t>type="radio"</a:t>
            </a:r>
          </a:p>
          <a:p>
            <a:pPr marL="1039416" lvl="2" indent="0">
              <a:buNone/>
            </a:pPr>
            <a:r>
              <a:rPr dirty="0"/>
              <a:t>name="plan"</a:t>
            </a:r>
          </a:p>
          <a:p>
            <a:pPr marL="1039416" lvl="2" indent="0">
              <a:buNone/>
            </a:pPr>
            <a:r>
              <a:rPr dirty="0"/>
              <a:t>value="free"</a:t>
            </a:r>
          </a:p>
          <a:p>
            <a:pPr marL="1039416" lvl="2" indent="0">
              <a:buNone/>
            </a:pPr>
            <a:r>
              <a:rPr dirty="0"/>
              <a:t>/&gt;</a:t>
            </a:r>
          </a:p>
          <a:p>
            <a:pPr marL="1039416" lvl="2" indent="0">
              <a:buNone/>
            </a:pPr>
            <a:r>
              <a:rPr dirty="0"/>
              <a:t>Free</a:t>
            </a:r>
          </a:p>
          <a:p>
            <a:pPr marL="1039416" lvl="2" indent="0">
              <a:buNone/>
            </a:pPr>
            <a:r>
              <a:rPr dirty="0"/>
              <a:t>&lt;/label&gt;</a:t>
            </a:r>
          </a:p>
          <a:p>
            <a:pPr marL="1039416" lvl="2" indent="0">
              <a:buNone/>
            </a:pPr>
            <a:r>
              <a:rPr dirty="0"/>
              <a:t>&lt;label&gt;</a:t>
            </a:r>
          </a:p>
          <a:p>
            <a:pPr marL="1039416" lvl="2" indent="0">
              <a:buNone/>
            </a:pPr>
            <a:r>
              <a:rPr dirty="0"/>
              <a:t>&lt;input</a:t>
            </a:r>
          </a:p>
          <a:p>
            <a:pPr marL="1039416" lvl="2" indent="0">
              <a:buNone/>
            </a:pPr>
            <a:r>
              <a:rPr dirty="0"/>
              <a:t>type="radio"</a:t>
            </a:r>
          </a:p>
          <a:p>
            <a:pPr marL="1039416" lvl="2" indent="0">
              <a:buNone/>
            </a:pPr>
            <a:r>
              <a:rPr dirty="0"/>
              <a:t>name="plan"</a:t>
            </a:r>
          </a:p>
          <a:p>
            <a:pPr marL="1039416" lvl="2" indent="0">
              <a:buNone/>
            </a:pPr>
            <a:r>
              <a:rPr dirty="0"/>
              <a:t>value="pro"</a:t>
            </a:r>
          </a:p>
          <a:p>
            <a:pPr marL="1039416" lvl="2" indent="0">
              <a:buNone/>
            </a:pPr>
            <a:r>
              <a:rPr dirty="0"/>
              <a:t>/&gt;</a:t>
            </a:r>
          </a:p>
          <a:p>
            <a:pPr marL="1039416" lvl="2" indent="0">
              <a:buNone/>
            </a:pPr>
            <a:r>
              <a:rPr dirty="0"/>
              <a:t>Pro</a:t>
            </a:r>
          </a:p>
          <a:p>
            <a:pPr marL="772716" lvl="1" indent="0">
              <a:buNone/>
            </a:pPr>
            <a:r>
              <a:rPr dirty="0"/>
              <a:t>&lt;/label&gt;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Select (dropdowns)</a:t>
            </a:r>
          </a:p>
        </p:txBody>
      </p:sp>
      <p:sp>
        <p:nvSpPr>
          <p:cNvPr id="3" name="Content Placeholder 2"/>
          <p:cNvSpPr>
            <a:spLocks noGrp="1"/>
          </p:cNvSpPr>
          <p:nvPr>
            <p:ph idx="1"/>
          </p:nvPr>
        </p:nvSpPr>
        <p:spPr/>
        <p:txBody>
          <a:bodyPr>
            <a:normAutofit fontScale="62500" lnSpcReduction="20000"/>
          </a:bodyPr>
          <a:lstStyle/>
          <a:p>
            <a:r>
              <a:rPr dirty="0"/>
              <a:t>Single select:</a:t>
            </a:r>
          </a:p>
          <a:p>
            <a:pPr lvl="1"/>
            <a:r>
              <a:rPr dirty="0"/>
              <a:t>&lt;option value=""&gt;Select a country&lt;/option&gt;</a:t>
            </a:r>
          </a:p>
          <a:p>
            <a:pPr lvl="1"/>
            <a:r>
              <a:rPr dirty="0"/>
              <a:t>&lt;option value="in"&gt;India&lt;/option&gt;</a:t>
            </a:r>
          </a:p>
          <a:p>
            <a:pPr lvl="1"/>
            <a:r>
              <a:rPr dirty="0"/>
              <a:t>&lt;option value="us"&gt;USA&lt;/option&gt;</a:t>
            </a:r>
          </a:p>
          <a:p>
            <a:pPr lvl="1"/>
            <a:r>
              <a:rPr dirty="0"/>
              <a:t>&lt;option value="</a:t>
            </a:r>
            <a:r>
              <a:rPr dirty="0" err="1"/>
              <a:t>uk</a:t>
            </a:r>
            <a:r>
              <a:rPr dirty="0"/>
              <a:t>"&gt;UK&lt;/option&gt;</a:t>
            </a:r>
          </a:p>
          <a:p>
            <a:pPr lvl="1"/>
            <a:r>
              <a:rPr dirty="0"/>
              <a:t>&lt;/select&gt;</a:t>
            </a:r>
          </a:p>
          <a:p>
            <a:pPr lvl="1"/>
            <a:r>
              <a:rPr dirty="0"/>
              <a:t>Multiple select:</a:t>
            </a:r>
          </a:p>
          <a:p>
            <a:pPr lvl="1"/>
            <a:r>
              <a:rPr dirty="0"/>
              <a:t>&lt;select</a:t>
            </a:r>
          </a:p>
          <a:p>
            <a:pPr lvl="1"/>
            <a:r>
              <a:rPr dirty="0"/>
              <a:t>multiple</a:t>
            </a:r>
          </a:p>
          <a:p>
            <a:pPr lvl="1"/>
            <a:r>
              <a:rPr dirty="0" err="1"/>
              <a:t>setLanguages</a:t>
            </a:r>
            <a:r>
              <a:rPr dirty="0"/>
              <a:t>(</a:t>
            </a:r>
          </a:p>
          <a:p>
            <a:pPr lvl="1"/>
            <a:r>
              <a:rPr dirty="0" err="1"/>
              <a:t>Array.from</a:t>
            </a:r>
            <a:r>
              <a:rPr dirty="0"/>
              <a:t>(</a:t>
            </a:r>
            <a:r>
              <a:rPr dirty="0" err="1"/>
              <a:t>e.target.selectedOptions</a:t>
            </a:r>
            <a:r>
              <a:rPr dirty="0"/>
              <a:t>, (opt) =&gt; </a:t>
            </a:r>
            <a:r>
              <a:rPr dirty="0" err="1"/>
              <a:t>opt.value</a:t>
            </a:r>
            <a:r>
              <a:rPr dirty="0"/>
              <a:t>)</a:t>
            </a:r>
          </a:p>
          <a:p>
            <a:pPr lvl="1"/>
            <a:r>
              <a:rPr dirty="0"/>
              <a:t>)</a:t>
            </a:r>
            <a:r>
              <a:rPr lang="en-US" dirty="0"/>
              <a:t> </a:t>
            </a:r>
            <a:r>
              <a:rPr dirty="0"/>
              <a:t>}</a:t>
            </a:r>
            <a:r>
              <a:rPr lang="en-US" dirty="0"/>
              <a:t> </a:t>
            </a:r>
            <a:r>
              <a:rPr dirty="0"/>
              <a:t>&gt;</a:t>
            </a:r>
          </a:p>
          <a:p>
            <a:pPr lvl="1"/>
            <a:r>
              <a:rPr dirty="0"/>
              <a:t>&lt;option value="</a:t>
            </a:r>
            <a:r>
              <a:rPr dirty="0" err="1"/>
              <a:t>js</a:t>
            </a:r>
            <a:r>
              <a:rPr dirty="0"/>
              <a:t>"&gt;JavaScript&lt;/option&gt;</a:t>
            </a:r>
          </a:p>
          <a:p>
            <a:pPr lvl="1"/>
            <a:r>
              <a:rPr dirty="0"/>
              <a:t>&lt;option value="</a:t>
            </a:r>
            <a:r>
              <a:rPr dirty="0" err="1"/>
              <a:t>py</a:t>
            </a:r>
            <a:r>
              <a:rPr dirty="0"/>
              <a:t>"&gt;Python&lt;/option&gt;</a:t>
            </a:r>
          </a:p>
          <a:p>
            <a:pPr lvl="1"/>
            <a:r>
              <a:rPr dirty="0"/>
              <a:t>&lt;option value="java"&gt;Java&lt;/option&gt;</a:t>
            </a:r>
          </a:p>
          <a:p>
            <a:pPr lvl="1"/>
            <a:r>
              <a:rPr dirty="0"/>
              <a:t>&lt;/select&gt;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File inputs</a:t>
            </a:r>
          </a:p>
        </p:txBody>
      </p:sp>
      <p:sp>
        <p:nvSpPr>
          <p:cNvPr id="3" name="Content Placeholder 2"/>
          <p:cNvSpPr>
            <a:spLocks noGrp="1"/>
          </p:cNvSpPr>
          <p:nvPr>
            <p:ph idx="1"/>
          </p:nvPr>
        </p:nvSpPr>
        <p:spPr/>
        <p:txBody>
          <a:bodyPr/>
          <a:lstStyle/>
          <a:p>
            <a:r>
              <a:rPr dirty="0"/>
              <a:t>File inputs are usually uncontrolled because their value is read-only:</a:t>
            </a:r>
          </a:p>
          <a:p>
            <a:pPr lvl="1"/>
            <a:r>
              <a:rPr dirty="0" err="1"/>
              <a:t>setFile</a:t>
            </a:r>
            <a:r>
              <a:rPr dirty="0"/>
              <a:t>(selected);</a:t>
            </a:r>
          </a:p>
          <a:p>
            <a:r>
              <a:rPr dirty="0"/>
              <a:t>You then use file (a File object) for uploads or previews.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Handling Form Submission</a:t>
            </a:r>
          </a:p>
        </p:txBody>
      </p:sp>
      <p:sp>
        <p:nvSpPr>
          <p:cNvPr id="3" name="Content Placeholder 2"/>
          <p:cNvSpPr>
            <a:spLocks noGrp="1"/>
          </p:cNvSpPr>
          <p:nvPr>
            <p:ph idx="1"/>
          </p:nvPr>
        </p:nvSpPr>
        <p:spPr/>
        <p:txBody>
          <a:bodyPr>
            <a:normAutofit/>
          </a:bodyPr>
          <a:lstStyle/>
          <a:p>
            <a:r>
              <a:rPr dirty="0"/>
              <a:t>The form’s </a:t>
            </a:r>
            <a:r>
              <a:rPr dirty="0" err="1"/>
              <a:t>onSubmit</a:t>
            </a:r>
            <a:r>
              <a:rPr dirty="0"/>
              <a:t> handler is where you:</a:t>
            </a:r>
          </a:p>
          <a:p>
            <a:r>
              <a:rPr dirty="0"/>
              <a:t>Prevent default browser submission</a:t>
            </a:r>
          </a:p>
          <a:p>
            <a:r>
              <a:rPr dirty="0"/>
              <a:t>Validate data</a:t>
            </a:r>
          </a:p>
          <a:p>
            <a:r>
              <a:rPr dirty="0"/>
              <a:t>Send data to an API</a:t>
            </a:r>
          </a:p>
          <a:p>
            <a:r>
              <a:rPr dirty="0"/>
              <a:t>Show success/error states</a:t>
            </a:r>
          </a:p>
          <a:p>
            <a:r>
              <a:rPr dirty="0"/>
              <a:t>Basic pattern:</a:t>
            </a:r>
          </a:p>
          <a:p>
            <a:r>
              <a:rPr dirty="0" err="1"/>
              <a:t>event.preventDefault</a:t>
            </a:r>
            <a:r>
              <a:rPr dirty="0"/>
              <a:t>(); // stop page reload</a:t>
            </a:r>
          </a:p>
          <a:p>
            <a:r>
              <a:rPr dirty="0"/>
              <a:t>// validate and submit</a:t>
            </a:r>
          </a:p>
          <a:p>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Built-in HTML5 validation</a:t>
            </a:r>
          </a:p>
        </p:txBody>
      </p:sp>
      <p:sp>
        <p:nvSpPr>
          <p:cNvPr id="3" name="Content Placeholder 2"/>
          <p:cNvSpPr>
            <a:spLocks noGrp="1"/>
          </p:cNvSpPr>
          <p:nvPr>
            <p:ph idx="1"/>
          </p:nvPr>
        </p:nvSpPr>
        <p:spPr/>
        <p:txBody>
          <a:bodyPr>
            <a:normAutofit fontScale="92500"/>
          </a:bodyPr>
          <a:lstStyle/>
          <a:p>
            <a:r>
              <a:rPr dirty="0"/>
              <a:t>You can rely on HTML5 attributes:</a:t>
            </a:r>
          </a:p>
          <a:p>
            <a:r>
              <a:rPr dirty="0"/>
              <a:t>required</a:t>
            </a:r>
          </a:p>
          <a:p>
            <a:r>
              <a:rPr dirty="0"/>
              <a:t>type="email", type="number", etc.</a:t>
            </a:r>
          </a:p>
          <a:p>
            <a:r>
              <a:rPr dirty="0"/>
              <a:t>min, max, </a:t>
            </a:r>
            <a:r>
              <a:rPr dirty="0" err="1"/>
              <a:t>minLength</a:t>
            </a:r>
            <a:r>
              <a:rPr dirty="0"/>
              <a:t>, </a:t>
            </a:r>
            <a:r>
              <a:rPr dirty="0" err="1"/>
              <a:t>maxLength</a:t>
            </a:r>
            <a:r>
              <a:rPr dirty="0"/>
              <a:t>, pattern</a:t>
            </a:r>
          </a:p>
          <a:p>
            <a:r>
              <a:rPr dirty="0"/>
              <a:t>Example:</a:t>
            </a:r>
          </a:p>
          <a:p>
            <a:r>
              <a:rPr dirty="0"/>
              <a:t>&lt;input</a:t>
            </a:r>
          </a:p>
          <a:p>
            <a:r>
              <a:rPr dirty="0"/>
              <a:t>type="email"</a:t>
            </a:r>
          </a:p>
          <a:p>
            <a:r>
              <a:rPr dirty="0"/>
              <a:t>required</a:t>
            </a:r>
          </a:p>
          <a:p>
            <a:r>
              <a:rPr dirty="0"/>
              <a:t>/&gt;</a:t>
            </a:r>
          </a:p>
          <a:p>
            <a:r>
              <a:rPr dirty="0"/>
              <a:t>React will let the browser handle basic validation and show native messages.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Custom validation in controlled components</a:t>
            </a:r>
          </a:p>
        </p:txBody>
      </p:sp>
      <p:sp>
        <p:nvSpPr>
          <p:cNvPr id="3" name="Content Placeholder 2"/>
          <p:cNvSpPr>
            <a:spLocks noGrp="1"/>
          </p:cNvSpPr>
          <p:nvPr>
            <p:ph idx="1"/>
          </p:nvPr>
        </p:nvSpPr>
        <p:spPr/>
        <p:txBody>
          <a:bodyPr>
            <a:normAutofit fontScale="77500" lnSpcReduction="20000"/>
          </a:bodyPr>
          <a:lstStyle/>
          <a:p>
            <a:r>
              <a:rPr dirty="0"/>
              <a:t>For more control, validate in your </a:t>
            </a:r>
            <a:r>
              <a:rPr dirty="0" err="1"/>
              <a:t>onChange</a:t>
            </a:r>
            <a:r>
              <a:rPr dirty="0"/>
              <a:t> or </a:t>
            </a:r>
            <a:r>
              <a:rPr dirty="0" err="1"/>
              <a:t>onSubmit</a:t>
            </a:r>
            <a:r>
              <a:rPr dirty="0"/>
              <a:t>:</a:t>
            </a:r>
          </a:p>
          <a:p>
            <a:r>
              <a:rPr dirty="0"/>
              <a:t>}</a:t>
            </a:r>
          </a:p>
          <a:p>
            <a:r>
              <a:rPr dirty="0" err="1"/>
              <a:t>setEmail</a:t>
            </a:r>
            <a:r>
              <a:rPr dirty="0"/>
              <a:t>(value);</a:t>
            </a:r>
          </a:p>
          <a:p>
            <a:r>
              <a:rPr dirty="0" err="1"/>
              <a:t>setError</a:t>
            </a:r>
            <a:r>
              <a:rPr dirty="0"/>
              <a:t>(</a:t>
            </a:r>
            <a:r>
              <a:rPr dirty="0" err="1"/>
              <a:t>validateEmail</a:t>
            </a:r>
            <a:r>
              <a:rPr dirty="0"/>
              <a:t>(value));</a:t>
            </a:r>
          </a:p>
          <a:p>
            <a:r>
              <a:rPr dirty="0"/>
              <a:t>}</a:t>
            </a:r>
          </a:p>
          <a:p>
            <a:r>
              <a:rPr dirty="0" err="1"/>
              <a:t>e.preventDefault</a:t>
            </a:r>
            <a:r>
              <a:rPr dirty="0"/>
              <a:t>();</a:t>
            </a:r>
          </a:p>
          <a:p>
            <a:r>
              <a:rPr dirty="0" err="1"/>
              <a:t>setError</a:t>
            </a:r>
            <a:r>
              <a:rPr dirty="0"/>
              <a:t>(</a:t>
            </a:r>
            <a:r>
              <a:rPr dirty="0" err="1"/>
              <a:t>validationError</a:t>
            </a:r>
            <a:r>
              <a:rPr dirty="0"/>
              <a:t>);</a:t>
            </a:r>
          </a:p>
          <a:p>
            <a:r>
              <a:rPr dirty="0"/>
              <a:t>}</a:t>
            </a:r>
          </a:p>
          <a:p>
            <a:r>
              <a:rPr dirty="0"/>
              <a:t>// proceed to submit</a:t>
            </a:r>
          </a:p>
          <a:p>
            <a:r>
              <a:rPr dirty="0"/>
              <a:t>}</a:t>
            </a:r>
          </a:p>
          <a:p>
            <a:r>
              <a:rPr dirty="0"/>
              <a:t>Render error messages conditionally:</a:t>
            </a:r>
          </a:p>
          <a:p>
            <a:r>
              <a:rPr dirty="0"/>
              <a:t>{error &amp;&amp; &lt;span style={{ color: "red" }}&gt;{error}&lt;/span&gt;}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Validation on submit vs real-time</a:t>
            </a:r>
          </a:p>
        </p:txBody>
      </p:sp>
      <p:sp>
        <p:nvSpPr>
          <p:cNvPr id="3" name="Content Placeholder 2"/>
          <p:cNvSpPr>
            <a:spLocks noGrp="1"/>
          </p:cNvSpPr>
          <p:nvPr>
            <p:ph idx="1"/>
          </p:nvPr>
        </p:nvSpPr>
        <p:spPr/>
        <p:txBody>
          <a:bodyPr/>
          <a:lstStyle/>
          <a:p>
            <a:r>
              <a:rPr dirty="0"/>
              <a:t>On submit: Validate everything when the user clicks submit. Simpler, but feedback comes later.</a:t>
            </a:r>
          </a:p>
          <a:p>
            <a:r>
              <a:rPr dirty="0"/>
              <a:t>Real-time (on change/blur): Validate as the user types or leaves a field. Better </a:t>
            </a:r>
            <a:r>
              <a:rPr dirty="0" err="1"/>
              <a:t>UX</a:t>
            </a:r>
            <a:r>
              <a:rPr dirty="0"/>
              <a:t>, but more code.</a:t>
            </a:r>
          </a:p>
          <a:p>
            <a:r>
              <a:rPr dirty="0"/>
              <a:t>A common pattern: validate on blur for each field and again on submit.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Separate state per field</a:t>
            </a:r>
          </a:p>
        </p:txBody>
      </p:sp>
      <p:sp>
        <p:nvSpPr>
          <p:cNvPr id="3" name="Content Placeholder 2"/>
          <p:cNvSpPr>
            <a:spLocks noGrp="1"/>
          </p:cNvSpPr>
          <p:nvPr>
            <p:ph idx="1"/>
          </p:nvPr>
        </p:nvSpPr>
        <p:spPr/>
        <p:txBody>
          <a:bodyPr/>
          <a:lstStyle/>
          <a:p>
            <a:r>
              <a:t>For small forms:</a:t>
            </a:r>
          </a:p>
          <a:p>
            <a:r>
              <a:t>This is clear but can get verbose.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Disabled submit button until valid</a:t>
            </a:r>
          </a:p>
        </p:txBody>
      </p:sp>
      <p:sp>
        <p:nvSpPr>
          <p:cNvPr id="3" name="Content Placeholder 2"/>
          <p:cNvSpPr>
            <a:spLocks noGrp="1"/>
          </p:cNvSpPr>
          <p:nvPr>
            <p:ph idx="1"/>
          </p:nvPr>
        </p:nvSpPr>
        <p:spPr/>
        <p:txBody>
          <a:bodyPr/>
          <a:lstStyle/>
          <a:p>
            <a:r>
              <a:rPr dirty="0"/>
              <a:t>&lt;button type="submit" disabled={!</a:t>
            </a:r>
            <a:r>
              <a:rPr dirty="0" err="1"/>
              <a:t>isValid</a:t>
            </a:r>
            <a:r>
              <a:rPr dirty="0"/>
              <a:t>}&gt;</a:t>
            </a:r>
          </a:p>
          <a:p>
            <a:r>
              <a:rPr dirty="0"/>
              <a:t>Submit</a:t>
            </a:r>
          </a:p>
          <a:p>
            <a:r>
              <a:rPr dirty="0"/>
              <a:t>&lt;/button&gt;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Conditional fields</a:t>
            </a:r>
          </a:p>
        </p:txBody>
      </p:sp>
      <p:sp>
        <p:nvSpPr>
          <p:cNvPr id="3" name="Content Placeholder 2"/>
          <p:cNvSpPr>
            <a:spLocks noGrp="1"/>
          </p:cNvSpPr>
          <p:nvPr>
            <p:ph idx="1"/>
          </p:nvPr>
        </p:nvSpPr>
        <p:spPr/>
        <p:txBody>
          <a:bodyPr>
            <a:normAutofit lnSpcReduction="10000"/>
          </a:bodyPr>
          <a:lstStyle/>
          <a:p>
            <a:r>
              <a:rPr dirty="0"/>
              <a:t>Show/hide fields based on other values:</a:t>
            </a:r>
          </a:p>
          <a:p>
            <a:r>
              <a:rPr dirty="0"/>
              <a:t>&lt;option value="free"&gt;Free&lt;/option&gt;</a:t>
            </a:r>
          </a:p>
          <a:p>
            <a:r>
              <a:rPr dirty="0"/>
              <a:t>&lt;option value="pro"&gt;Pro&lt;/option&gt;</a:t>
            </a:r>
          </a:p>
          <a:p>
            <a:r>
              <a:rPr dirty="0"/>
              <a:t>&lt;/select&gt;</a:t>
            </a:r>
          </a:p>
          <a:p>
            <a:r>
              <a:rPr dirty="0"/>
              <a:t>{plan === "pro" &amp;&amp; (</a:t>
            </a:r>
          </a:p>
          <a:p>
            <a:r>
              <a:rPr dirty="0"/>
              <a:t>&lt;input</a:t>
            </a:r>
          </a:p>
          <a:p>
            <a:r>
              <a:rPr dirty="0"/>
              <a:t>type="text"</a:t>
            </a:r>
          </a:p>
          <a:p>
            <a:r>
              <a:rPr dirty="0"/>
              <a:t>placeholder="Company name"</a:t>
            </a:r>
          </a:p>
          <a:p>
            <a:r>
              <a:rPr dirty="0"/>
              <a:t>/&gt;</a:t>
            </a:r>
          </a:p>
          <a:p>
            <a:r>
              <a:rPr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Resetting a form</a:t>
            </a:r>
          </a:p>
        </p:txBody>
      </p:sp>
      <p:sp>
        <p:nvSpPr>
          <p:cNvPr id="3" name="Content Placeholder 2"/>
          <p:cNvSpPr>
            <a:spLocks noGrp="1"/>
          </p:cNvSpPr>
          <p:nvPr>
            <p:ph idx="1"/>
          </p:nvPr>
        </p:nvSpPr>
        <p:spPr/>
        <p:txBody>
          <a:bodyPr>
            <a:normAutofit fontScale="92500" lnSpcReduction="20000"/>
          </a:bodyPr>
          <a:lstStyle/>
          <a:p>
            <a:r>
              <a:rPr dirty="0"/>
              <a:t>Controlled form reset:</a:t>
            </a:r>
          </a:p>
          <a:p>
            <a:r>
              <a:rPr dirty="0" err="1"/>
              <a:t>e.preventDefault</a:t>
            </a:r>
            <a:r>
              <a:rPr dirty="0"/>
              <a:t>();</a:t>
            </a:r>
          </a:p>
          <a:p>
            <a:r>
              <a:rPr dirty="0"/>
              <a:t>// submit...</a:t>
            </a:r>
          </a:p>
          <a:p>
            <a:r>
              <a:rPr dirty="0" err="1"/>
              <a:t>setForm</a:t>
            </a:r>
            <a:r>
              <a:rPr dirty="0"/>
              <a:t>(</a:t>
            </a:r>
            <a:r>
              <a:rPr dirty="0" err="1"/>
              <a:t>initialForm</a:t>
            </a:r>
            <a:r>
              <a:rPr dirty="0"/>
              <a:t>); // reset</a:t>
            </a:r>
          </a:p>
          <a:p>
            <a:r>
              <a:rPr dirty="0"/>
              <a:t>}</a:t>
            </a:r>
          </a:p>
          <a:p>
            <a:r>
              <a:rPr dirty="0"/>
              <a:t>Or using a ref to the form element:</a:t>
            </a:r>
          </a:p>
          <a:p>
            <a:r>
              <a:rPr dirty="0" err="1"/>
              <a:t>e.preventDefault</a:t>
            </a:r>
            <a:r>
              <a:rPr dirty="0"/>
              <a:t>();</a:t>
            </a:r>
          </a:p>
          <a:p>
            <a:r>
              <a:rPr dirty="0"/>
              <a:t>// submit...</a:t>
            </a:r>
          </a:p>
          <a:p>
            <a:r>
              <a:rPr dirty="0" err="1"/>
              <a:t>formRef.current.reset</a:t>
            </a:r>
            <a:r>
              <a:rPr dirty="0"/>
              <a:t>(); // resets uncontrolled inputs</a:t>
            </a:r>
          </a:p>
          <a:p>
            <a:r>
              <a:rPr dirty="0"/>
              <a:t>}</a:t>
            </a:r>
          </a:p>
          <a:p>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Accessibility and </a:t>
            </a:r>
            <a:r>
              <a:rPr dirty="0" err="1"/>
              <a:t>UX</a:t>
            </a:r>
            <a:r>
              <a:rPr dirty="0"/>
              <a:t> Considerations</a:t>
            </a:r>
          </a:p>
        </p:txBody>
      </p:sp>
      <p:sp>
        <p:nvSpPr>
          <p:cNvPr id="3" name="Content Placeholder 2"/>
          <p:cNvSpPr>
            <a:spLocks noGrp="1"/>
          </p:cNvSpPr>
          <p:nvPr>
            <p:ph idx="1"/>
          </p:nvPr>
        </p:nvSpPr>
        <p:spPr/>
        <p:txBody>
          <a:bodyPr>
            <a:normAutofit/>
          </a:bodyPr>
          <a:lstStyle/>
          <a:p>
            <a:r>
              <a:rPr dirty="0"/>
              <a:t>Use &lt;label&gt; elements linked to inputs via </a:t>
            </a:r>
            <a:r>
              <a:rPr dirty="0" err="1"/>
              <a:t>htmlFor</a:t>
            </a:r>
            <a:r>
              <a:rPr dirty="0"/>
              <a:t>/id or by wrapping inputs.</a:t>
            </a:r>
          </a:p>
          <a:p>
            <a:r>
              <a:rPr dirty="0"/>
              <a:t>Show clear error messages near the relevant fields.</a:t>
            </a:r>
          </a:p>
          <a:p>
            <a:r>
              <a:rPr dirty="0"/>
              <a:t>Use aria-invalid, aria-</a:t>
            </a:r>
            <a:r>
              <a:rPr dirty="0" err="1"/>
              <a:t>describedby</a:t>
            </a:r>
            <a:r>
              <a:rPr dirty="0"/>
              <a:t>, and related attributes for screen readers when showing validation errors.</a:t>
            </a:r>
          </a:p>
          <a:p>
            <a:r>
              <a:rPr dirty="0"/>
              <a:t>Ensure focus management: on error, move focus to the first invalid field or an error summary.</a:t>
            </a:r>
          </a:p>
          <a:p>
            <a:r>
              <a:rPr dirty="0"/>
              <a:t>Provide visible loading states during submission.</a:t>
            </a:r>
          </a:p>
          <a:p>
            <a:r>
              <a:rPr dirty="0"/>
              <a:t>Avoid losing user input on errors; keep filled values and only clear sensitive fields if needed.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tx1"/>
                </a:solidFill>
              </a:rPr>
              <a:t>React Hooks</a:t>
            </a:r>
          </a:p>
        </p:txBody>
      </p:sp>
      <p:sp>
        <p:nvSpPr>
          <p:cNvPr id="3" name="Subtitle 2"/>
          <p:cNvSpPr>
            <a:spLocks noGrp="1"/>
          </p:cNvSpPr>
          <p:nvPr>
            <p:ph type="subTitle" idx="1"/>
          </p:nvPr>
        </p:nvSpPr>
        <p:spPr/>
        <p:txBody>
          <a:bodyPr/>
          <a:lstStyle/>
          <a:p>
            <a:r>
              <a:rPr lang="en-US" dirty="0"/>
              <a:t>Applicable only for Function Components</a:t>
            </a:r>
          </a:p>
          <a:p>
            <a:r>
              <a:rPr dirty="0" err="1"/>
              <a:t>useState</a:t>
            </a:r>
            <a:r>
              <a:rPr dirty="0"/>
              <a:t>, </a:t>
            </a:r>
            <a:r>
              <a:rPr dirty="0" err="1"/>
              <a:t>useEffect</a:t>
            </a:r>
            <a:r>
              <a:rPr dirty="0"/>
              <a:t> and </a:t>
            </a:r>
            <a:r>
              <a:rPr dirty="0" err="1"/>
              <a:t>useContext</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Overview of React Hooks</a:t>
            </a:r>
          </a:p>
        </p:txBody>
      </p:sp>
      <p:sp>
        <p:nvSpPr>
          <p:cNvPr id="3" name="Content Placeholder 2"/>
          <p:cNvSpPr>
            <a:spLocks noGrp="1"/>
          </p:cNvSpPr>
          <p:nvPr>
            <p:ph idx="1"/>
          </p:nvPr>
        </p:nvSpPr>
        <p:spPr/>
        <p:txBody>
          <a:bodyPr/>
          <a:lstStyle/>
          <a:p>
            <a:r>
              <a:rPr dirty="0"/>
              <a:t>Hooks let functional components </a:t>
            </a:r>
            <a:r>
              <a:rPr dirty="0">
                <a:highlight>
                  <a:srgbClr val="FFFF00"/>
                </a:highlight>
              </a:rPr>
              <a:t>use state and other React features</a:t>
            </a:r>
            <a:r>
              <a:rPr dirty="0"/>
              <a:t>.</a:t>
            </a:r>
          </a:p>
          <a:p>
            <a:r>
              <a:rPr dirty="0"/>
              <a:t>They make components simpler and help </a:t>
            </a:r>
            <a:r>
              <a:rPr dirty="0">
                <a:highlight>
                  <a:srgbClr val="FFFF00"/>
                </a:highlight>
              </a:rPr>
              <a:t>organize reusable logic</a:t>
            </a:r>
            <a:r>
              <a:rPr dirty="0"/>
              <a:t>.</a:t>
            </a:r>
          </a:p>
          <a:p>
            <a:r>
              <a:rPr dirty="0" err="1"/>
              <a:t>useState</a:t>
            </a:r>
            <a:r>
              <a:rPr dirty="0"/>
              <a:t> handles local component state.</a:t>
            </a:r>
          </a:p>
          <a:p>
            <a:r>
              <a:rPr dirty="0" err="1"/>
              <a:t>useEffect</a:t>
            </a:r>
            <a:r>
              <a:rPr dirty="0"/>
              <a:t> handles side effects and lifecycle-like behavior.</a:t>
            </a:r>
          </a:p>
          <a:p>
            <a:r>
              <a:rPr dirty="0" err="1"/>
              <a:t>useContext</a:t>
            </a:r>
            <a:r>
              <a:rPr dirty="0"/>
              <a:t> shares values without prop drilling.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Overview of React Hooks</a:t>
            </a:r>
          </a:p>
        </p:txBody>
      </p:sp>
      <p:sp>
        <p:nvSpPr>
          <p:cNvPr id="3" name="Content Placeholder 2"/>
          <p:cNvSpPr>
            <a:spLocks noGrp="1"/>
          </p:cNvSpPr>
          <p:nvPr>
            <p:ph idx="1"/>
          </p:nvPr>
        </p:nvSpPr>
        <p:spPr/>
        <p:txBody>
          <a:bodyPr/>
          <a:lstStyle/>
          <a:p>
            <a:r>
              <a:rPr dirty="0"/>
              <a:t>React Hooks are functions that let you use state and other React features in functional components. Before hooks, only class components could hold state or use lifecycle methods. Hooks make it possible to write simpler, more reusable components while keeping logic organized.</a:t>
            </a:r>
          </a:p>
          <a:p>
            <a:r>
              <a:rPr dirty="0"/>
              <a:t>The three core hooks you asked about—</a:t>
            </a:r>
            <a:r>
              <a:rPr dirty="0" err="1"/>
              <a:t>useState</a:t>
            </a:r>
            <a:r>
              <a:rPr dirty="0"/>
              <a:t>, </a:t>
            </a:r>
            <a:r>
              <a:rPr dirty="0" err="1"/>
              <a:t>useEffect</a:t>
            </a:r>
            <a:r>
              <a:rPr dirty="0"/>
              <a:t>, and </a:t>
            </a:r>
            <a:r>
              <a:rPr dirty="0" err="1"/>
              <a:t>useContext</a:t>
            </a:r>
            <a:r>
              <a:rPr dirty="0"/>
              <a:t>—cover:</a:t>
            </a:r>
          </a:p>
          <a:p>
            <a:r>
              <a:rPr dirty="0"/>
              <a:t>Local component state (</a:t>
            </a:r>
            <a:r>
              <a:rPr dirty="0" err="1"/>
              <a:t>useState</a:t>
            </a:r>
            <a:r>
              <a:rPr dirty="0"/>
              <a:t>)</a:t>
            </a:r>
          </a:p>
          <a:p>
            <a:r>
              <a:rPr dirty="0"/>
              <a:t>Side effects and lifecycle-like behavior (</a:t>
            </a:r>
            <a:r>
              <a:rPr dirty="0" err="1"/>
              <a:t>useEffect</a:t>
            </a:r>
            <a:r>
              <a:rPr dirty="0"/>
              <a:t>)</a:t>
            </a:r>
          </a:p>
          <a:p>
            <a:r>
              <a:rPr dirty="0"/>
              <a:t>Global or shared state without prop drilling (</a:t>
            </a:r>
            <a:r>
              <a:rPr dirty="0" err="1"/>
              <a:t>useContext</a:t>
            </a:r>
            <a:r>
              <a:rPr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it does</a:t>
            </a:r>
          </a:p>
        </p:txBody>
      </p:sp>
      <p:sp>
        <p:nvSpPr>
          <p:cNvPr id="3" name="Content Placeholder 2"/>
          <p:cNvSpPr>
            <a:spLocks noGrp="1"/>
          </p:cNvSpPr>
          <p:nvPr>
            <p:ph idx="1"/>
          </p:nvPr>
        </p:nvSpPr>
        <p:spPr/>
        <p:txBody>
          <a:bodyPr/>
          <a:lstStyle/>
          <a:p>
            <a:r>
              <a:rPr dirty="0" err="1"/>
              <a:t>useState</a:t>
            </a:r>
            <a:r>
              <a:rPr dirty="0"/>
              <a:t> lets a functional component store and update local state. </a:t>
            </a:r>
            <a:endParaRPr lang="en-US" dirty="0"/>
          </a:p>
          <a:p>
            <a:r>
              <a:rPr dirty="0"/>
              <a:t>Each call to </a:t>
            </a:r>
            <a:r>
              <a:rPr dirty="0" err="1"/>
              <a:t>useState</a:t>
            </a:r>
            <a:r>
              <a:rPr dirty="0"/>
              <a:t> creates a piece of state that persists across </a:t>
            </a:r>
            <a:br>
              <a:rPr lang="en-US" dirty="0"/>
            </a:br>
            <a:r>
              <a:rPr dirty="0"/>
              <a:t>re-renders.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Basic syntax</a:t>
            </a:r>
          </a:p>
        </p:txBody>
      </p:sp>
      <p:sp>
        <p:nvSpPr>
          <p:cNvPr id="3" name="Content Placeholder 2"/>
          <p:cNvSpPr>
            <a:spLocks noGrp="1"/>
          </p:cNvSpPr>
          <p:nvPr>
            <p:ph idx="1"/>
          </p:nvPr>
        </p:nvSpPr>
        <p:spPr/>
        <p:txBody>
          <a:bodyPr/>
          <a:lstStyle/>
          <a:p>
            <a:r>
              <a:t>state: current value</a:t>
            </a:r>
          </a:p>
          <a:p>
            <a:r>
              <a:t>setState: function to update the value</a:t>
            </a:r>
          </a:p>
          <a:p>
            <a:r>
              <a:t>initialValue: initial state (can be a value or a function for lazy initialization)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Simple example</a:t>
            </a:r>
          </a:p>
        </p:txBody>
      </p:sp>
      <p:sp>
        <p:nvSpPr>
          <p:cNvPr id="3" name="Content Placeholder 2"/>
          <p:cNvSpPr>
            <a:spLocks noGrp="1"/>
          </p:cNvSpPr>
          <p:nvPr>
            <p:ph idx="1"/>
          </p:nvPr>
        </p:nvSpPr>
        <p:spPr/>
        <p:txBody>
          <a:bodyPr>
            <a:normAutofit fontScale="85000" lnSpcReduction="20000"/>
          </a:bodyPr>
          <a:lstStyle/>
          <a:p>
            <a:r>
              <a:rPr dirty="0"/>
              <a:t>&lt;div&gt;</a:t>
            </a:r>
          </a:p>
          <a:p>
            <a:r>
              <a:rPr dirty="0"/>
              <a:t>&lt;p&gt;Count: {count}&lt;/p&gt;</a:t>
            </a:r>
          </a:p>
          <a:p>
            <a:r>
              <a:rPr dirty="0"/>
              <a:t>&lt;button </a:t>
            </a:r>
            <a:r>
              <a:rPr dirty="0" err="1"/>
              <a:t>onClick</a:t>
            </a:r>
            <a:r>
              <a:rPr dirty="0"/>
              <a:t>={() =&gt; </a:t>
            </a:r>
            <a:r>
              <a:rPr dirty="0" err="1"/>
              <a:t>setCount</a:t>
            </a:r>
            <a:r>
              <a:rPr dirty="0"/>
              <a:t>(count + 1)}&gt;Increment&lt;/button&gt;</a:t>
            </a:r>
          </a:p>
          <a:p>
            <a:r>
              <a:rPr dirty="0"/>
              <a:t>&lt;button </a:t>
            </a:r>
            <a:r>
              <a:rPr dirty="0" err="1"/>
              <a:t>onClick</a:t>
            </a:r>
            <a:r>
              <a:rPr dirty="0"/>
              <a:t>={() =&gt; </a:t>
            </a:r>
            <a:r>
              <a:rPr dirty="0" err="1"/>
              <a:t>setCount</a:t>
            </a:r>
            <a:r>
              <a:rPr dirty="0"/>
              <a:t>(0)}&gt;Reset&lt;/button&gt;</a:t>
            </a:r>
          </a:p>
          <a:p>
            <a:r>
              <a:rPr dirty="0"/>
              <a:t>&lt;/div&gt;</a:t>
            </a:r>
          </a:p>
          <a:p>
            <a:r>
              <a:rPr dirty="0"/>
              <a:t>);</a:t>
            </a:r>
          </a:p>
          <a:p>
            <a:r>
              <a:rPr dirty="0"/>
              <a:t>}</a:t>
            </a:r>
          </a:p>
          <a:p>
            <a:r>
              <a:rPr dirty="0"/>
              <a:t>Key points:</a:t>
            </a:r>
          </a:p>
          <a:p>
            <a:pPr lvl="1"/>
            <a:r>
              <a:rPr dirty="0"/>
              <a:t>Calling </a:t>
            </a:r>
            <a:r>
              <a:rPr dirty="0" err="1"/>
              <a:t>setCount</a:t>
            </a:r>
            <a:r>
              <a:rPr dirty="0"/>
              <a:t> schedules a re-render with the new count.</a:t>
            </a:r>
          </a:p>
          <a:p>
            <a:pPr lvl="1"/>
            <a:r>
              <a:rPr dirty="0"/>
              <a:t>State updates are asynchronous and may be batched.</a:t>
            </a:r>
          </a:p>
          <a:p>
            <a:pPr lvl="1"/>
            <a:r>
              <a:rPr dirty="0"/>
              <a:t>Each render gets its own count and </a:t>
            </a:r>
            <a:r>
              <a:rPr dirty="0" err="1"/>
              <a:t>setCount</a:t>
            </a:r>
            <a:r>
              <a:rPr dirty="0"/>
              <a:t>, but React preserves the </a:t>
            </a:r>
            <a:br>
              <a:rPr lang="en-US" dirty="0"/>
            </a:br>
            <a:r>
              <a:rPr dirty="0"/>
              <a:t>state between renders.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Updating based on previous state</a:t>
            </a:r>
          </a:p>
        </p:txBody>
      </p:sp>
      <p:sp>
        <p:nvSpPr>
          <p:cNvPr id="3" name="Content Placeholder 2"/>
          <p:cNvSpPr>
            <a:spLocks noGrp="1"/>
          </p:cNvSpPr>
          <p:nvPr>
            <p:ph idx="1"/>
          </p:nvPr>
        </p:nvSpPr>
        <p:spPr/>
        <p:txBody>
          <a:bodyPr/>
          <a:lstStyle/>
          <a:p>
            <a:r>
              <a:rPr dirty="0"/>
              <a:t>When the new state depends on the previous state, use the functional update form:</a:t>
            </a:r>
          </a:p>
          <a:p>
            <a:r>
              <a:rPr dirty="0" err="1"/>
              <a:t>setCount</a:t>
            </a:r>
            <a:r>
              <a:rPr dirty="0"/>
              <a:t>(</a:t>
            </a:r>
            <a:r>
              <a:rPr dirty="0" err="1"/>
              <a:t>prev</a:t>
            </a:r>
            <a:r>
              <a:rPr dirty="0"/>
              <a:t> =&gt; </a:t>
            </a:r>
            <a:r>
              <a:rPr dirty="0" err="1"/>
              <a:t>prev</a:t>
            </a:r>
            <a:r>
              <a:rPr dirty="0"/>
              <a:t> + 1);</a:t>
            </a:r>
          </a:p>
          <a:p>
            <a:r>
              <a:rPr dirty="0"/>
              <a:t>This is safer when multiple updates happen in quick succession or inside async code.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Common patterns</a:t>
            </a:r>
          </a:p>
        </p:txBody>
      </p:sp>
      <p:sp>
        <p:nvSpPr>
          <p:cNvPr id="3" name="Content Placeholder 2"/>
          <p:cNvSpPr>
            <a:spLocks noGrp="1"/>
          </p:cNvSpPr>
          <p:nvPr>
            <p:ph idx="1"/>
          </p:nvPr>
        </p:nvSpPr>
        <p:spPr/>
        <p:txBody>
          <a:bodyPr/>
          <a:lstStyle/>
          <a:p>
            <a:r>
              <a:rPr dirty="0"/>
              <a:t>Multiple state variables</a:t>
            </a:r>
          </a:p>
          <a:p>
            <a:r>
              <a:rPr dirty="0"/>
              <a:t>State as objects or arrays</a:t>
            </a:r>
          </a:p>
          <a:p>
            <a:r>
              <a:rPr dirty="0"/>
              <a:t>Always treat state as immutable: create new objects/arrays instead of mutating existing ones.</a:t>
            </a:r>
          </a:p>
          <a:p>
            <a:r>
              <a:rPr dirty="0"/>
              <a:t>Lazy initial state (useful for expensive computations)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it does</a:t>
            </a:r>
          </a:p>
        </p:txBody>
      </p:sp>
      <p:sp>
        <p:nvSpPr>
          <p:cNvPr id="3" name="Content Placeholder 2"/>
          <p:cNvSpPr>
            <a:spLocks noGrp="1"/>
          </p:cNvSpPr>
          <p:nvPr>
            <p:ph idx="1"/>
          </p:nvPr>
        </p:nvSpPr>
        <p:spPr/>
        <p:txBody>
          <a:bodyPr/>
          <a:lstStyle/>
          <a:p>
            <a:r>
              <a:rPr dirty="0" err="1"/>
              <a:t>useEffect</a:t>
            </a:r>
            <a:r>
              <a:rPr dirty="0"/>
              <a:t> lets you run side effects in functional components. Side effects include:</a:t>
            </a:r>
          </a:p>
          <a:p>
            <a:pPr lvl="1"/>
            <a:r>
              <a:rPr dirty="0"/>
              <a:t>Data fetching (API calls)</a:t>
            </a:r>
          </a:p>
          <a:p>
            <a:pPr lvl="1"/>
            <a:r>
              <a:rPr dirty="0"/>
              <a:t>Subscriptions (WebSocket, event listeners)</a:t>
            </a:r>
          </a:p>
          <a:p>
            <a:pPr lvl="1"/>
            <a:r>
              <a:rPr dirty="0"/>
              <a:t>Manually changing the DOM</a:t>
            </a:r>
          </a:p>
          <a:p>
            <a:pPr lvl="1"/>
            <a:r>
              <a:rPr dirty="0"/>
              <a:t>Timers (</a:t>
            </a:r>
            <a:r>
              <a:rPr dirty="0" err="1"/>
              <a:t>setTimeout</a:t>
            </a:r>
            <a:r>
              <a:rPr dirty="0"/>
              <a:t>, </a:t>
            </a:r>
            <a:r>
              <a:rPr dirty="0" err="1"/>
              <a:t>setInterval</a:t>
            </a:r>
            <a:r>
              <a:rPr dirty="0"/>
              <a:t>)</a:t>
            </a:r>
          </a:p>
          <a:p>
            <a:pPr lvl="1"/>
            <a:r>
              <a:rPr dirty="0"/>
              <a:t>Logging and analytics</a:t>
            </a:r>
          </a:p>
          <a:p>
            <a:r>
              <a:rPr dirty="0"/>
              <a:t>It combines the behavior of several lifecycle methods (</a:t>
            </a:r>
            <a:r>
              <a:rPr dirty="0" err="1"/>
              <a:t>componentDidMount</a:t>
            </a:r>
            <a:r>
              <a:rPr dirty="0"/>
              <a:t>, </a:t>
            </a:r>
            <a:r>
              <a:rPr dirty="0" err="1"/>
              <a:t>componentDidUpdate</a:t>
            </a:r>
            <a:r>
              <a:rPr dirty="0"/>
              <a:t>, </a:t>
            </a:r>
            <a:r>
              <a:rPr dirty="0" err="1"/>
              <a:t>componentWillUnmount</a:t>
            </a:r>
            <a:r>
              <a:rPr dirty="0"/>
              <a:t>) into one API.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Basic syntax</a:t>
            </a:r>
          </a:p>
        </p:txBody>
      </p:sp>
      <p:sp>
        <p:nvSpPr>
          <p:cNvPr id="3" name="Content Placeholder 2"/>
          <p:cNvSpPr>
            <a:spLocks noGrp="1"/>
          </p:cNvSpPr>
          <p:nvPr>
            <p:ph idx="1"/>
          </p:nvPr>
        </p:nvSpPr>
        <p:spPr/>
        <p:txBody>
          <a:bodyPr/>
          <a:lstStyle/>
          <a:p>
            <a:r>
              <a:rPr dirty="0"/>
              <a:t>// side effect code</a:t>
            </a:r>
          </a:p>
          <a:p>
            <a:r>
              <a:rPr dirty="0"/>
              <a:t>});</a:t>
            </a:r>
          </a:p>
          <a:p>
            <a:r>
              <a:rPr dirty="0"/>
              <a:t>By default, the effect runs after every render.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Controlling when effects run</a:t>
            </a:r>
          </a:p>
        </p:txBody>
      </p:sp>
      <p:sp>
        <p:nvSpPr>
          <p:cNvPr id="3" name="Content Placeholder 2"/>
          <p:cNvSpPr>
            <a:spLocks noGrp="1"/>
          </p:cNvSpPr>
          <p:nvPr>
            <p:ph idx="1"/>
          </p:nvPr>
        </p:nvSpPr>
        <p:spPr/>
        <p:txBody>
          <a:bodyPr>
            <a:normAutofit fontScale="55000" lnSpcReduction="20000"/>
          </a:bodyPr>
          <a:lstStyle/>
          <a:p>
            <a:r>
              <a:rPr dirty="0"/>
              <a:t>You pass a dependency array as the second argument:</a:t>
            </a:r>
          </a:p>
          <a:p>
            <a:r>
              <a:rPr dirty="0"/>
              <a:t>// effect code</a:t>
            </a:r>
          </a:p>
          <a:p>
            <a:r>
              <a:rPr dirty="0"/>
              <a:t>}, [dep1, dep2]);</a:t>
            </a:r>
          </a:p>
          <a:p>
            <a:r>
              <a:rPr dirty="0"/>
              <a:t>Behavior:</a:t>
            </a:r>
          </a:p>
          <a:p>
            <a:r>
              <a:rPr dirty="0"/>
              <a:t>No dependency array</a:t>
            </a:r>
          </a:p>
          <a:p>
            <a:r>
              <a:rPr dirty="0"/>
              <a:t>Runs after every render.</a:t>
            </a:r>
          </a:p>
          <a:p>
            <a:r>
              <a:rPr dirty="0"/>
              <a:t>console.log("Runs after every render");</a:t>
            </a:r>
          </a:p>
          <a:p>
            <a:r>
              <a:rPr dirty="0"/>
              <a:t>});</a:t>
            </a:r>
          </a:p>
          <a:p>
            <a:r>
              <a:rPr dirty="0"/>
              <a:t>Empty dependency array []</a:t>
            </a:r>
          </a:p>
          <a:p>
            <a:r>
              <a:rPr dirty="0"/>
              <a:t>Runs once after the initial render (like </a:t>
            </a:r>
            <a:r>
              <a:rPr dirty="0" err="1"/>
              <a:t>componentDidMount</a:t>
            </a:r>
            <a:r>
              <a:rPr dirty="0"/>
              <a:t>).</a:t>
            </a:r>
          </a:p>
          <a:p>
            <a:r>
              <a:rPr dirty="0"/>
              <a:t>console.log("Runs once on mount");</a:t>
            </a:r>
          </a:p>
          <a:p>
            <a:r>
              <a:rPr dirty="0"/>
              <a:t>}, []);</a:t>
            </a:r>
          </a:p>
          <a:p>
            <a:r>
              <a:rPr dirty="0"/>
              <a:t>With dependencies [dep]</a:t>
            </a:r>
          </a:p>
          <a:p>
            <a:r>
              <a:rPr dirty="0"/>
              <a:t>Runs after the first render and whenever any dependency changes.</a:t>
            </a:r>
          </a:p>
          <a:p>
            <a:r>
              <a:rPr dirty="0"/>
              <a:t>console.log("Runs when count changes");</a:t>
            </a:r>
          </a:p>
          <a:p>
            <a:r>
              <a:rPr dirty="0"/>
              <a:t>}, [count]);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Common pitfalls</a:t>
            </a:r>
          </a:p>
        </p:txBody>
      </p:sp>
      <p:sp>
        <p:nvSpPr>
          <p:cNvPr id="3" name="Content Placeholder 2"/>
          <p:cNvSpPr>
            <a:spLocks noGrp="1"/>
          </p:cNvSpPr>
          <p:nvPr>
            <p:ph idx="1"/>
          </p:nvPr>
        </p:nvSpPr>
        <p:spPr/>
        <p:txBody>
          <a:bodyPr>
            <a:normAutofit lnSpcReduction="10000"/>
          </a:bodyPr>
          <a:lstStyle/>
          <a:p>
            <a:r>
              <a:t>Missing dependencies</a:t>
            </a:r>
          </a:p>
          <a:p>
            <a:r>
              <a:t>If you use a variable inside the effect but don’t list it in the dependency array, the effect may capture stale values.</a:t>
            </a:r>
          </a:p>
          <a:p>
            <a:r>
              <a:t>Infinite loops</a:t>
            </a:r>
          </a:p>
          <a:p>
            <a:r>
              <a:t>If you update state inside an effect in a way that always triggers the effect again (e.g., updating a dependency unconditionally), you can create an infinite render loop.</a:t>
            </a:r>
          </a:p>
          <a:p>
            <a:r>
              <a:t>Putting objects/arrays in dependencies without stabilization</a:t>
            </a:r>
          </a:p>
          <a:p>
            <a:r>
              <a:t>New object/array references on every render can cause the effect to run too often. Use useMemo or stable references when needed.</a:t>
            </a:r>
          </a:p>
          <a:p>
            <a: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it does</a:t>
            </a:r>
          </a:p>
        </p:txBody>
      </p:sp>
      <p:sp>
        <p:nvSpPr>
          <p:cNvPr id="3" name="Content Placeholder 2"/>
          <p:cNvSpPr>
            <a:spLocks noGrp="1"/>
          </p:cNvSpPr>
          <p:nvPr>
            <p:ph idx="1"/>
          </p:nvPr>
        </p:nvSpPr>
        <p:spPr/>
        <p:txBody>
          <a:bodyPr/>
          <a:lstStyle/>
          <a:p>
            <a:r>
              <a:t>useContext lets components read values from a React context without passing props through every intermediate component. It’s useful for:</a:t>
            </a:r>
          </a:p>
          <a:p>
            <a:r>
              <a:t>Theme (light/dark mode)</a:t>
            </a:r>
          </a:p>
          <a:p>
            <a:r>
              <a:t>Authentication state (logged-in user)</a:t>
            </a:r>
          </a:p>
          <a:p>
            <a:r>
              <a:t>Language/locale</a:t>
            </a:r>
          </a:p>
          <a:p>
            <a:r>
              <a:t>App-wide configuration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Providing a context value</a:t>
            </a:r>
          </a:p>
        </p:txBody>
      </p:sp>
      <p:sp>
        <p:nvSpPr>
          <p:cNvPr id="3" name="Content Placeholder 2"/>
          <p:cNvSpPr>
            <a:spLocks noGrp="1"/>
          </p:cNvSpPr>
          <p:nvPr>
            <p:ph idx="1"/>
          </p:nvPr>
        </p:nvSpPr>
        <p:spPr/>
        <p:txBody>
          <a:bodyPr/>
          <a:lstStyle/>
          <a:p>
            <a:r>
              <a:rPr dirty="0"/>
              <a:t>Wrap part of your component tree with a </a:t>
            </a:r>
            <a:r>
              <a:rPr dirty="0" err="1"/>
              <a:t>Context.Provider</a:t>
            </a:r>
            <a:r>
              <a:rPr dirty="0"/>
              <a:t> and pass a value:</a:t>
            </a:r>
          </a:p>
          <a:p>
            <a:r>
              <a:rPr dirty="0"/>
              <a:t>&lt;Header /&gt;</a:t>
            </a:r>
          </a:p>
          <a:p>
            <a:r>
              <a:rPr dirty="0"/>
              <a:t>&lt;Main /&gt;</a:t>
            </a:r>
          </a:p>
          <a:p>
            <a:r>
              <a:rPr dirty="0"/>
              <a:t>&lt;Footer /&gt;</a:t>
            </a:r>
          </a:p>
          <a:p>
            <a:r>
              <a:rPr dirty="0"/>
              <a:t>&lt;/</a:t>
            </a:r>
            <a:r>
              <a:rPr dirty="0" err="1"/>
              <a:t>ThemeContext.Provider</a:t>
            </a:r>
            <a:r>
              <a:rPr dirty="0"/>
              <a:t>&gt;</a:t>
            </a:r>
          </a:p>
          <a:p>
            <a:r>
              <a:rPr dirty="0"/>
              <a:t>);</a:t>
            </a:r>
          </a:p>
          <a:p>
            <a:r>
              <a:rPr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a:t>Consuming a context with </a:t>
            </a:r>
            <a:r>
              <a:rPr sz="2800" dirty="0" err="1"/>
              <a:t>useContext</a:t>
            </a:r>
            <a:endParaRPr sz="2800" dirty="0"/>
          </a:p>
        </p:txBody>
      </p:sp>
      <p:sp>
        <p:nvSpPr>
          <p:cNvPr id="3" name="Content Placeholder 2"/>
          <p:cNvSpPr>
            <a:spLocks noGrp="1"/>
          </p:cNvSpPr>
          <p:nvPr>
            <p:ph idx="1"/>
          </p:nvPr>
        </p:nvSpPr>
        <p:spPr/>
        <p:txBody>
          <a:bodyPr/>
          <a:lstStyle/>
          <a:p>
            <a:r>
              <a:rPr dirty="0"/>
              <a:t>&lt;header&gt;</a:t>
            </a:r>
          </a:p>
          <a:p>
            <a:r>
              <a:rPr dirty="0"/>
              <a:t>&lt;h1&gt;Current theme: {theme}&lt;/h1&gt;</a:t>
            </a:r>
          </a:p>
          <a:p>
            <a:r>
              <a:rPr dirty="0"/>
              <a:t>&lt;button </a:t>
            </a:r>
            <a:r>
              <a:rPr dirty="0" err="1"/>
              <a:t>onClick</a:t>
            </a:r>
            <a:r>
              <a:rPr dirty="0"/>
              <a:t>={() =&gt; </a:t>
            </a:r>
            <a:r>
              <a:rPr dirty="0" err="1"/>
              <a:t>setTheme</a:t>
            </a:r>
            <a:r>
              <a:rPr dirty="0"/>
              <a:t>(theme === "light" ? "dark" : "light")}&gt;</a:t>
            </a:r>
          </a:p>
          <a:p>
            <a:r>
              <a:rPr dirty="0"/>
              <a:t>Toggle theme</a:t>
            </a:r>
          </a:p>
          <a:p>
            <a:r>
              <a:rPr dirty="0"/>
              <a:t>&lt;/button&gt;</a:t>
            </a:r>
          </a:p>
          <a:p>
            <a:r>
              <a:rPr dirty="0"/>
              <a:t>&lt;/header&gt;</a:t>
            </a:r>
          </a:p>
          <a:p>
            <a:r>
              <a:rPr dirty="0"/>
              <a:t>);</a:t>
            </a:r>
          </a:p>
          <a:p>
            <a:r>
              <a:rPr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When to use </a:t>
            </a:r>
            <a:r>
              <a:rPr dirty="0" err="1"/>
              <a:t>useContext</a:t>
            </a:r>
            <a:endParaRPr dirty="0"/>
          </a:p>
        </p:txBody>
      </p:sp>
      <p:sp>
        <p:nvSpPr>
          <p:cNvPr id="3" name="Content Placeholder 2"/>
          <p:cNvSpPr>
            <a:spLocks noGrp="1"/>
          </p:cNvSpPr>
          <p:nvPr>
            <p:ph idx="1"/>
          </p:nvPr>
        </p:nvSpPr>
        <p:spPr/>
        <p:txBody>
          <a:bodyPr/>
          <a:lstStyle/>
          <a:p>
            <a:r>
              <a:rPr dirty="0"/>
              <a:t>Good fits:</a:t>
            </a:r>
          </a:p>
          <a:p>
            <a:pPr lvl="1"/>
            <a:r>
              <a:rPr dirty="0"/>
              <a:t>Values needed by many components at different levels</a:t>
            </a:r>
          </a:p>
          <a:p>
            <a:pPr lvl="1"/>
            <a:r>
              <a:rPr dirty="0"/>
              <a:t>Global app state (theme, auth, locale)</a:t>
            </a:r>
          </a:p>
          <a:p>
            <a:pPr lvl="1"/>
            <a:r>
              <a:rPr dirty="0"/>
              <a:t>Avoiding deep prop drilling for the same value</a:t>
            </a:r>
          </a:p>
          <a:p>
            <a:r>
              <a:rPr dirty="0"/>
              <a:t>Not ideal for:</a:t>
            </a:r>
          </a:p>
          <a:p>
            <a:pPr lvl="1"/>
            <a:r>
              <a:rPr dirty="0"/>
              <a:t>Highly frequent updates that cause many components to re-render (can lead to performance issues)</a:t>
            </a:r>
          </a:p>
          <a:p>
            <a:pPr lvl="1"/>
            <a:r>
              <a:rPr dirty="0"/>
              <a:t>Very localized state that only one or two components need (use </a:t>
            </a:r>
            <a:r>
              <a:rPr dirty="0" err="1"/>
              <a:t>useState</a:t>
            </a:r>
            <a:r>
              <a:rPr dirty="0"/>
              <a:t> and props instead)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Forms: Key Takeaways</a:t>
            </a:r>
          </a:p>
        </p:txBody>
      </p:sp>
      <p:sp>
        <p:nvSpPr>
          <p:cNvPr id="3" name="Content Placeholder 2"/>
          <p:cNvSpPr>
            <a:spLocks noGrp="1"/>
          </p:cNvSpPr>
          <p:nvPr>
            <p:ph idx="1"/>
          </p:nvPr>
        </p:nvSpPr>
        <p:spPr/>
        <p:txBody>
          <a:bodyPr/>
          <a:lstStyle/>
          <a:p>
            <a:r>
              <a:rPr dirty="0"/>
              <a:t>Controlled components are preferred for most React forms </a:t>
            </a:r>
            <a:br>
              <a:rPr lang="en-US" dirty="0"/>
            </a:br>
            <a:r>
              <a:rPr dirty="0"/>
              <a:t>because React remains the source of truth.</a:t>
            </a:r>
          </a:p>
          <a:p>
            <a:r>
              <a:rPr dirty="0"/>
              <a:t>Uncontrolled components let the DOM manage input state and </a:t>
            </a:r>
            <a:br>
              <a:rPr lang="en-US" dirty="0"/>
            </a:br>
            <a:r>
              <a:rPr dirty="0"/>
              <a:t>suit simpler cases.</a:t>
            </a:r>
          </a:p>
          <a:p>
            <a:r>
              <a:rPr dirty="0"/>
              <a:t>Validation can use built-in HTML5 rules or custom validation.</a:t>
            </a:r>
          </a:p>
          <a:p>
            <a:r>
              <a:rPr dirty="0"/>
              <a:t>Larger forms benefit from centralized state and, when appropriate, </a:t>
            </a:r>
            <a:br>
              <a:rPr lang="en-US" dirty="0"/>
            </a:br>
            <a:r>
              <a:rPr dirty="0"/>
              <a:t>form libraries.</a:t>
            </a:r>
          </a:p>
          <a:p>
            <a:r>
              <a:rPr dirty="0"/>
              <a:t>Accessibility, clear errors, focus management and submission </a:t>
            </a:r>
            <a:br>
              <a:rPr lang="en-US" dirty="0"/>
            </a:br>
            <a:r>
              <a:rPr dirty="0"/>
              <a:t>states are important for good form UX.</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Hooks: Key Takeaways</a:t>
            </a:r>
          </a:p>
        </p:txBody>
      </p:sp>
      <p:sp>
        <p:nvSpPr>
          <p:cNvPr id="3" name="Content Placeholder 2"/>
          <p:cNvSpPr>
            <a:spLocks noGrp="1"/>
          </p:cNvSpPr>
          <p:nvPr>
            <p:ph idx="1"/>
          </p:nvPr>
        </p:nvSpPr>
        <p:spPr/>
        <p:txBody>
          <a:bodyPr/>
          <a:lstStyle/>
          <a:p>
            <a:r>
              <a:rPr dirty="0" err="1"/>
              <a:t>useState</a:t>
            </a:r>
            <a:r>
              <a:rPr dirty="0"/>
              <a:t> manages local state and preserves it across renders.</a:t>
            </a:r>
          </a:p>
          <a:p>
            <a:r>
              <a:rPr dirty="0" err="1"/>
              <a:t>useEffect</a:t>
            </a:r>
            <a:r>
              <a:rPr dirty="0"/>
              <a:t> synchronizes components with external systems such </a:t>
            </a:r>
            <a:br>
              <a:rPr lang="en-US" dirty="0"/>
            </a:br>
            <a:r>
              <a:rPr dirty="0"/>
              <a:t>as APIs, subscriptions and timers.</a:t>
            </a:r>
          </a:p>
          <a:p>
            <a:r>
              <a:rPr dirty="0"/>
              <a:t>Effect dependencies determine when an effect runs.</a:t>
            </a:r>
          </a:p>
          <a:p>
            <a:r>
              <a:rPr dirty="0"/>
              <a:t>Cleanup is important for subscriptions, event listeners and timers.</a:t>
            </a:r>
          </a:p>
          <a:p>
            <a:r>
              <a:rPr dirty="0" err="1"/>
              <a:t>useContext</a:t>
            </a:r>
            <a:r>
              <a:rPr dirty="0"/>
              <a:t> shares values such as authentication, theme and locale </a:t>
            </a:r>
            <a:br>
              <a:rPr lang="en-US" dirty="0"/>
            </a:br>
            <a:r>
              <a:rPr dirty="0"/>
              <a:t>across component trees.</a:t>
            </a:r>
          </a:p>
          <a:p>
            <a:r>
              <a:rPr dirty="0"/>
              <a:t>Together, these hooks form a foundation for many React </a:t>
            </a:r>
            <a:br>
              <a:rPr lang="en-US" dirty="0"/>
            </a:br>
            <a:r>
              <a:rPr dirty="0"/>
              <a:t>functional components.</a:t>
            </a:r>
          </a:p>
        </p:txBody>
      </p:sp>
    </p:spTree>
  </p:cSld>
  <p:clrMapOvr>
    <a:masterClrMapping/>
  </p:clrMapOvr>
</p:sld>
</file>

<file path=ppt/theme/theme1.xml><?xml version="1.0" encoding="utf-8"?>
<a:theme xmlns:a="http://schemas.openxmlformats.org/drawingml/2006/main" name="ABC Final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C Final Theme" id="{671380DE-0F6A-48AA-BCBD-DD1332E66760}" vid="{BFD2BD10-29C3-40AA-8AC4-FE51644B68EC}"/>
    </a:ext>
  </a:extLst>
</a:theme>
</file>

<file path=docProps/app.xml><?xml version="1.0" encoding="utf-8"?>
<Properties xmlns="http://schemas.openxmlformats.org/officeDocument/2006/extended-properties" xmlns:vt="http://schemas.openxmlformats.org/officeDocument/2006/docPropsVTypes">
  <Template>ABC Final Theme</Template>
  <TotalTime>15</TotalTime>
  <Words>2068</Words>
  <Application>Microsoft Office PowerPoint</Application>
  <PresentationFormat>On-screen Show (4:3)</PresentationFormat>
  <Paragraphs>284</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IBM Plex Sans</vt:lpstr>
      <vt:lpstr>Quicksand</vt:lpstr>
      <vt:lpstr>ABC Final Theme</vt:lpstr>
      <vt:lpstr>React Forms</vt:lpstr>
      <vt:lpstr>Overview of React Forms</vt:lpstr>
      <vt:lpstr>Overview of React Forms</vt:lpstr>
      <vt:lpstr>Controlled components</vt:lpstr>
      <vt:lpstr>Uncontrolled components</vt:lpstr>
      <vt:lpstr>Text inputs and textareas</vt:lpstr>
      <vt:lpstr>Checkboxes</vt:lpstr>
      <vt:lpstr>Radio buttons</vt:lpstr>
      <vt:lpstr>Select (dropdowns)</vt:lpstr>
      <vt:lpstr>File inputs</vt:lpstr>
      <vt:lpstr>Handling Form Submission</vt:lpstr>
      <vt:lpstr>Built-in HTML5 validation</vt:lpstr>
      <vt:lpstr>Custom validation in controlled components</vt:lpstr>
      <vt:lpstr>Validation on submit vs real-time</vt:lpstr>
      <vt:lpstr>Separate state per field</vt:lpstr>
      <vt:lpstr>Disabled submit button until valid</vt:lpstr>
      <vt:lpstr>Conditional fields</vt:lpstr>
      <vt:lpstr>Resetting a form</vt:lpstr>
      <vt:lpstr>Accessibility and UX Considerations</vt:lpstr>
      <vt:lpstr>React Hooks</vt:lpstr>
      <vt:lpstr>Overview of React Hooks</vt:lpstr>
      <vt:lpstr>Overview of React Hooks</vt:lpstr>
      <vt:lpstr>What it does</vt:lpstr>
      <vt:lpstr>Basic syntax</vt:lpstr>
      <vt:lpstr>Simple example</vt:lpstr>
      <vt:lpstr>Updating based on previous state</vt:lpstr>
      <vt:lpstr>Common patterns</vt:lpstr>
      <vt:lpstr>What it does</vt:lpstr>
      <vt:lpstr>Basic syntax</vt:lpstr>
      <vt:lpstr>Controlling when effects run</vt:lpstr>
      <vt:lpstr>Common pitfalls</vt:lpstr>
      <vt:lpstr>What it does</vt:lpstr>
      <vt:lpstr>Providing a context value</vt:lpstr>
      <vt:lpstr>Consuming a context with useContext</vt:lpstr>
      <vt:lpstr>When to use useContext</vt:lpstr>
      <vt:lpstr>React Forms: Key Takeaways</vt:lpstr>
      <vt:lpstr>React Hooks: Key Takeaways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cp:lastModifiedBy>Rakesh Kr</cp:lastModifiedBy>
  <cp:revision>24</cp:revision>
  <dcterms:created xsi:type="dcterms:W3CDTF">2013-01-27T09:14:16Z</dcterms:created>
  <dcterms:modified xsi:type="dcterms:W3CDTF">2026-08-20T06:46:08Z</dcterms:modified>
  <cp:category/>
</cp:coreProperties>
</file>